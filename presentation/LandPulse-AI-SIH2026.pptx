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Arial"/>
              </a:defRPr>
            </a:pPr>
            <a:r>
              <a:rPr sz="1300" b="0" i="0" u="none" strike="noStrike">
                <a:solidFill>
                  <a:srgbClr val="14213D"/>
                </a:solidFill>
                <a:latin typeface="Arial"/>
              </a:rPr>
              <a:t>Test ROC-AUC and PR-AUC</a:t>
            </a:r>
          </a:p>
        </c:rich>
      </c:tx>
      <c:layout/>
      <c:overlay val="0"/>
    </c:title>
    <c:autoTitleDeleted val="0"/>
    <c:plotArea>
      <c:layout/>
      <c:barChart>
        <c:barDir val="col"/>
        <c:grouping val="clustered"/>
        <c:varyColors val="0"/>
        <c:ser>
          <c:idx val="0"/>
          <c:order val="0"/>
          <c:tx>
            <c:strRef>
              <c:f>Sheet1!$B$1</c:f>
              <c:strCache>
                <c:ptCount val="1"/>
                <c:pt idx="0">
                  <c:v>ROC-AUC</c:v>
                </c:pt>
              </c:strCache>
            </c:strRef>
          </c:tx>
          <c:spPr>
            <a:solidFill>
              <a:srgbClr val="3B72F0"/>
            </a:solidFill>
            <a:effectLst/>
          </c:spPr>
          <c:invertIfNegative val="0"/>
          <c:dLbls>
            <c:numFmt formatCode="0.000" sourceLinked="0"/>
            <c:txPr>
              <a:bodyPr/>
              <a:lstStyle/>
              <a:p>
                <a:pPr>
                  <a:defRPr b="0" i="0" strike="noStrike" sz="1000" u="none">
                    <a:solidFill>
                      <a:srgbClr val="14213D"/>
                    </a:solidFill>
                    <a:latin typeface="Arial"/>
                  </a:defRPr>
                </a:pPr>
              </a:p>
            </c:txPr>
            <c:showLegendKey val="0"/>
            <c:showVal val="1"/>
            <c:showCatName val="0"/>
            <c:showSerName val="0"/>
            <c:showPercent val="0"/>
            <c:showBubbleSize val="0"/>
            <c:showLeaderLines val="0"/>
          </c:dLbls>
          <c:cat>
            <c:multiLvlStrRef>
              <c:f>Sheet1!$A$2:$A$4</c:f>
              <c:multiLvlStrCache>
                <c:ptCount val="3"/>
                <c:lvl>
                  <c:pt idx="0">
                    <c:v>Logistic regression</c:v>
                  </c:pt>
                  <c:pt idx="1">
                    <c:v>Random forest</c:v>
                  </c:pt>
                  <c:pt idx="2">
                    <c:v>Gradient boosting (deployed)</c:v>
                  </c:pt>
                </c:lvl>
              </c:multiLvlStrCache>
            </c:multiLvlStrRef>
          </c:cat>
          <c:val>
            <c:numRef>
              <c:f>Sheet1!$B$2:$B$4</c:f>
              <c:numCache>
                <c:formatCode>General</c:formatCode>
                <c:ptCount val="3"/>
                <c:pt idx="0">
                  <c:v>0.8303</c:v>
                </c:pt>
                <c:pt idx="1">
                  <c:v>0.817</c:v>
                </c:pt>
                <c:pt idx="2">
                  <c:v>0.8339</c:v>
                </c:pt>
              </c:numCache>
            </c:numRef>
          </c:val>
        </c:ser>
        <c:ser>
          <c:idx val="1"/>
          <c:order val="1"/>
          <c:tx>
            <c:strRef>
              <c:f>Sheet1!$C$1</c:f>
              <c:strCache>
                <c:ptCount val="1"/>
                <c:pt idx="0">
                  <c:v>PR-AUC</c:v>
                </c:pt>
              </c:strCache>
            </c:strRef>
          </c:tx>
          <c:spPr>
            <a:solidFill>
              <a:srgbClr val="F59E0B"/>
            </a:solidFill>
            <a:effectLst/>
          </c:spPr>
          <c:invertIfNegative val="0"/>
          <c:dLbls>
            <c:numFmt formatCode="0.000" sourceLinked="0"/>
            <c:txPr>
              <a:bodyPr/>
              <a:lstStyle/>
              <a:p>
                <a:pPr>
                  <a:defRPr b="0" i="0" strike="noStrike" sz="1000" u="none">
                    <a:solidFill>
                      <a:srgbClr val="14213D"/>
                    </a:solidFill>
                    <a:latin typeface="Arial"/>
                  </a:defRPr>
                </a:pPr>
              </a:p>
            </c:txPr>
            <c:showLegendKey val="0"/>
            <c:showVal val="1"/>
            <c:showCatName val="0"/>
            <c:showSerName val="0"/>
            <c:showPercent val="0"/>
            <c:showBubbleSize val="0"/>
            <c:showLeaderLines val="0"/>
          </c:dLbls>
          <c:cat>
            <c:multiLvlStrRef>
              <c:f>Sheet1!$A$2:$A$4</c:f>
              <c:multiLvlStrCache>
                <c:ptCount val="3"/>
                <c:lvl>
                  <c:pt idx="0">
                    <c:v>Logistic regression</c:v>
                  </c:pt>
                  <c:pt idx="1">
                    <c:v>Random forest</c:v>
                  </c:pt>
                  <c:pt idx="2">
                    <c:v>Gradient boosting (deployed)</c:v>
                  </c:pt>
                </c:lvl>
              </c:multiLvlStrCache>
            </c:multiLvlStrRef>
          </c:cat>
          <c:val>
            <c:numRef>
              <c:f>Sheet1!$C$2:$C$4</c:f>
              <c:numCache>
                <c:formatCode>General</c:formatCode>
                <c:ptCount val="3"/>
                <c:pt idx="0">
                  <c:v>0.7116</c:v>
                </c:pt>
                <c:pt idx="1">
                  <c:v>0.6891</c:v>
                </c:pt>
                <c:pt idx="2">
                  <c:v>0.7155</c:v>
                </c:pt>
              </c:numCache>
            </c:numRef>
          </c:val>
        </c:ser>
        <c:dLbls>
          <c:numFmt formatCode="0.000" sourceLinked="0"/>
          <c:txPr>
            <a:bodyPr/>
            <a:lstStyle/>
            <a:p>
              <a:pPr>
                <a:defRPr b="0" i="0" strike="noStrike" sz="1000" u="none">
                  <a:solidFill>
                    <a:srgbClr val="14213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max val="0.9"/>
          <c:min val="0.5"/>
        </c:scaling>
        <c:delete val="0"/>
        <c:axPos val="l"/>
        <c:majorGridlines>
          <c:spPr>
            <a:ln w="6350" cap="flat">
              <a:solidFill>
                <a:srgbClr val="E8EDF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A97A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Arial"/>
              </a:defRPr>
            </a:pPr>
            <a:r>
              <a:rPr sz="1300" b="0" i="0" u="none" strike="noStrike">
                <a:solidFill>
                  <a:srgbClr val="14213D"/>
                </a:solidFill>
                <a:latin typeface="Arial"/>
              </a:rPr>
              <a:t>312 projects by risk category</a:t>
            </a:r>
          </a:p>
        </c:rich>
      </c:tx>
      <c:layout/>
      <c:overlay val="0"/>
    </c:title>
    <c:autoTitleDeleted val="0"/>
    <c:plotArea>
      <c:layout/>
      <c:doughnutChart>
        <c:varyColors val="1"/>
        <c:ser>
          <c:idx val="0"/>
          <c:order val="0"/>
          <c:tx>
            <c:strRef>
              <c:f>Sheet1!$B$1</c:f>
              <c:strCache>
                <c:ptCount val="1"/>
                <c:pt idx="0">
                  <c:v>Projects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F97316"/>
              </a:solidFill>
              <a:effectLst/>
            </c:spPr>
          </c:dPt>
          <c:dPt>
            <c:idx val="3"/>
            <c:bubble3D val="0"/>
            <c:spPr>
              <a:solidFill>
                <a:srgbClr val="E11D48"/>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Low</c:v>
                </c:pt>
                <c:pt idx="1">
                  <c:v>Medium</c:v>
                </c:pt>
                <c:pt idx="2">
                  <c:v>High</c:v>
                </c:pt>
                <c:pt idx="3">
                  <c:v>Critical</c:v>
                </c:pt>
              </c:strCache>
            </c:strRef>
          </c:cat>
          <c:val>
            <c:numRef>
              <c:f>Sheet1!$B$2:$B$5</c:f>
              <c:numCache>
                <c:ptCount val="4"/>
                <c:pt idx="0">
                  <c:v>109</c:v>
                </c:pt>
                <c:pt idx="1">
                  <c:v>80</c:v>
                </c:pt>
                <c:pt idx="2">
                  <c:v>69</c:v>
                </c:pt>
                <c:pt idx="3">
                  <c:v>54</c:v>
                </c:pt>
              </c:numCache>
            </c:numRef>
          </c:val>
        </c:ser>
        <c:firstSliceAng val="0"/>
        <c:holeSize val="55"/>
      </c:doughnutChart>
      <c:spPr>
        <a:noFill/>
        <a:ln>
          <a:noFill/>
        </a:ln>
        <a:effectLst/>
      </c:spPr>
    </c:plotArea>
    <c:legend>
      <c:legendPos val="r"/>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Arial"/>
              </a:defRPr>
            </a:pPr>
            <a:r>
              <a:rPr sz="1300" b="0" i="0" u="none" strike="noStrike">
                <a:solidFill>
                  <a:srgbClr val="14213D"/>
                </a:solidFill>
                <a:latin typeface="Arial"/>
              </a:rPr>
              <a:t>NH-424 Bypass — Alirajpur — delay drivers</a:t>
            </a:r>
          </a:p>
        </c:rich>
      </c:tx>
      <c:layout/>
      <c:overlay val="0"/>
    </c:title>
    <c:autoTitleDeleted val="0"/>
    <c:plotArea>
      <c:layout/>
      <c:barChart>
        <c:barDir val="bar"/>
        <c:grouping val="clustered"/>
        <c:varyColors val="0"/>
        <c:ser>
          <c:idx val="0"/>
          <c:order val="0"/>
          <c:tx>
            <c:strRef>
              <c:f>Sheet1!$B$1</c:f>
              <c:strCache>
                <c:ptCount val="1"/>
                <c:pt idx="0">
                  <c:v>Share of risk-increasing contribution</c:v>
                </c:pt>
              </c:strCache>
            </c:strRef>
          </c:tx>
          <c:spPr>
            <a:solidFill>
              <a:srgbClr val="E11D48"/>
            </a:solidFill>
            <a:effectLst/>
          </c:spPr>
          <c:invertIfNegative val="0"/>
          <c:dLbls>
            <c:numFmt formatCode="0.0&quot;%&quot;" sourceLinked="0"/>
            <c:txPr>
              <a:bodyPr/>
              <a:lstStyle/>
              <a:p>
                <a:pPr>
                  <a:defRPr b="0" i="0" strike="noStrike" sz="1100" u="none">
                    <a:solidFill>
                      <a:srgbClr val="14213D"/>
                    </a:solidFill>
                    <a:latin typeface="Arial"/>
                  </a:defRPr>
                </a:pPr>
              </a:p>
            </c:txPr>
            <c:showLegendKey val="0"/>
            <c:showVal val="1"/>
            <c:showCatName val="0"/>
            <c:showSerName val="0"/>
            <c:showPercent val="0"/>
            <c:showBubbleSize val="0"/>
            <c:showLeaderLines val="0"/>
          </c:dLbls>
          <c:cat>
            <c:multiLvlStrRef>
              <c:f>Sheet1!$A$2:$A$7</c:f>
              <c:multiLvlStrCache>
                <c:ptCount val="6"/>
                <c:lvl>
                  <c:pt idx="0">
                    <c:v>Compensation</c:v>
                  </c:pt>
                  <c:pt idx="1">
                    <c:v>Documentation &amp; verification</c:v>
                  </c:pt>
                  <c:pt idx="2">
                    <c:v>Inactivity</c:v>
                  </c:pt>
                  <c:pt idx="3">
                    <c:v>Legal disputes</c:v>
                  </c:pt>
                  <c:pt idx="4">
                    <c:v>Parcel &amp; project attributes</c:v>
                  </c:pt>
                  <c:pt idx="5">
                    <c:v>Pending department actions</c:v>
                  </c:pt>
                </c:lvl>
              </c:multiLvlStrCache>
            </c:multiLvlStrRef>
          </c:cat>
          <c:val>
            <c:numRef>
              <c:f>Sheet1!$B$2:$B$7</c:f>
              <c:numCache>
                <c:formatCode>General</c:formatCode>
                <c:ptCount val="6"/>
                <c:pt idx="0">
                  <c:v>26</c:v>
                </c:pt>
                <c:pt idx="1">
                  <c:v>19.9</c:v>
                </c:pt>
                <c:pt idx="2">
                  <c:v>17.2</c:v>
                </c:pt>
                <c:pt idx="3">
                  <c:v>13.6</c:v>
                </c:pt>
                <c:pt idx="4">
                  <c:v>13.4</c:v>
                </c:pt>
                <c:pt idx="5">
                  <c:v>9.9</c:v>
                </c:pt>
              </c:numCache>
            </c:numRef>
          </c:val>
        </c:ser>
        <c:dLbls>
          <c:numFmt formatCode="0.0&quot;%&quot;" sourceLinked="0"/>
          <c:txPr>
            <a:bodyPr/>
            <a:lstStyle/>
            <a:p>
              <a:pPr>
                <a:defRPr b="0" i="0" strike="noStrike" sz="1100" u="none">
                  <a:solidFill>
                    <a:srgbClr val="14213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Arial"/>
              </a:defRPr>
            </a:pPr>
            <a:r>
              <a:rPr sz="1200" b="0" i="0" u="none" strike="noStrike">
                <a:solidFill>
                  <a:srgbClr val="14213D"/>
                </a:solidFill>
                <a:latin typeface="Arial"/>
              </a:rPr>
              <a:t>Share of risk-increasing SHAP contribution, weighted by open cases</a:t>
            </a:r>
          </a:p>
        </c:rich>
      </c:tx>
      <c:layout/>
      <c:overlay val="0"/>
    </c:title>
    <c:autoTitleDeleted val="0"/>
    <c:plotArea>
      <c:layout/>
      <c:barChart>
        <c:barDir val="bar"/>
        <c:grouping val="clustered"/>
        <c:varyColors val="0"/>
        <c:ser>
          <c:idx val="0"/>
          <c:order val="0"/>
          <c:tx>
            <c:strRef>
              <c:f>Sheet1!$B$1</c:f>
              <c:strCache>
                <c:ptCount val="1"/>
                <c:pt idx="0">
                  <c:v>Share</c:v>
                </c:pt>
              </c:strCache>
            </c:strRef>
          </c:tx>
          <c:spPr>
            <a:solidFill>
              <a:srgbClr val="3B72F0"/>
            </a:solidFill>
            <a:effectLst/>
          </c:spPr>
          <c:invertIfNegative val="0"/>
          <c:dLbls>
            <c:numFmt formatCode="0.0&quot;%&quot;" sourceLinked="0"/>
            <c:txPr>
              <a:bodyPr/>
              <a:lstStyle/>
              <a:p>
                <a:pPr>
                  <a:defRPr b="0" i="0" strike="noStrike" sz="1100" u="none">
                    <a:solidFill>
                      <a:srgbClr val="14213D"/>
                    </a:solidFill>
                    <a:latin typeface="Arial"/>
                  </a:defRPr>
                </a:pPr>
              </a:p>
            </c:txPr>
            <c:showLegendKey val="0"/>
            <c:showVal val="1"/>
            <c:showCatName val="0"/>
            <c:showSerName val="0"/>
            <c:showPercent val="0"/>
            <c:showBubbleSize val="0"/>
            <c:showLeaderLines val="0"/>
          </c:dLbls>
          <c:cat>
            <c:multiLvlStrRef>
              <c:f>Sheet1!$A$2:$A$11</c:f>
              <c:multiLvlStrCache>
                <c:ptCount val="10"/>
                <c:lvl>
                  <c:pt idx="0">
                    <c:v>Documentation &amp; verification</c:v>
                  </c:pt>
                  <c:pt idx="1">
                    <c:v>Inactivity</c:v>
                  </c:pt>
                  <c:pt idx="2">
                    <c:v>Compensation</c:v>
                  </c:pt>
                  <c:pt idx="3">
                    <c:v>Legal disputes</c:v>
                  </c:pt>
                  <c:pt idx="4">
                    <c:v>Parcel &amp; project attributes</c:v>
                  </c:pt>
                  <c:pt idx="5">
                    <c:v>Pending department actions</c:v>
                  </c:pt>
                  <c:pt idx="6">
                    <c:v>Approval delay</c:v>
                  </c:pt>
                  <c:pt idx="7">
                    <c:v>District performance history</c:v>
                  </c:pt>
                  <c:pt idx="8">
                    <c:v>Ownership complexity</c:v>
                  </c:pt>
                  <c:pt idx="9">
                    <c:v>Inter-department coordination</c:v>
                  </c:pt>
                </c:lvl>
              </c:multiLvlStrCache>
            </c:multiLvlStrRef>
          </c:cat>
          <c:val>
            <c:numRef>
              <c:f>Sheet1!$B$2:$B$11</c:f>
              <c:numCache>
                <c:formatCode>General</c:formatCode>
                <c:ptCount val="10"/>
                <c:pt idx="0">
                  <c:v>30.2</c:v>
                </c:pt>
                <c:pt idx="1">
                  <c:v>16.7</c:v>
                </c:pt>
                <c:pt idx="2">
                  <c:v>14.1</c:v>
                </c:pt>
                <c:pt idx="3">
                  <c:v>12.2</c:v>
                </c:pt>
                <c:pt idx="4">
                  <c:v>12</c:v>
                </c:pt>
                <c:pt idx="5">
                  <c:v>6.1</c:v>
                </c:pt>
                <c:pt idx="6">
                  <c:v>3.2</c:v>
                </c:pt>
                <c:pt idx="7">
                  <c:v>3.2</c:v>
                </c:pt>
                <c:pt idx="8">
                  <c:v>0.9</c:v>
                </c:pt>
                <c:pt idx="9">
                  <c:v>0.7</c:v>
                </c:pt>
              </c:numCache>
            </c:numRef>
          </c:val>
        </c:ser>
        <c:dLbls>
          <c:numFmt formatCode="0.0&quot;%&quot;" sourceLinked="0"/>
          <c:txPr>
            <a:bodyPr/>
            <a:lstStyle/>
            <a:p>
              <a:pPr>
                <a:defRPr b="0" i="0" strike="noStrike" sz="1100" u="none">
                  <a:solidFill>
                    <a:srgbClr val="14213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LandPulse AI by Team RootStack. One sentence: we predict which land acquisition projects will be delayed, explain why, and tell the right officer what to do about it. Be upfront that the prototype runs on synthetic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eight causes named in the SIH background. Each one is modelled or tracked somewhere in LandPulse AI — say where as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ask in plain words. Then point out the core gap: no intelligent mechanism to identify projects likely to be delayed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top-down. Stress the last two columns: we are explicit about what is out of scope for a hackathon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line. Each box is a real module; later slides show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people and systems come in through the web app or the API; services do the work; stores hold data; the offline pipeline builds and retrains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component: the typical technology choice, what LandPulse AI actually uses, and the production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no government acquisition records were available, so we generated a realistic corpus. Geography and law are real; cases and outcomes are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will ask this. Show the formula, say it is ours, and explain what the metrics do and do not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row by row. Note the two that are weaker: stakeholder responsiveness is a three-level rating, and historical performance rates are synthetic constants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time-aware split: we train on the past and test on the future, never shuffling. Then the gate and refit. Then export, so the API uses the real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numbers slowly: ROC-AUC, precision and recall at the operating threshold. Then the caveat: this measures how well the pipeline learns the synthetic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levels: one parcel's probability, and a project's expected share of parcels that slip. Each has its own cut-offs, published in the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scores the current stage; for the stages not yet reached we combine that risk with each stage's observed history, carried forward with a decay, and simulate 2,000 futures.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splits each prediction into a base value plus one contribution per factor; they add up exactly. We show the factors, not the encodings, and always say that contribution is not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view of the same SHAP attributions. These map directly to the drivers the SIH statement names: approvals, compensation, legal, documentation, R&amp;R, administrative bottlenecks.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decide what applies and who owns it; the model predicts how much each action reduces risk; the list is ranked by severity then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Medium-or-higher recommendation becomes an intervention with an owner role, a due date by severity, and a status that only the owner or a supervisor can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scheduler scans every project every 15 minutes. New alerts and overdue escalations are grouped into one digest per officer and delivered on each channel. Be honest: email and SMS are recorded in an outbox — no gateway is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State, district, project type and stage; the registry builds the correct authority network; toggle pending department actions and signals; the deployed model re-scores instantly with drivers and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filters by sector, State, district and project type; every chart clicks through to the project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 observed share of milestones slipping &gt; 30 days by due month; dashed = model forecast for open milestones. They never overlap, so the chart never shows the model agreeing with its own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Analytics compares stages, States, districts, ownership, compensation, land type, project type, authority, verification and dispute complexity. AI Risk decomposes predicted delay by stage, district and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boundaries; project and parcel points are synthetic locations inside real districts, and the legend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position — organisation plus units — decides jurisdiction; the role decides permissions. MoRTH sees roads nationally; a District Magistrate sees only the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down the page: overview, authority network, AI risk, drivers, issue profile, stage timeline, stage forecast, recommendations, interventions, alerts, GIS, cases, documents,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lakh parcel cases, each with its prediction, drivers, pending department actions, case rules, documents and audit. Officers record what actually happened, which feeds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authorities an acquisition depends on is declarative configuration: framework by type and subtype, eligible acquiring bodies by type, State and district, and flags for forest land and crossings.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run from our demo: advancing the simulation clock released withheld outcomes; the model was monitored on them, retrained with them, compared against the champion and promoted.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Prospective monitoring and calibration on new outcomes, drift table, three ways to add data, gated retraining and automatic retraining settings, and the registry with one-click restore.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directions. Outbound: existing systems call our API v1 with scoped keys. Inbound: government sources plug into provider contracts. No government system is connected in this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Administrators create scoped API clients; the page shows the OpenAPI endpoints, the security posture and whether the audit hash chain verifies.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roles, each normally held at certain tiers. Scope from position, permissions from role, both enforced server-side. Audit is append-only and tamper-evident.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Administration: add projects, validated CSV upload, retraining, model metrics, 16 live data-consistency checks, restore deleted projects. Audit: every change searchable with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means implemented and demonstrable today on synthetic data. Amber means partial; we say what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honest ambers: alert delivery gateways and real-time government data. Everything else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 the platform the way a user uses it, check the data and model artefacts, and prove that the exported model is identical to the trained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before a judge asks. Each has a concrete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each role to one concrete benefit. Close with the national outcome: fewer delays, better use of public money, faster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realistic sequence: real data first, then identity and gateways, then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Rehearse this exact path. Use the National Administrator, then switch to the Mandya District Commissioner to show scoping.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 Id="rId6"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1.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1.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6583680" y="-1463040"/>
            <a:ext cx="7772400" cy="7772400"/>
          </a:xfrm>
          <a:prstGeom prst="ellipse">
            <a:avLst/>
          </a:prstGeom>
          <a:solidFill>
            <a:srgbClr val="132A4E"/>
          </a:solidFill>
          <a:ln w="12700">
            <a:solidFill>
              <a:srgbClr val="132A4E"/>
            </a:solidFill>
            <a:prstDash val="solid"/>
          </a:ln>
        </p:spPr>
      </p:sp>
      <p:pic>
        <p:nvPicPr>
          <p:cNvPr id="13" name="LandPulse icon" descr="landpulse-icon-512.png"/>
          <p:cNvPicPr>
            <a:picLocks noChangeAspect="1"/>
          </p:cNvPicPr>
          <p:nvPr/>
        </p:nvPicPr>
        <p:blipFill>
          <a:blip r:embed="rId6"/>
          <a:stretch>
            <a:fillRect/>
          </a:stretch>
        </p:blipFill>
        <p:spPr>
          <a:xfrm>
            <a:off x="731520" y="731520"/>
            <a:ext cx="731520" cy="731520"/>
          </a:xfrm>
          <a:prstGeom prst="rect">
            <a:avLst/>
          </a:prstGeom>
        </p:spPr>
      </p:pic>
      <p:sp>
        <p:nvSpPr>
          <p:cNvPr id="5" name="Text 2"/>
          <p:cNvSpPr txBox="1"/>
          <p:nvPr/>
        </p:nvSpPr>
        <p:spPr>
          <a:xfrm>
            <a:off x="1645920" y="896112"/>
            <a:ext cx="6400800" cy="365760"/>
          </a:xfrm>
          <a:prstGeom prst="rect">
            <a:avLst/>
          </a:prstGeom>
          <a:noFill/>
          <a:ln/>
        </p:spPr>
        <p:txBody>
          <a:bodyPr wrap="square" lIns="0" tIns="0" rIns="0" bIns="0" rtlCol="0" anchor="ctr"/>
          <a:lstStyle/>
          <a:p>
            <a:pPr indent="0" marL="0">
              <a:buNone/>
            </a:pPr>
            <a:r>
              <a:rPr lang="en-US" sz="1300" b="1" spc="300" kern="0" dirty="0">
                <a:solidFill>
                  <a:srgbClr val="F59E0B"/>
                </a:solidFill>
                <a:latin typeface="Calibri" pitchFamily="34" charset="0"/>
                <a:ea typeface="Calibri" pitchFamily="34" charset="-122"/>
                <a:cs typeface="Calibri" pitchFamily="34" charset="-120"/>
              </a:rPr>
              <a:t>SMART INDIA HACKATHON 2026 · TEAM ROOTSTACK</a:t>
            </a:r>
            <a:endParaRPr lang="en-US" sz="1300" dirty="0"/>
          </a:p>
        </p:txBody>
      </p:sp>
      <p:sp>
        <p:nvSpPr>
          <p:cNvPr id="6" name="Text 3"/>
          <p:cNvSpPr txBox="1"/>
          <p:nvPr/>
        </p:nvSpPr>
        <p:spPr>
          <a:xfrm>
            <a:off x="731520" y="1828800"/>
            <a:ext cx="6858000" cy="1188720"/>
          </a:xfrm>
          <a:prstGeom prst="rect">
            <a:avLst/>
          </a:prstGeom>
          <a:noFill/>
          <a:ln/>
        </p:spPr>
        <p:txBody>
          <a:bodyPr wrap="square" lIns="0" tIns="0" rIns="0" bIns="0" rtlCol="0" anchor="ctr"/>
          <a:lstStyle/>
          <a:p>
            <a:pPr indent="0" marL="0">
              <a:buNone/>
            </a:pPr>
            <a:r>
              <a:rPr lang="en-US" sz="6600" b="1" dirty="0">
                <a:solidFill>
                  <a:srgbClr val="FFFFFF"/>
                </a:solidFill>
                <a:latin typeface="Calibri" pitchFamily="34" charset="0"/>
                <a:ea typeface="Calibri" pitchFamily="34" charset="-122"/>
                <a:cs typeface="Calibri" pitchFamily="34" charset="-120"/>
              </a:rPr>
              <a:t>LandPulse AI</a:t>
            </a:r>
            <a:endParaRPr lang="en-US" sz="6600" dirty="0"/>
          </a:p>
        </p:txBody>
      </p:sp>
      <p:sp>
        <p:nvSpPr>
          <p:cNvPr id="7" name="Text 4"/>
          <p:cNvSpPr txBox="1"/>
          <p:nvPr/>
        </p:nvSpPr>
        <p:spPr>
          <a:xfrm>
            <a:off x="731520" y="2971800"/>
            <a:ext cx="6858000" cy="640080"/>
          </a:xfrm>
          <a:prstGeom prst="rect">
            <a:avLst/>
          </a:prstGeom>
          <a:noFill/>
          <a:ln/>
        </p:spPr>
        <p:txBody>
          <a:bodyPr wrap="square" lIns="0" tIns="0" rIns="0" bIns="0" rtlCol="0" anchor="ctr"/>
          <a:lstStyle/>
          <a:p>
            <a:pPr indent="0" marL="0">
              <a:buNone/>
            </a:pPr>
            <a:r>
              <a:rPr lang="en-US" sz="3000" i="1" dirty="0">
                <a:solidFill>
                  <a:srgbClr val="F59E0B"/>
                </a:solidFill>
                <a:latin typeface="Calibri" pitchFamily="34" charset="0"/>
                <a:ea typeface="Calibri" pitchFamily="34" charset="-122"/>
                <a:cs typeface="Calibri" pitchFamily="34" charset="-120"/>
              </a:rPr>
              <a:t>Predict Delays. Enable Action.</a:t>
            </a:r>
            <a:endParaRPr lang="en-US" sz="3000" dirty="0"/>
          </a:p>
        </p:txBody>
      </p:sp>
      <p:sp>
        <p:nvSpPr>
          <p:cNvPr id="8" name="Text 5"/>
          <p:cNvSpPr txBox="1"/>
          <p:nvPr/>
        </p:nvSpPr>
        <p:spPr>
          <a:xfrm>
            <a:off x="731520" y="3794760"/>
            <a:ext cx="6035040" cy="1280160"/>
          </a:xfrm>
          <a:prstGeom prst="rect">
            <a:avLst/>
          </a:prstGeom>
          <a:noFill/>
          <a:ln/>
        </p:spPr>
        <p:txBody>
          <a:bodyPr wrap="square" lIns="0" tIns="0" rIns="0" bIns="0" rtlCol="0" anchor="t"/>
          <a:lstStyle/>
          <a:p>
            <a:pPr indent="0" marL="0">
              <a:buNone/>
            </a:pPr>
            <a:r>
              <a:rPr lang="en-US" sz="1600" dirty="0">
                <a:solidFill>
                  <a:srgbClr val="C9D3E4"/>
                </a:solidFill>
                <a:latin typeface="Calibri" pitchFamily="34" charset="0"/>
                <a:ea typeface="Calibri" pitchFamily="34" charset="-122"/>
                <a:cs typeface="Calibri" pitchFamily="34" charset="-120"/>
              </a:rPr>
              <a:t>An AI-powered predictive analytics and decision-support platform that identifies land acquisition projects at risk of delay — before the delay happens — explains why, and routes corrective action to the right office.</a:t>
            </a:r>
            <a:endParaRPr lang="en-US" sz="1600" dirty="0"/>
          </a:p>
        </p:txBody>
      </p:sp>
      <p:sp>
        <p:nvSpPr>
          <p:cNvPr id="9" name="Text 6"/>
          <p:cNvSpPr txBox="1"/>
          <p:nvPr/>
        </p:nvSpPr>
        <p:spPr>
          <a:xfrm>
            <a:off x="731520" y="5669280"/>
            <a:ext cx="6400800" cy="365760"/>
          </a:xfrm>
          <a:prstGeom prst="rect">
            <a:avLst/>
          </a:prstGeom>
          <a:noFill/>
          <a:ln/>
        </p:spPr>
        <p:txBody>
          <a:bodyPr wrap="square" lIns="0" tIns="0" rIns="0" bIns="0" rtlCol="0" anchor="ctr"/>
          <a:lstStyle/>
          <a:p>
            <a:pPr indent="0" marL="0">
              <a:buNone/>
            </a:pPr>
            <a:r>
              <a:rPr lang="en-US" sz="1150" dirty="0">
                <a:solidFill>
                  <a:srgbClr val="8FA0BD"/>
                </a:solidFill>
                <a:latin typeface="Calibri" pitchFamily="34" charset="0"/>
                <a:ea typeface="Calibri" pitchFamily="34" charset="-122"/>
                <a:cs typeface="Calibri" pitchFamily="34" charset="-120"/>
              </a:rPr>
              <a:t>Prototype on a 3.5 lakh-case synthetic corpus built on real Indian geography and land acquisition law</a:t>
            </a:r>
            <a:endParaRPr lang="en-US" sz="1150" dirty="0"/>
          </a:p>
        </p:txBody>
      </p:sp>
      <p:sp>
        <p:nvSpPr>
          <p:cNvPr id="10" name="Shape 7"/>
          <p:cNvSpPr/>
          <p:nvPr/>
        </p:nvSpPr>
        <p:spPr>
          <a:xfrm>
            <a:off x="6995160" y="1371600"/>
            <a:ext cx="4846320" cy="2944368"/>
          </a:xfrm>
          <a:prstGeom prst="roundRect">
            <a:avLst>
              <a:gd name="adj" fmla="val 1553"/>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11" name="Image 1" descr="C:\Users\byted\AppData\Local\Temp\claude\C--ClaudeCode\522fe311-e259-49a1-bdae-38a26cc91572\scratchpad\deck\shots\dashboard.png">    </p:cNvPr>
          <p:cNvPicPr>
            <a:picLocks noChangeAspect="1"/>
          </p:cNvPicPr>
          <p:nvPr/>
        </p:nvPicPr>
        <p:blipFill>
          <a:blip r:embed="rId2"/>
          <a:stretch>
            <a:fillRect/>
          </a:stretch>
        </p:blipFill>
        <p:spPr>
          <a:xfrm>
            <a:off x="7040880" y="1417320"/>
            <a:ext cx="4754880" cy="2852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AGENDA</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What this presentation covers</a:t>
            </a:r>
            <a:endParaRPr lang="en-US" sz="3000" dirty="0"/>
          </a:p>
        </p:txBody>
      </p:sp>
      <p:sp>
        <p:nvSpPr>
          <p:cNvPr id="4"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5"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54480"/>
            <a:ext cx="5394960" cy="960120"/>
          </a:xfrm>
          <a:prstGeom prst="roundRect">
            <a:avLst>
              <a:gd name="adj" fmla="val 7619"/>
            </a:avLst>
          </a:prstGeom>
          <a:solidFill>
            <a:srgbClr val="F3F6FB"/>
          </a:solidFill>
          <a:ln w="12700">
            <a:solidFill>
              <a:srgbClr val="F3F6FB"/>
            </a:solidFill>
            <a:prstDash val="solid"/>
          </a:ln>
        </p:spPr>
      </p:sp>
      <p:sp>
        <p:nvSpPr>
          <p:cNvPr id="7" name="Shape 5"/>
          <p:cNvSpPr/>
          <p:nvPr/>
        </p:nvSpPr>
        <p:spPr>
          <a:xfrm>
            <a:off x="749808" y="1773936"/>
            <a:ext cx="530352" cy="530352"/>
          </a:xfrm>
          <a:prstGeom prst="ellipse">
            <a:avLst/>
          </a:prstGeom>
          <a:solidFill>
            <a:srgbClr val="3B72F0"/>
          </a:solidFill>
          <a:ln w="12700">
            <a:solidFill>
              <a:srgbClr val="3B72F0"/>
            </a:solidFill>
            <a:prstDash val="solid"/>
          </a:ln>
        </p:spPr>
      </p:sp>
      <p:pic>
        <p:nvPicPr>
          <p:cNvPr id="8" name="Image 0" descr="preencoded.png">    </p:cNvPr>
          <p:cNvPicPr>
            <a:picLocks noChangeAspect="1"/>
          </p:cNvPicPr>
          <p:nvPr/>
        </p:nvPicPr>
        <p:blipFill>
          <a:blip r:embed="rId1"/>
          <a:stretch>
            <a:fillRect/>
          </a:stretch>
        </p:blipFill>
        <p:spPr>
          <a:xfrm>
            <a:off x="877092" y="1901220"/>
            <a:ext cx="275783" cy="275783"/>
          </a:xfrm>
          <a:prstGeom prst="rect">
            <a:avLst/>
          </a:prstGeom>
        </p:spPr>
      </p:pic>
      <p:sp>
        <p:nvSpPr>
          <p:cNvPr id="9" name="Text 6"/>
          <p:cNvSpPr txBox="1"/>
          <p:nvPr/>
        </p:nvSpPr>
        <p:spPr>
          <a:xfrm>
            <a:off x="1463040" y="1719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01  The problem</a:t>
            </a:r>
            <a:endParaRPr lang="en-US" sz="1700" dirty="0"/>
          </a:p>
        </p:txBody>
      </p:sp>
      <p:sp>
        <p:nvSpPr>
          <p:cNvPr id="10" name="Text 7"/>
          <p:cNvSpPr txBox="1"/>
          <p:nvPr/>
        </p:nvSpPr>
        <p:spPr>
          <a:xfrm>
            <a:off x="1463040" y="2066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Why acquisition delays matter and what SIH asks for</a:t>
            </a:r>
            <a:endParaRPr lang="en-US" sz="1200" dirty="0"/>
          </a:p>
        </p:txBody>
      </p:sp>
      <p:sp>
        <p:nvSpPr>
          <p:cNvPr id="11" name="Shape 8"/>
          <p:cNvSpPr/>
          <p:nvPr/>
        </p:nvSpPr>
        <p:spPr>
          <a:xfrm>
            <a:off x="6172200" y="1554480"/>
            <a:ext cx="5394960" cy="960120"/>
          </a:xfrm>
          <a:prstGeom prst="roundRect">
            <a:avLst>
              <a:gd name="adj" fmla="val 7619"/>
            </a:avLst>
          </a:prstGeom>
          <a:solidFill>
            <a:srgbClr val="F3F6FB"/>
          </a:solidFill>
          <a:ln w="12700">
            <a:solidFill>
              <a:srgbClr val="F3F6FB"/>
            </a:solidFill>
            <a:prstDash val="solid"/>
          </a:ln>
        </p:spPr>
      </p:sp>
      <p:sp>
        <p:nvSpPr>
          <p:cNvPr id="12" name="Shape 9"/>
          <p:cNvSpPr/>
          <p:nvPr/>
        </p:nvSpPr>
        <p:spPr>
          <a:xfrm>
            <a:off x="6373368" y="1773936"/>
            <a:ext cx="530352" cy="530352"/>
          </a:xfrm>
          <a:prstGeom prst="ellipse">
            <a:avLst/>
          </a:prstGeom>
          <a:solidFill>
            <a:srgbClr val="0EA5A4"/>
          </a:solidFill>
          <a:ln w="12700">
            <a:solidFill>
              <a:srgbClr val="0EA5A4"/>
            </a:solidFill>
            <a:prstDash val="solid"/>
          </a:ln>
        </p:spPr>
      </p:sp>
      <p:pic>
        <p:nvPicPr>
          <p:cNvPr id="13" name="Image 1" descr="preencoded.png">    </p:cNvPr>
          <p:cNvPicPr>
            <a:picLocks noChangeAspect="1"/>
          </p:cNvPicPr>
          <p:nvPr/>
        </p:nvPicPr>
        <p:blipFill>
          <a:blip r:embed="rId2"/>
          <a:stretch>
            <a:fillRect/>
          </a:stretch>
        </p:blipFill>
        <p:spPr>
          <a:xfrm>
            <a:off x="6500652" y="1901220"/>
            <a:ext cx="275783" cy="275783"/>
          </a:xfrm>
          <a:prstGeom prst="rect">
            <a:avLst/>
          </a:prstGeom>
        </p:spPr>
      </p:pic>
      <p:sp>
        <p:nvSpPr>
          <p:cNvPr id="14" name="Text 10"/>
          <p:cNvSpPr txBox="1"/>
          <p:nvPr/>
        </p:nvSpPr>
        <p:spPr>
          <a:xfrm>
            <a:off x="7086600" y="1719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02  Our solution</a:t>
            </a:r>
            <a:endParaRPr lang="en-US" sz="1700" dirty="0"/>
          </a:p>
        </p:txBody>
      </p:sp>
      <p:sp>
        <p:nvSpPr>
          <p:cNvPr id="15" name="Text 11"/>
          <p:cNvSpPr txBox="1"/>
          <p:nvPr/>
        </p:nvSpPr>
        <p:spPr>
          <a:xfrm>
            <a:off x="7086600" y="2066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Architecture, scope and technology choices</a:t>
            </a:r>
            <a:endParaRPr lang="en-US" sz="1200" dirty="0"/>
          </a:p>
        </p:txBody>
      </p:sp>
      <p:sp>
        <p:nvSpPr>
          <p:cNvPr id="16" name="Shape 12"/>
          <p:cNvSpPr/>
          <p:nvPr/>
        </p:nvSpPr>
        <p:spPr>
          <a:xfrm>
            <a:off x="548640" y="2697480"/>
            <a:ext cx="5394960" cy="960120"/>
          </a:xfrm>
          <a:prstGeom prst="roundRect">
            <a:avLst>
              <a:gd name="adj" fmla="val 7619"/>
            </a:avLst>
          </a:prstGeom>
          <a:solidFill>
            <a:srgbClr val="F3F6FB"/>
          </a:solidFill>
          <a:ln w="12700">
            <a:solidFill>
              <a:srgbClr val="F3F6FB"/>
            </a:solidFill>
            <a:prstDash val="solid"/>
          </a:ln>
        </p:spPr>
      </p:sp>
      <p:sp>
        <p:nvSpPr>
          <p:cNvPr id="17" name="Shape 13"/>
          <p:cNvSpPr/>
          <p:nvPr/>
        </p:nvSpPr>
        <p:spPr>
          <a:xfrm>
            <a:off x="749808" y="2916936"/>
            <a:ext cx="530352" cy="530352"/>
          </a:xfrm>
          <a:prstGeom prst="ellipse">
            <a:avLst/>
          </a:prstGeom>
          <a:solidFill>
            <a:srgbClr val="3B72F0"/>
          </a:solidFill>
          <a:ln w="12700">
            <a:solidFill>
              <a:srgbClr val="3B72F0"/>
            </a:solidFill>
            <a:prstDash val="solid"/>
          </a:ln>
        </p:spPr>
      </p:sp>
      <p:pic>
        <p:nvPicPr>
          <p:cNvPr id="18" name="Image 2" descr="preencoded.png">    </p:cNvPr>
          <p:cNvPicPr>
            <a:picLocks noChangeAspect="1"/>
          </p:cNvPicPr>
          <p:nvPr/>
        </p:nvPicPr>
        <p:blipFill>
          <a:blip r:embed="rId3"/>
          <a:stretch>
            <a:fillRect/>
          </a:stretch>
        </p:blipFill>
        <p:spPr>
          <a:xfrm>
            <a:off x="877092" y="3044220"/>
            <a:ext cx="275783" cy="275783"/>
          </a:xfrm>
          <a:prstGeom prst="rect">
            <a:avLst/>
          </a:prstGeom>
        </p:spPr>
      </p:pic>
      <p:sp>
        <p:nvSpPr>
          <p:cNvPr id="19" name="Text 14"/>
          <p:cNvSpPr txBox="1"/>
          <p:nvPr/>
        </p:nvSpPr>
        <p:spPr>
          <a:xfrm>
            <a:off x="1463040" y="2862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03  Data &amp; machine learning</a:t>
            </a:r>
            <a:endParaRPr lang="en-US" sz="1700" dirty="0"/>
          </a:p>
        </p:txBody>
      </p:sp>
      <p:sp>
        <p:nvSpPr>
          <p:cNvPr id="20" name="Text 15"/>
          <p:cNvSpPr txBox="1"/>
          <p:nvPr/>
        </p:nvSpPr>
        <p:spPr>
          <a:xfrm>
            <a:off x="1463040" y="3209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Corpus, model, risk score, stage forecast, explainability</a:t>
            </a:r>
            <a:endParaRPr lang="en-US" sz="1200" dirty="0"/>
          </a:p>
        </p:txBody>
      </p:sp>
      <p:sp>
        <p:nvSpPr>
          <p:cNvPr id="21" name="Shape 16"/>
          <p:cNvSpPr/>
          <p:nvPr/>
        </p:nvSpPr>
        <p:spPr>
          <a:xfrm>
            <a:off x="6172200" y="2697480"/>
            <a:ext cx="5394960" cy="960120"/>
          </a:xfrm>
          <a:prstGeom prst="roundRect">
            <a:avLst>
              <a:gd name="adj" fmla="val 7619"/>
            </a:avLst>
          </a:prstGeom>
          <a:solidFill>
            <a:srgbClr val="F3F6FB"/>
          </a:solidFill>
          <a:ln w="12700">
            <a:solidFill>
              <a:srgbClr val="F3F6FB"/>
            </a:solidFill>
            <a:prstDash val="solid"/>
          </a:ln>
        </p:spPr>
      </p:sp>
      <p:sp>
        <p:nvSpPr>
          <p:cNvPr id="22" name="Shape 17"/>
          <p:cNvSpPr/>
          <p:nvPr/>
        </p:nvSpPr>
        <p:spPr>
          <a:xfrm>
            <a:off x="6373368" y="2916936"/>
            <a:ext cx="530352" cy="530352"/>
          </a:xfrm>
          <a:prstGeom prst="ellipse">
            <a:avLst/>
          </a:prstGeom>
          <a:solidFill>
            <a:srgbClr val="0EA5A4"/>
          </a:solidFill>
          <a:ln w="12700">
            <a:solidFill>
              <a:srgbClr val="0EA5A4"/>
            </a:solidFill>
            <a:prstDash val="solid"/>
          </a:ln>
        </p:spPr>
      </p:sp>
      <p:pic>
        <p:nvPicPr>
          <p:cNvPr id="23" name="Image 3" descr="preencoded.png">    </p:cNvPr>
          <p:cNvPicPr>
            <a:picLocks noChangeAspect="1"/>
          </p:cNvPicPr>
          <p:nvPr/>
        </p:nvPicPr>
        <p:blipFill>
          <a:blip r:embed="rId4"/>
          <a:stretch>
            <a:fillRect/>
          </a:stretch>
        </p:blipFill>
        <p:spPr>
          <a:xfrm>
            <a:off x="6500652" y="3044220"/>
            <a:ext cx="275783" cy="275783"/>
          </a:xfrm>
          <a:prstGeom prst="rect">
            <a:avLst/>
          </a:prstGeom>
        </p:spPr>
      </p:pic>
      <p:sp>
        <p:nvSpPr>
          <p:cNvPr id="24" name="Text 18"/>
          <p:cNvSpPr txBox="1"/>
          <p:nvPr/>
        </p:nvSpPr>
        <p:spPr>
          <a:xfrm>
            <a:off x="7086600" y="2862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04  Decision support</a:t>
            </a:r>
            <a:endParaRPr lang="en-US" sz="1700" dirty="0"/>
          </a:p>
        </p:txBody>
      </p:sp>
      <p:sp>
        <p:nvSpPr>
          <p:cNvPr id="25" name="Text 19"/>
          <p:cNvSpPr txBox="1"/>
          <p:nvPr/>
        </p:nvSpPr>
        <p:spPr>
          <a:xfrm>
            <a:off x="7086600" y="3209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Recommendations, interventions, alerts, scenario scoring</a:t>
            </a:r>
            <a:endParaRPr lang="en-US" sz="1200" dirty="0"/>
          </a:p>
        </p:txBody>
      </p:sp>
      <p:sp>
        <p:nvSpPr>
          <p:cNvPr id="26" name="Shape 20"/>
          <p:cNvSpPr/>
          <p:nvPr/>
        </p:nvSpPr>
        <p:spPr>
          <a:xfrm>
            <a:off x="548640" y="3840480"/>
            <a:ext cx="5394960" cy="960120"/>
          </a:xfrm>
          <a:prstGeom prst="roundRect">
            <a:avLst>
              <a:gd name="adj" fmla="val 7619"/>
            </a:avLst>
          </a:prstGeom>
          <a:solidFill>
            <a:srgbClr val="F3F6FB"/>
          </a:solidFill>
          <a:ln w="12700">
            <a:solidFill>
              <a:srgbClr val="F3F6FB"/>
            </a:solidFill>
            <a:prstDash val="solid"/>
          </a:ln>
        </p:spPr>
      </p:sp>
      <p:sp>
        <p:nvSpPr>
          <p:cNvPr id="27" name="Shape 21"/>
          <p:cNvSpPr/>
          <p:nvPr/>
        </p:nvSpPr>
        <p:spPr>
          <a:xfrm>
            <a:off x="749808" y="4059936"/>
            <a:ext cx="530352" cy="530352"/>
          </a:xfrm>
          <a:prstGeom prst="ellipse">
            <a:avLst/>
          </a:prstGeom>
          <a:solidFill>
            <a:srgbClr val="3B72F0"/>
          </a:solidFill>
          <a:ln w="12700">
            <a:solidFill>
              <a:srgbClr val="3B72F0"/>
            </a:solidFill>
            <a:prstDash val="solid"/>
          </a:ln>
        </p:spPr>
      </p:sp>
      <p:pic>
        <p:nvPicPr>
          <p:cNvPr id="28" name="Image 4" descr="preencoded.png">    </p:cNvPr>
          <p:cNvPicPr>
            <a:picLocks noChangeAspect="1"/>
          </p:cNvPicPr>
          <p:nvPr/>
        </p:nvPicPr>
        <p:blipFill>
          <a:blip r:embed="rId5"/>
          <a:stretch>
            <a:fillRect/>
          </a:stretch>
        </p:blipFill>
        <p:spPr>
          <a:xfrm>
            <a:off x="877092" y="4187220"/>
            <a:ext cx="275783" cy="275783"/>
          </a:xfrm>
          <a:prstGeom prst="rect">
            <a:avLst/>
          </a:prstGeom>
        </p:spPr>
      </p:pic>
      <p:sp>
        <p:nvSpPr>
          <p:cNvPr id="29" name="Text 22"/>
          <p:cNvSpPr txBox="1"/>
          <p:nvPr/>
        </p:nvSpPr>
        <p:spPr>
          <a:xfrm>
            <a:off x="1463040" y="4005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05  Dashboards &amp; GIS</a:t>
            </a:r>
            <a:endParaRPr lang="en-US" sz="1700" dirty="0"/>
          </a:p>
        </p:txBody>
      </p:sp>
      <p:sp>
        <p:nvSpPr>
          <p:cNvPr id="30" name="Text 23"/>
          <p:cNvSpPr txBox="1"/>
          <p:nvPr/>
        </p:nvSpPr>
        <p:spPr>
          <a:xfrm>
            <a:off x="1463040" y="4352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Command centre, trends, analytics, maps, drill-down</a:t>
            </a:r>
            <a:endParaRPr lang="en-US" sz="1200" dirty="0"/>
          </a:p>
        </p:txBody>
      </p:sp>
      <p:sp>
        <p:nvSpPr>
          <p:cNvPr id="31" name="Shape 24"/>
          <p:cNvSpPr/>
          <p:nvPr/>
        </p:nvSpPr>
        <p:spPr>
          <a:xfrm>
            <a:off x="6172200" y="3840480"/>
            <a:ext cx="5394960" cy="960120"/>
          </a:xfrm>
          <a:prstGeom prst="roundRect">
            <a:avLst>
              <a:gd name="adj" fmla="val 7619"/>
            </a:avLst>
          </a:prstGeom>
          <a:solidFill>
            <a:srgbClr val="F3F6FB"/>
          </a:solidFill>
          <a:ln w="12700">
            <a:solidFill>
              <a:srgbClr val="F3F6FB"/>
            </a:solidFill>
            <a:prstDash val="solid"/>
          </a:ln>
        </p:spPr>
      </p:sp>
      <p:sp>
        <p:nvSpPr>
          <p:cNvPr id="32" name="Shape 25"/>
          <p:cNvSpPr/>
          <p:nvPr/>
        </p:nvSpPr>
        <p:spPr>
          <a:xfrm>
            <a:off x="6373368" y="4059936"/>
            <a:ext cx="530352" cy="530352"/>
          </a:xfrm>
          <a:prstGeom prst="ellipse">
            <a:avLst/>
          </a:prstGeom>
          <a:solidFill>
            <a:srgbClr val="0EA5A4"/>
          </a:solidFill>
          <a:ln w="12700">
            <a:solidFill>
              <a:srgbClr val="0EA5A4"/>
            </a:solidFill>
            <a:prstDash val="solid"/>
          </a:ln>
        </p:spPr>
      </p:sp>
      <p:pic>
        <p:nvPicPr>
          <p:cNvPr id="33" name="Image 5" descr="preencoded.png">    </p:cNvPr>
          <p:cNvPicPr>
            <a:picLocks noChangeAspect="1"/>
          </p:cNvPicPr>
          <p:nvPr/>
        </p:nvPicPr>
        <p:blipFill>
          <a:blip r:embed="rId6"/>
          <a:stretch>
            <a:fillRect/>
          </a:stretch>
        </p:blipFill>
        <p:spPr>
          <a:xfrm>
            <a:off x="6500652" y="4187220"/>
            <a:ext cx="275783" cy="275783"/>
          </a:xfrm>
          <a:prstGeom prst="rect">
            <a:avLst/>
          </a:prstGeom>
        </p:spPr>
      </p:pic>
      <p:sp>
        <p:nvSpPr>
          <p:cNvPr id="34" name="Text 26"/>
          <p:cNvSpPr txBox="1"/>
          <p:nvPr/>
        </p:nvSpPr>
        <p:spPr>
          <a:xfrm>
            <a:off x="7086600" y="4005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06  Learning, integration, security</a:t>
            </a:r>
            <a:endParaRPr lang="en-US" sz="1700" dirty="0"/>
          </a:p>
        </p:txBody>
      </p:sp>
      <p:sp>
        <p:nvSpPr>
          <p:cNvPr id="35" name="Text 27"/>
          <p:cNvSpPr txBox="1"/>
          <p:nvPr/>
        </p:nvSpPr>
        <p:spPr>
          <a:xfrm>
            <a:off x="7086600" y="4352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Continuous learning, APIs, roles and audit</a:t>
            </a:r>
            <a:endParaRPr lang="en-US" sz="1200" dirty="0"/>
          </a:p>
        </p:txBody>
      </p:sp>
      <p:sp>
        <p:nvSpPr>
          <p:cNvPr id="36" name="Shape 28"/>
          <p:cNvSpPr/>
          <p:nvPr/>
        </p:nvSpPr>
        <p:spPr>
          <a:xfrm>
            <a:off x="548640" y="4983480"/>
            <a:ext cx="5394960" cy="960120"/>
          </a:xfrm>
          <a:prstGeom prst="roundRect">
            <a:avLst>
              <a:gd name="adj" fmla="val 7619"/>
            </a:avLst>
          </a:prstGeom>
          <a:solidFill>
            <a:srgbClr val="F3F6FB"/>
          </a:solidFill>
          <a:ln w="12700">
            <a:solidFill>
              <a:srgbClr val="F3F6FB"/>
            </a:solidFill>
            <a:prstDash val="solid"/>
          </a:ln>
        </p:spPr>
      </p:sp>
      <p:sp>
        <p:nvSpPr>
          <p:cNvPr id="37" name="Shape 29"/>
          <p:cNvSpPr/>
          <p:nvPr/>
        </p:nvSpPr>
        <p:spPr>
          <a:xfrm>
            <a:off x="749808" y="5202936"/>
            <a:ext cx="530352" cy="530352"/>
          </a:xfrm>
          <a:prstGeom prst="ellipse">
            <a:avLst/>
          </a:prstGeom>
          <a:solidFill>
            <a:srgbClr val="3B72F0"/>
          </a:solidFill>
          <a:ln w="12700">
            <a:solidFill>
              <a:srgbClr val="3B72F0"/>
            </a:solidFill>
            <a:prstDash val="solid"/>
          </a:ln>
        </p:spPr>
      </p:sp>
      <p:pic>
        <p:nvPicPr>
          <p:cNvPr id="38" name="Image 6" descr="preencoded.png">    </p:cNvPr>
          <p:cNvPicPr>
            <a:picLocks noChangeAspect="1"/>
          </p:cNvPicPr>
          <p:nvPr/>
        </p:nvPicPr>
        <p:blipFill>
          <a:blip r:embed="rId7"/>
          <a:stretch>
            <a:fillRect/>
          </a:stretch>
        </p:blipFill>
        <p:spPr>
          <a:xfrm>
            <a:off x="877092" y="5330220"/>
            <a:ext cx="275783" cy="275783"/>
          </a:xfrm>
          <a:prstGeom prst="rect">
            <a:avLst/>
          </a:prstGeom>
        </p:spPr>
      </p:pic>
      <p:sp>
        <p:nvSpPr>
          <p:cNvPr id="39" name="Text 30"/>
          <p:cNvSpPr txBox="1"/>
          <p:nvPr/>
        </p:nvSpPr>
        <p:spPr>
          <a:xfrm>
            <a:off x="1463040" y="5148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07  SIH compliance &amp; validation</a:t>
            </a:r>
            <a:endParaRPr lang="en-US" sz="1700" dirty="0"/>
          </a:p>
        </p:txBody>
      </p:sp>
      <p:sp>
        <p:nvSpPr>
          <p:cNvPr id="40" name="Text 31"/>
          <p:cNvSpPr txBox="1"/>
          <p:nvPr/>
        </p:nvSpPr>
        <p:spPr>
          <a:xfrm>
            <a:off x="1463040" y="5495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Requirement-by-requirement matrix and tests</a:t>
            </a:r>
            <a:endParaRPr lang="en-US" sz="1200" dirty="0"/>
          </a:p>
        </p:txBody>
      </p:sp>
      <p:sp>
        <p:nvSpPr>
          <p:cNvPr id="41" name="Shape 32"/>
          <p:cNvSpPr/>
          <p:nvPr/>
        </p:nvSpPr>
        <p:spPr>
          <a:xfrm>
            <a:off x="6172200" y="4983480"/>
            <a:ext cx="5394960" cy="960120"/>
          </a:xfrm>
          <a:prstGeom prst="roundRect">
            <a:avLst>
              <a:gd name="adj" fmla="val 7619"/>
            </a:avLst>
          </a:prstGeom>
          <a:solidFill>
            <a:srgbClr val="F3F6FB"/>
          </a:solidFill>
          <a:ln w="12700">
            <a:solidFill>
              <a:srgbClr val="F3F6FB"/>
            </a:solidFill>
            <a:prstDash val="solid"/>
          </a:ln>
        </p:spPr>
      </p:sp>
      <p:sp>
        <p:nvSpPr>
          <p:cNvPr id="42" name="Shape 33"/>
          <p:cNvSpPr/>
          <p:nvPr/>
        </p:nvSpPr>
        <p:spPr>
          <a:xfrm>
            <a:off x="6373368" y="5202936"/>
            <a:ext cx="530352" cy="530352"/>
          </a:xfrm>
          <a:prstGeom prst="ellipse">
            <a:avLst/>
          </a:prstGeom>
          <a:solidFill>
            <a:srgbClr val="0EA5A4"/>
          </a:solidFill>
          <a:ln w="12700">
            <a:solidFill>
              <a:srgbClr val="0EA5A4"/>
            </a:solidFill>
            <a:prstDash val="solid"/>
          </a:ln>
        </p:spPr>
      </p:sp>
      <p:pic>
        <p:nvPicPr>
          <p:cNvPr id="43" name="Image 7" descr="preencoded.png">    </p:cNvPr>
          <p:cNvPicPr>
            <a:picLocks noChangeAspect="1"/>
          </p:cNvPicPr>
          <p:nvPr/>
        </p:nvPicPr>
        <p:blipFill>
          <a:blip r:embed="rId8"/>
          <a:stretch>
            <a:fillRect/>
          </a:stretch>
        </p:blipFill>
        <p:spPr>
          <a:xfrm>
            <a:off x="6500652" y="5330220"/>
            <a:ext cx="275783" cy="275783"/>
          </a:xfrm>
          <a:prstGeom prst="rect">
            <a:avLst/>
          </a:prstGeom>
        </p:spPr>
      </p:pic>
      <p:sp>
        <p:nvSpPr>
          <p:cNvPr id="44" name="Text 34"/>
          <p:cNvSpPr txBox="1"/>
          <p:nvPr/>
        </p:nvSpPr>
        <p:spPr>
          <a:xfrm>
            <a:off x="7086600" y="5148072"/>
            <a:ext cx="4297680" cy="347472"/>
          </a:xfrm>
          <a:prstGeom prst="rect">
            <a:avLst/>
          </a:prstGeom>
          <a:noFill/>
          <a:ln/>
        </p:spPr>
        <p:txBody>
          <a:bodyPr wrap="square" lIns="0" tIns="0" rIns="0" bIns="0" rtlCol="0" anchor="ctr"/>
          <a:lstStyle/>
          <a:p>
            <a:pPr indent="0" marL="0">
              <a:buNone/>
            </a:pPr>
            <a:r>
              <a:rPr lang="en-US" sz="1700" b="1" dirty="0">
                <a:solidFill>
                  <a:srgbClr val="14213D"/>
                </a:solidFill>
                <a:latin typeface="Calibri" pitchFamily="34" charset="0"/>
                <a:ea typeface="Calibri" pitchFamily="34" charset="-122"/>
                <a:cs typeface="Calibri" pitchFamily="34" charset="-120"/>
              </a:rPr>
              <a:t>08  Impact &amp; roadmap</a:t>
            </a:r>
            <a:endParaRPr lang="en-US" sz="1700" dirty="0"/>
          </a:p>
        </p:txBody>
      </p:sp>
      <p:sp>
        <p:nvSpPr>
          <p:cNvPr id="45" name="Text 35"/>
          <p:cNvSpPr txBox="1"/>
          <p:nvPr/>
        </p:nvSpPr>
        <p:spPr>
          <a:xfrm>
            <a:off x="7086600" y="5495544"/>
            <a:ext cx="4297680" cy="320040"/>
          </a:xfrm>
          <a:prstGeom prst="rect">
            <a:avLst/>
          </a:prstGeom>
          <a:noFill/>
          <a:ln/>
        </p:spPr>
        <p:txBody>
          <a:bodyPr wrap="square" lIns="0" tIns="0" rIns="0" bIns="0" rtlCol="0" anchor="ctr"/>
          <a:lstStyle/>
          <a:p>
            <a:pPr indent="0" marL="0">
              <a:buNone/>
            </a:pPr>
            <a:r>
              <a:rPr lang="en-US" sz="1200" dirty="0">
                <a:solidFill>
                  <a:srgbClr val="5B6B82"/>
                </a:solidFill>
                <a:latin typeface="Calibri" pitchFamily="34" charset="0"/>
                <a:ea typeface="Calibri" pitchFamily="34" charset="-122"/>
                <a:cs typeface="Calibri" pitchFamily="34" charset="-120"/>
              </a:rPr>
              <a:t>Limitations, benefits and the path to deployment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01</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The problem</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Land acquisition is the most time-sensitive phase of infrastructure delivery — and delays are discovered only after they happen.</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BACKGROUND FROM THE SIH PROBLEM STATEMENT</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Why land acquisition gets delayed</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a:t>
            </a:r>
            <a:endParaRPr lang="en-US" sz="900" dirty="0"/>
          </a:p>
        </p:txBody>
      </p:sp>
      <p:sp>
        <p:nvSpPr>
          <p:cNvPr id="7" name="Shape 4"/>
          <p:cNvSpPr/>
          <p:nvPr/>
        </p:nvSpPr>
        <p:spPr>
          <a:xfrm>
            <a:off x="548640" y="1600200"/>
            <a:ext cx="2606040" cy="1874520"/>
          </a:xfrm>
          <a:prstGeom prst="roundRect">
            <a:avLst>
              <a:gd name="adj" fmla="val 3902"/>
            </a:avLst>
          </a:prstGeom>
          <a:solidFill>
            <a:srgbClr val="F3F6FB"/>
          </a:solidFill>
          <a:ln w="12700">
            <a:solidFill>
              <a:srgbClr val="F3F6FB"/>
            </a:solidFill>
            <a:prstDash val="solid"/>
          </a:ln>
        </p:spPr>
      </p:sp>
      <p:sp>
        <p:nvSpPr>
          <p:cNvPr id="8" name="Shape 5"/>
          <p:cNvSpPr/>
          <p:nvPr/>
        </p:nvSpPr>
        <p:spPr>
          <a:xfrm>
            <a:off x="749808" y="1801368"/>
            <a:ext cx="566928" cy="566928"/>
          </a:xfrm>
          <a:prstGeom prst="ellipse">
            <a:avLst/>
          </a:prstGeom>
          <a:solidFill>
            <a:srgbClr val="E11D48"/>
          </a:solidFill>
          <a:ln w="12700">
            <a:solidFill>
              <a:srgbClr val="E11D48"/>
            </a:solidFill>
            <a:prstDash val="solid"/>
          </a:ln>
        </p:spPr>
      </p:sp>
      <p:pic>
        <p:nvPicPr>
          <p:cNvPr id="9" name="Image 0" descr="preencoded.png">    </p:cNvPr>
          <p:cNvPicPr>
            <a:picLocks noChangeAspect="1"/>
          </p:cNvPicPr>
          <p:nvPr/>
        </p:nvPicPr>
        <p:blipFill>
          <a:blip r:embed="rId1"/>
          <a:stretch>
            <a:fillRect/>
          </a:stretch>
        </p:blipFill>
        <p:spPr>
          <a:xfrm>
            <a:off x="885871" y="1937431"/>
            <a:ext cx="294803" cy="294803"/>
          </a:xfrm>
          <a:prstGeom prst="rect">
            <a:avLst/>
          </a:prstGeom>
        </p:spPr>
      </p:pic>
      <p:sp>
        <p:nvSpPr>
          <p:cNvPr id="10" name="Text 6"/>
          <p:cNvSpPr txBox="1"/>
          <p:nvPr/>
        </p:nvSpPr>
        <p:spPr>
          <a:xfrm>
            <a:off x="749808" y="249631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Prolonged administrative approvals</a:t>
            </a:r>
            <a:endParaRPr lang="en-US" sz="1400" dirty="0"/>
          </a:p>
        </p:txBody>
      </p:sp>
      <p:sp>
        <p:nvSpPr>
          <p:cNvPr id="11" name="Text 7"/>
          <p:cNvSpPr txBox="1"/>
          <p:nvPr/>
        </p:nvSpPr>
        <p:spPr>
          <a:xfrm>
            <a:off x="749808" y="297180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Files wait for sanctions and clearances across offices</a:t>
            </a:r>
            <a:endParaRPr lang="en-US" sz="1100" dirty="0"/>
          </a:p>
        </p:txBody>
      </p:sp>
      <p:sp>
        <p:nvSpPr>
          <p:cNvPr id="12" name="Shape 8"/>
          <p:cNvSpPr/>
          <p:nvPr/>
        </p:nvSpPr>
        <p:spPr>
          <a:xfrm>
            <a:off x="3355848" y="1600200"/>
            <a:ext cx="2606040" cy="1874520"/>
          </a:xfrm>
          <a:prstGeom prst="roundRect">
            <a:avLst>
              <a:gd name="adj" fmla="val 3902"/>
            </a:avLst>
          </a:prstGeom>
          <a:solidFill>
            <a:srgbClr val="F3F6FB"/>
          </a:solidFill>
          <a:ln w="12700">
            <a:solidFill>
              <a:srgbClr val="F3F6FB"/>
            </a:solidFill>
            <a:prstDash val="solid"/>
          </a:ln>
        </p:spPr>
      </p:sp>
      <p:sp>
        <p:nvSpPr>
          <p:cNvPr id="13" name="Shape 9"/>
          <p:cNvSpPr/>
          <p:nvPr/>
        </p:nvSpPr>
        <p:spPr>
          <a:xfrm>
            <a:off x="3557016" y="1801368"/>
            <a:ext cx="566928" cy="566928"/>
          </a:xfrm>
          <a:prstGeom prst="ellipse">
            <a:avLst/>
          </a:prstGeom>
          <a:solidFill>
            <a:srgbClr val="E11D48"/>
          </a:solidFill>
          <a:ln w="12700">
            <a:solidFill>
              <a:srgbClr val="E11D48"/>
            </a:solidFill>
            <a:prstDash val="solid"/>
          </a:ln>
        </p:spPr>
      </p:sp>
      <p:pic>
        <p:nvPicPr>
          <p:cNvPr id="14" name="Image 1" descr="preencoded.png">    </p:cNvPr>
          <p:cNvPicPr>
            <a:picLocks noChangeAspect="1"/>
          </p:cNvPicPr>
          <p:nvPr/>
        </p:nvPicPr>
        <p:blipFill>
          <a:blip r:embed="rId2"/>
          <a:stretch>
            <a:fillRect/>
          </a:stretch>
        </p:blipFill>
        <p:spPr>
          <a:xfrm>
            <a:off x="3693079" y="1937431"/>
            <a:ext cx="294803" cy="294803"/>
          </a:xfrm>
          <a:prstGeom prst="rect">
            <a:avLst/>
          </a:prstGeom>
        </p:spPr>
      </p:pic>
      <p:sp>
        <p:nvSpPr>
          <p:cNvPr id="15" name="Text 10"/>
          <p:cNvSpPr txBox="1"/>
          <p:nvPr/>
        </p:nvSpPr>
        <p:spPr>
          <a:xfrm>
            <a:off x="3557016" y="249631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Legal disputes</a:t>
            </a:r>
            <a:endParaRPr lang="en-US" sz="1400" dirty="0"/>
          </a:p>
        </p:txBody>
      </p:sp>
      <p:sp>
        <p:nvSpPr>
          <p:cNvPr id="16" name="Text 11"/>
          <p:cNvSpPr txBox="1"/>
          <p:nvPr/>
        </p:nvSpPr>
        <p:spPr>
          <a:xfrm>
            <a:off x="3557016" y="297180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Title suits, objections and references on compensation</a:t>
            </a:r>
            <a:endParaRPr lang="en-US" sz="1100" dirty="0"/>
          </a:p>
        </p:txBody>
      </p:sp>
      <p:sp>
        <p:nvSpPr>
          <p:cNvPr id="17" name="Shape 12"/>
          <p:cNvSpPr/>
          <p:nvPr/>
        </p:nvSpPr>
        <p:spPr>
          <a:xfrm>
            <a:off x="6163056" y="1600200"/>
            <a:ext cx="2606040" cy="1874520"/>
          </a:xfrm>
          <a:prstGeom prst="roundRect">
            <a:avLst>
              <a:gd name="adj" fmla="val 3902"/>
            </a:avLst>
          </a:prstGeom>
          <a:solidFill>
            <a:srgbClr val="F3F6FB"/>
          </a:solidFill>
          <a:ln w="12700">
            <a:solidFill>
              <a:srgbClr val="F3F6FB"/>
            </a:solidFill>
            <a:prstDash val="solid"/>
          </a:ln>
        </p:spPr>
      </p:sp>
      <p:sp>
        <p:nvSpPr>
          <p:cNvPr id="18" name="Shape 13"/>
          <p:cNvSpPr/>
          <p:nvPr/>
        </p:nvSpPr>
        <p:spPr>
          <a:xfrm>
            <a:off x="6364224" y="1801368"/>
            <a:ext cx="566928" cy="566928"/>
          </a:xfrm>
          <a:prstGeom prst="ellipse">
            <a:avLst/>
          </a:prstGeom>
          <a:solidFill>
            <a:srgbClr val="E11D48"/>
          </a:solidFill>
          <a:ln w="12700">
            <a:solidFill>
              <a:srgbClr val="E11D48"/>
            </a:solidFill>
            <a:prstDash val="solid"/>
          </a:ln>
        </p:spPr>
      </p:sp>
      <p:pic>
        <p:nvPicPr>
          <p:cNvPr id="19" name="Image 2" descr="preencoded.png">    </p:cNvPr>
          <p:cNvPicPr>
            <a:picLocks noChangeAspect="1"/>
          </p:cNvPicPr>
          <p:nvPr/>
        </p:nvPicPr>
        <p:blipFill>
          <a:blip r:embed="rId3"/>
          <a:stretch>
            <a:fillRect/>
          </a:stretch>
        </p:blipFill>
        <p:spPr>
          <a:xfrm>
            <a:off x="6500287" y="1937431"/>
            <a:ext cx="294803" cy="294803"/>
          </a:xfrm>
          <a:prstGeom prst="rect">
            <a:avLst/>
          </a:prstGeom>
        </p:spPr>
      </p:pic>
      <p:sp>
        <p:nvSpPr>
          <p:cNvPr id="20" name="Text 14"/>
          <p:cNvSpPr txBox="1"/>
          <p:nvPr/>
        </p:nvSpPr>
        <p:spPr>
          <a:xfrm>
            <a:off x="6364224" y="249631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Delayed compensation disbursement</a:t>
            </a:r>
            <a:endParaRPr lang="en-US" sz="1400" dirty="0"/>
          </a:p>
        </p:txBody>
      </p:sp>
      <p:sp>
        <p:nvSpPr>
          <p:cNvPr id="21" name="Text 15"/>
          <p:cNvSpPr txBox="1"/>
          <p:nvPr/>
        </p:nvSpPr>
        <p:spPr>
          <a:xfrm>
            <a:off x="6364224" y="297180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Awards declared but money not reaching owners</a:t>
            </a:r>
            <a:endParaRPr lang="en-US" sz="1100" dirty="0"/>
          </a:p>
        </p:txBody>
      </p:sp>
      <p:sp>
        <p:nvSpPr>
          <p:cNvPr id="22" name="Shape 16"/>
          <p:cNvSpPr/>
          <p:nvPr/>
        </p:nvSpPr>
        <p:spPr>
          <a:xfrm>
            <a:off x="8970264" y="1600200"/>
            <a:ext cx="2606040" cy="1874520"/>
          </a:xfrm>
          <a:prstGeom prst="roundRect">
            <a:avLst>
              <a:gd name="adj" fmla="val 3902"/>
            </a:avLst>
          </a:prstGeom>
          <a:solidFill>
            <a:srgbClr val="F3F6FB"/>
          </a:solidFill>
          <a:ln w="12700">
            <a:solidFill>
              <a:srgbClr val="F3F6FB"/>
            </a:solidFill>
            <a:prstDash val="solid"/>
          </a:ln>
        </p:spPr>
      </p:sp>
      <p:sp>
        <p:nvSpPr>
          <p:cNvPr id="23" name="Shape 17"/>
          <p:cNvSpPr/>
          <p:nvPr/>
        </p:nvSpPr>
        <p:spPr>
          <a:xfrm>
            <a:off x="9171432" y="1801368"/>
            <a:ext cx="566928" cy="566928"/>
          </a:xfrm>
          <a:prstGeom prst="ellipse">
            <a:avLst/>
          </a:prstGeom>
          <a:solidFill>
            <a:srgbClr val="E11D48"/>
          </a:solidFill>
          <a:ln w="12700">
            <a:solidFill>
              <a:srgbClr val="E11D48"/>
            </a:solidFill>
            <a:prstDash val="solid"/>
          </a:ln>
        </p:spPr>
      </p:sp>
      <p:pic>
        <p:nvPicPr>
          <p:cNvPr id="24" name="Image 3" descr="preencoded.png">    </p:cNvPr>
          <p:cNvPicPr>
            <a:picLocks noChangeAspect="1"/>
          </p:cNvPicPr>
          <p:nvPr/>
        </p:nvPicPr>
        <p:blipFill>
          <a:blip r:embed="rId4"/>
          <a:stretch>
            <a:fillRect/>
          </a:stretch>
        </p:blipFill>
        <p:spPr>
          <a:xfrm>
            <a:off x="9307495" y="1937431"/>
            <a:ext cx="294803" cy="294803"/>
          </a:xfrm>
          <a:prstGeom prst="rect">
            <a:avLst/>
          </a:prstGeom>
        </p:spPr>
      </p:pic>
      <p:sp>
        <p:nvSpPr>
          <p:cNvPr id="25" name="Text 18"/>
          <p:cNvSpPr txBox="1"/>
          <p:nvPr/>
        </p:nvSpPr>
        <p:spPr>
          <a:xfrm>
            <a:off x="9171432" y="249631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Incomplete documentation</a:t>
            </a:r>
            <a:endParaRPr lang="en-US" sz="1400" dirty="0"/>
          </a:p>
        </p:txBody>
      </p:sp>
      <p:sp>
        <p:nvSpPr>
          <p:cNvPr id="26" name="Text 19"/>
          <p:cNvSpPr txBox="1"/>
          <p:nvPr/>
        </p:nvSpPr>
        <p:spPr>
          <a:xfrm>
            <a:off x="9171432" y="297180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Record-of-rights gaps, pending mutation and verification</a:t>
            </a:r>
            <a:endParaRPr lang="en-US" sz="1100" dirty="0"/>
          </a:p>
        </p:txBody>
      </p:sp>
      <p:sp>
        <p:nvSpPr>
          <p:cNvPr id="27" name="Shape 20"/>
          <p:cNvSpPr/>
          <p:nvPr/>
        </p:nvSpPr>
        <p:spPr>
          <a:xfrm>
            <a:off x="548640" y="3703320"/>
            <a:ext cx="2606040" cy="1874520"/>
          </a:xfrm>
          <a:prstGeom prst="roundRect">
            <a:avLst>
              <a:gd name="adj" fmla="val 3902"/>
            </a:avLst>
          </a:prstGeom>
          <a:solidFill>
            <a:srgbClr val="F3F6FB"/>
          </a:solidFill>
          <a:ln w="12700">
            <a:solidFill>
              <a:srgbClr val="F3F6FB"/>
            </a:solidFill>
            <a:prstDash val="solid"/>
          </a:ln>
        </p:spPr>
      </p:sp>
      <p:sp>
        <p:nvSpPr>
          <p:cNvPr id="28" name="Shape 21"/>
          <p:cNvSpPr/>
          <p:nvPr/>
        </p:nvSpPr>
        <p:spPr>
          <a:xfrm>
            <a:off x="749808" y="3904488"/>
            <a:ext cx="566928" cy="566928"/>
          </a:xfrm>
          <a:prstGeom prst="ellipse">
            <a:avLst/>
          </a:prstGeom>
          <a:solidFill>
            <a:srgbClr val="F59E0B"/>
          </a:solidFill>
          <a:ln w="12700">
            <a:solidFill>
              <a:srgbClr val="F59E0B"/>
            </a:solidFill>
            <a:prstDash val="solid"/>
          </a:ln>
        </p:spPr>
      </p:sp>
      <p:pic>
        <p:nvPicPr>
          <p:cNvPr id="29" name="Image 4" descr="preencoded.png">    </p:cNvPr>
          <p:cNvPicPr>
            <a:picLocks noChangeAspect="1"/>
          </p:cNvPicPr>
          <p:nvPr/>
        </p:nvPicPr>
        <p:blipFill>
          <a:blip r:embed="rId5"/>
          <a:stretch>
            <a:fillRect/>
          </a:stretch>
        </p:blipFill>
        <p:spPr>
          <a:xfrm>
            <a:off x="885871" y="4040551"/>
            <a:ext cx="294803" cy="294803"/>
          </a:xfrm>
          <a:prstGeom prst="rect">
            <a:avLst/>
          </a:prstGeom>
        </p:spPr>
      </p:pic>
      <p:sp>
        <p:nvSpPr>
          <p:cNvPr id="30" name="Text 22"/>
          <p:cNvSpPr txBox="1"/>
          <p:nvPr/>
        </p:nvSpPr>
        <p:spPr>
          <a:xfrm>
            <a:off x="749808" y="459943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Pending notifications</a:t>
            </a:r>
            <a:endParaRPr lang="en-US" sz="1400" dirty="0"/>
          </a:p>
        </p:txBody>
      </p:sp>
      <p:sp>
        <p:nvSpPr>
          <p:cNvPr id="31" name="Text 23"/>
          <p:cNvSpPr txBox="1"/>
          <p:nvPr/>
        </p:nvSpPr>
        <p:spPr>
          <a:xfrm>
            <a:off x="749808" y="507492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Statutory notifications not yet published</a:t>
            </a:r>
            <a:endParaRPr lang="en-US" sz="1100" dirty="0"/>
          </a:p>
        </p:txBody>
      </p:sp>
      <p:sp>
        <p:nvSpPr>
          <p:cNvPr id="32" name="Shape 24"/>
          <p:cNvSpPr/>
          <p:nvPr/>
        </p:nvSpPr>
        <p:spPr>
          <a:xfrm>
            <a:off x="3355848" y="3703320"/>
            <a:ext cx="2606040" cy="1874520"/>
          </a:xfrm>
          <a:prstGeom prst="roundRect">
            <a:avLst>
              <a:gd name="adj" fmla="val 3902"/>
            </a:avLst>
          </a:prstGeom>
          <a:solidFill>
            <a:srgbClr val="F3F6FB"/>
          </a:solidFill>
          <a:ln w="12700">
            <a:solidFill>
              <a:srgbClr val="F3F6FB"/>
            </a:solidFill>
            <a:prstDash val="solid"/>
          </a:ln>
        </p:spPr>
      </p:sp>
      <p:sp>
        <p:nvSpPr>
          <p:cNvPr id="33" name="Shape 25"/>
          <p:cNvSpPr/>
          <p:nvPr/>
        </p:nvSpPr>
        <p:spPr>
          <a:xfrm>
            <a:off x="3557016" y="3904488"/>
            <a:ext cx="566928" cy="566928"/>
          </a:xfrm>
          <a:prstGeom prst="ellipse">
            <a:avLst/>
          </a:prstGeom>
          <a:solidFill>
            <a:srgbClr val="F59E0B"/>
          </a:solidFill>
          <a:ln w="12700">
            <a:solidFill>
              <a:srgbClr val="F59E0B"/>
            </a:solidFill>
            <a:prstDash val="solid"/>
          </a:ln>
        </p:spPr>
      </p:sp>
      <p:pic>
        <p:nvPicPr>
          <p:cNvPr id="34" name="Image 5" descr="preencoded.png">    </p:cNvPr>
          <p:cNvPicPr>
            <a:picLocks noChangeAspect="1"/>
          </p:cNvPicPr>
          <p:nvPr/>
        </p:nvPicPr>
        <p:blipFill>
          <a:blip r:embed="rId6"/>
          <a:stretch>
            <a:fillRect/>
          </a:stretch>
        </p:blipFill>
        <p:spPr>
          <a:xfrm>
            <a:off x="3693079" y="4040551"/>
            <a:ext cx="294803" cy="294803"/>
          </a:xfrm>
          <a:prstGeom prst="rect">
            <a:avLst/>
          </a:prstGeom>
        </p:spPr>
      </p:pic>
      <p:sp>
        <p:nvSpPr>
          <p:cNvPr id="35" name="Text 26"/>
          <p:cNvSpPr txBox="1"/>
          <p:nvPr/>
        </p:nvSpPr>
        <p:spPr>
          <a:xfrm>
            <a:off x="3557016" y="459943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Land ownership conflicts</a:t>
            </a:r>
            <a:endParaRPr lang="en-US" sz="1400" dirty="0"/>
          </a:p>
        </p:txBody>
      </p:sp>
      <p:sp>
        <p:nvSpPr>
          <p:cNvPr id="36" name="Text 27"/>
          <p:cNvSpPr txBox="1"/>
          <p:nvPr/>
        </p:nvSpPr>
        <p:spPr>
          <a:xfrm>
            <a:off x="3557016" y="507492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Joint, fragmented and disputed holdings</a:t>
            </a:r>
            <a:endParaRPr lang="en-US" sz="1100" dirty="0"/>
          </a:p>
        </p:txBody>
      </p:sp>
      <p:sp>
        <p:nvSpPr>
          <p:cNvPr id="37" name="Shape 28"/>
          <p:cNvSpPr/>
          <p:nvPr/>
        </p:nvSpPr>
        <p:spPr>
          <a:xfrm>
            <a:off x="6163056" y="3703320"/>
            <a:ext cx="2606040" cy="1874520"/>
          </a:xfrm>
          <a:prstGeom prst="roundRect">
            <a:avLst>
              <a:gd name="adj" fmla="val 3902"/>
            </a:avLst>
          </a:prstGeom>
          <a:solidFill>
            <a:srgbClr val="F3F6FB"/>
          </a:solidFill>
          <a:ln w="12700">
            <a:solidFill>
              <a:srgbClr val="F3F6FB"/>
            </a:solidFill>
            <a:prstDash val="solid"/>
          </a:ln>
        </p:spPr>
      </p:sp>
      <p:sp>
        <p:nvSpPr>
          <p:cNvPr id="38" name="Shape 29"/>
          <p:cNvSpPr/>
          <p:nvPr/>
        </p:nvSpPr>
        <p:spPr>
          <a:xfrm>
            <a:off x="6364224" y="3904488"/>
            <a:ext cx="566928" cy="566928"/>
          </a:xfrm>
          <a:prstGeom prst="ellipse">
            <a:avLst/>
          </a:prstGeom>
          <a:solidFill>
            <a:srgbClr val="F59E0B"/>
          </a:solidFill>
          <a:ln w="12700">
            <a:solidFill>
              <a:srgbClr val="F59E0B"/>
            </a:solidFill>
            <a:prstDash val="solid"/>
          </a:ln>
        </p:spPr>
      </p:sp>
      <p:pic>
        <p:nvPicPr>
          <p:cNvPr id="39" name="Image 6" descr="preencoded.png">    </p:cNvPr>
          <p:cNvPicPr>
            <a:picLocks noChangeAspect="1"/>
          </p:cNvPicPr>
          <p:nvPr/>
        </p:nvPicPr>
        <p:blipFill>
          <a:blip r:embed="rId7"/>
          <a:stretch>
            <a:fillRect/>
          </a:stretch>
        </p:blipFill>
        <p:spPr>
          <a:xfrm>
            <a:off x="6500287" y="4040551"/>
            <a:ext cx="294803" cy="294803"/>
          </a:xfrm>
          <a:prstGeom prst="rect">
            <a:avLst/>
          </a:prstGeom>
        </p:spPr>
      </p:pic>
      <p:sp>
        <p:nvSpPr>
          <p:cNvPr id="40" name="Text 30"/>
          <p:cNvSpPr txBox="1"/>
          <p:nvPr/>
        </p:nvSpPr>
        <p:spPr>
          <a:xfrm>
            <a:off x="6364224" y="459943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Rehabilitation &amp; resettlement</a:t>
            </a:r>
            <a:endParaRPr lang="en-US" sz="1400" dirty="0"/>
          </a:p>
        </p:txBody>
      </p:sp>
      <p:sp>
        <p:nvSpPr>
          <p:cNvPr id="41" name="Text 31"/>
          <p:cNvSpPr txBox="1"/>
          <p:nvPr/>
        </p:nvSpPr>
        <p:spPr>
          <a:xfrm>
            <a:off x="6364224" y="507492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Entitlements and sites not ready for displaced families</a:t>
            </a:r>
            <a:endParaRPr lang="en-US" sz="1100" dirty="0"/>
          </a:p>
        </p:txBody>
      </p:sp>
      <p:sp>
        <p:nvSpPr>
          <p:cNvPr id="42" name="Shape 32"/>
          <p:cNvSpPr/>
          <p:nvPr/>
        </p:nvSpPr>
        <p:spPr>
          <a:xfrm>
            <a:off x="8970264" y="3703320"/>
            <a:ext cx="2606040" cy="1874520"/>
          </a:xfrm>
          <a:prstGeom prst="roundRect">
            <a:avLst>
              <a:gd name="adj" fmla="val 3902"/>
            </a:avLst>
          </a:prstGeom>
          <a:solidFill>
            <a:srgbClr val="F3F6FB"/>
          </a:solidFill>
          <a:ln w="12700">
            <a:solidFill>
              <a:srgbClr val="F3F6FB"/>
            </a:solidFill>
            <a:prstDash val="solid"/>
          </a:ln>
        </p:spPr>
      </p:sp>
      <p:sp>
        <p:nvSpPr>
          <p:cNvPr id="43" name="Shape 33"/>
          <p:cNvSpPr/>
          <p:nvPr/>
        </p:nvSpPr>
        <p:spPr>
          <a:xfrm>
            <a:off x="9171432" y="3904488"/>
            <a:ext cx="566928" cy="566928"/>
          </a:xfrm>
          <a:prstGeom prst="ellipse">
            <a:avLst/>
          </a:prstGeom>
          <a:solidFill>
            <a:srgbClr val="F59E0B"/>
          </a:solidFill>
          <a:ln w="12700">
            <a:solidFill>
              <a:srgbClr val="F59E0B"/>
            </a:solidFill>
            <a:prstDash val="solid"/>
          </a:ln>
        </p:spPr>
      </p:sp>
      <p:pic>
        <p:nvPicPr>
          <p:cNvPr id="44" name="Image 7" descr="preencoded.png">    </p:cNvPr>
          <p:cNvPicPr>
            <a:picLocks noChangeAspect="1"/>
          </p:cNvPicPr>
          <p:nvPr/>
        </p:nvPicPr>
        <p:blipFill>
          <a:blip r:embed="rId8"/>
          <a:stretch>
            <a:fillRect/>
          </a:stretch>
        </p:blipFill>
        <p:spPr>
          <a:xfrm>
            <a:off x="9307495" y="4040551"/>
            <a:ext cx="294803" cy="294803"/>
          </a:xfrm>
          <a:prstGeom prst="rect">
            <a:avLst/>
          </a:prstGeom>
        </p:spPr>
      </p:pic>
      <p:sp>
        <p:nvSpPr>
          <p:cNvPr id="45" name="Text 34"/>
          <p:cNvSpPr txBox="1"/>
          <p:nvPr/>
        </p:nvSpPr>
        <p:spPr>
          <a:xfrm>
            <a:off x="9171432" y="4599432"/>
            <a:ext cx="2240280" cy="50292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Inter-departmental coordination</a:t>
            </a:r>
            <a:endParaRPr lang="en-US" sz="1400" dirty="0"/>
          </a:p>
        </p:txBody>
      </p:sp>
      <p:sp>
        <p:nvSpPr>
          <p:cNvPr id="46" name="Text 35"/>
          <p:cNvSpPr txBox="1"/>
          <p:nvPr/>
        </p:nvSpPr>
        <p:spPr>
          <a:xfrm>
            <a:off x="9171432" y="5074920"/>
            <a:ext cx="224028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Revenue, forest, utilities and agencies waiting on each other</a:t>
            </a:r>
            <a:endParaRPr lang="en-US" sz="1100" dirty="0"/>
          </a:p>
        </p:txBody>
      </p:sp>
      <p:sp>
        <p:nvSpPr>
          <p:cNvPr id="47" name="Text 36"/>
          <p:cNvSpPr txBox="1"/>
          <p:nvPr/>
        </p:nvSpPr>
        <p:spPr>
          <a:xfrm>
            <a:off x="548640" y="5897880"/>
            <a:ext cx="11064240" cy="457200"/>
          </a:xfrm>
          <a:prstGeom prst="rect">
            <a:avLst/>
          </a:prstGeom>
          <a:noFill/>
          <a:ln/>
        </p:spPr>
        <p:txBody>
          <a:bodyPr wrap="square" lIns="0" tIns="0" rIns="0" bIns="0" rtlCol="0" anchor="t"/>
          <a:lstStyle/>
          <a:p>
            <a:pPr indent="0" marL="0">
              <a:buNone/>
            </a:pPr>
            <a:r>
              <a:rPr lang="en-US" sz="1300" i="1" dirty="0">
                <a:solidFill>
                  <a:srgbClr val="14213D"/>
                </a:solidFill>
                <a:latin typeface="Calibri" pitchFamily="34" charset="0"/>
                <a:ea typeface="Calibri" pitchFamily="34" charset="-122"/>
                <a:cs typeface="Calibri" pitchFamily="34" charset="-120"/>
              </a:rPr>
              <a:t>Consequence: idle construction packages, cost escalation and delayed public benefit. Today most monitoring is reactive — a delay becomes visible only after a deadline has passed.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DESCRIPTION OF THE STUDY, DECODED</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What the SIH statement asks for</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548640" y="1554480"/>
            <a:ext cx="6766560" cy="4572000"/>
          </a:xfrm>
          <a:prstGeom prst="roundRect">
            <a:avLst>
              <a:gd name="adj" fmla="val 1600"/>
            </a:avLst>
          </a:prstGeom>
          <a:solidFill>
            <a:srgbClr val="F3F6FB"/>
          </a:solidFill>
          <a:ln w="12700">
            <a:solidFill>
              <a:srgbClr val="F3F6FB"/>
            </a:solidFill>
            <a:prstDash val="solid"/>
          </a:ln>
        </p:spPr>
      </p:sp>
      <p:sp>
        <p:nvSpPr>
          <p:cNvPr id="8" name="Text 5"/>
          <p:cNvSpPr txBox="1"/>
          <p:nvPr/>
        </p:nvSpPr>
        <p:spPr>
          <a:xfrm>
            <a:off x="822960" y="1737360"/>
            <a:ext cx="6400800" cy="274320"/>
          </a:xfrm>
          <a:prstGeom prst="rect">
            <a:avLst/>
          </a:prstGeom>
          <a:noFill/>
          <a:ln/>
        </p:spPr>
        <p:txBody>
          <a:bodyPr wrap="square" lIns="0" tIns="0" rIns="0" bIns="0" rtlCol="0" anchor="ctr"/>
          <a:lstStyle/>
          <a:p>
            <a:pPr indent="0" marL="0">
              <a:buNone/>
            </a:pPr>
            <a:r>
              <a:rPr lang="en-US" sz="1100" b="1" spc="200" kern="0" dirty="0">
                <a:solidFill>
                  <a:srgbClr val="3B72F0"/>
                </a:solidFill>
                <a:latin typeface="Calibri" pitchFamily="34" charset="0"/>
                <a:ea typeface="Calibri" pitchFamily="34" charset="-122"/>
                <a:cs typeface="Calibri" pitchFamily="34" charset="-120"/>
              </a:rPr>
              <a:t>AN AI-POWERED PREDICTIVE ANALYTICS SYSTEM THAT…</a:t>
            </a:r>
            <a:endParaRPr lang="en-US" sz="1100" dirty="0"/>
          </a:p>
        </p:txBody>
      </p:sp>
      <p:sp>
        <p:nvSpPr>
          <p:cNvPr id="9" name="Text 6"/>
          <p:cNvSpPr txBox="1"/>
          <p:nvPr/>
        </p:nvSpPr>
        <p:spPr>
          <a:xfrm>
            <a:off x="822960" y="2103120"/>
            <a:ext cx="6309360" cy="3931920"/>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Identifies at-risk projects</a:t>
            </a:r>
            <a:pPr indent="0" marL="0">
              <a:buNone/>
            </a:pPr>
            <a:r>
              <a:rPr lang="en-US" sz="1350" dirty="0">
                <a:solidFill>
                  <a:srgbClr val="14213D"/>
                </a:solidFill>
                <a:latin typeface="Calibri" pitchFamily="34" charset="0"/>
                <a:ea typeface="Calibri" pitchFamily="34" charset="-122"/>
                <a:cs typeface="Calibri" pitchFamily="34" charset="-120"/>
              </a:rPr>
              <a:t> by analysing historical and real-time project data</a:t>
            </a:r>
            <a:endParaRPr lang="en-US" sz="1350" dirty="0"/>
          </a:p>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Learns patterns</a:t>
            </a:r>
            <a:pPr indent="0" marL="0">
              <a:buNone/>
            </a:pPr>
            <a:r>
              <a:rPr lang="en-US" sz="1350" dirty="0">
                <a:solidFill>
                  <a:srgbClr val="14213D"/>
                </a:solidFill>
                <a:latin typeface="Calibri" pitchFamily="34" charset="0"/>
                <a:ea typeface="Calibri" pitchFamily="34" charset="-122"/>
                <a:cs typeface="Calibri" pitchFamily="34" charset="-120"/>
              </a:rPr>
              <a:t> from completed and ongoing cases using machine learning</a:t>
            </a:r>
            <a:endParaRPr lang="en-US" sz="1350" dirty="0"/>
          </a:p>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Uses 10 parameters:</a:t>
            </a:r>
            <a:pPr indent="0" marL="0">
              <a:buNone/>
            </a:pPr>
            <a:r>
              <a:rPr lang="en-US" sz="1350" dirty="0">
                <a:solidFill>
                  <a:srgbClr val="14213D"/>
                </a:solidFill>
                <a:latin typeface="Calibri" pitchFamily="34" charset="0"/>
                <a:ea typeface="Calibri" pitchFamily="34" charset="-122"/>
                <a:cs typeface="Calibri" pitchFamily="34" charset="-120"/>
              </a:rPr>
              <a:t> project type, land area, affected families, compensation, approval timelines, legal disputes, possession, R&amp;R, stakeholder responsiveness, historical performance</a:t>
            </a:r>
            <a:endParaRPr lang="en-US" sz="1350" dirty="0"/>
          </a:p>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Scores every project</a:t>
            </a:r>
            <a:pPr indent="0" marL="0">
              <a:buNone/>
            </a:pPr>
            <a:r>
              <a:rPr lang="en-US" sz="1350" dirty="0">
                <a:solidFill>
                  <a:srgbClr val="14213D"/>
                </a:solidFill>
                <a:latin typeface="Calibri" pitchFamily="34" charset="0"/>
                <a:ea typeface="Calibri" pitchFamily="34" charset="-122"/>
                <a:cs typeface="Calibri" pitchFamily="34" charset="-120"/>
              </a:rPr>
              <a:t> and predicts delay probability at different lifecycle stages</a:t>
            </a:r>
            <a:endParaRPr lang="en-US" sz="1350" dirty="0"/>
          </a:p>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Explains</a:t>
            </a:r>
            <a:pPr indent="0" marL="0">
              <a:buNone/>
            </a:pPr>
            <a:r>
              <a:rPr lang="en-US" sz="1350" dirty="0">
                <a:solidFill>
                  <a:srgbClr val="14213D"/>
                </a:solidFill>
                <a:latin typeface="Calibri" pitchFamily="34" charset="0"/>
                <a:ea typeface="Calibri" pitchFamily="34" charset="-122"/>
                <a:cs typeface="Calibri" pitchFamily="34" charset="-120"/>
              </a:rPr>
              <a:t> the key contributing factors and recommends mitigating actions</a:t>
            </a:r>
            <a:endParaRPr lang="en-US" sz="1350" dirty="0"/>
          </a:p>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Offers dashboards</a:t>
            </a:r>
            <a:pPr indent="0" marL="0">
              <a:buNone/>
            </a:pPr>
            <a:r>
              <a:rPr lang="en-US" sz="1350" dirty="0">
                <a:solidFill>
                  <a:srgbClr val="14213D"/>
                </a:solidFill>
                <a:latin typeface="Calibri" pitchFamily="34" charset="0"/>
                <a:ea typeface="Calibri" pitchFamily="34" charset="-122"/>
                <a:cs typeface="Calibri" pitchFamily="34" charset="-120"/>
              </a:rPr>
              <a:t> to monitor high-risk projects and district/state trends, and prioritise interventions</a:t>
            </a:r>
            <a:endParaRPr lang="en-US" sz="1350" dirty="0"/>
          </a:p>
          <a:p>
            <a:pPr marL="342900" indent="-342900">
              <a:spcAft>
                <a:spcPts val="600"/>
              </a:spcAft>
              <a:buSzPct val="100000"/>
              <a:buChar char="•"/>
            </a:pPr>
            <a:r>
              <a:rPr lang="en-US" sz="1350" b="1" dirty="0">
                <a:solidFill>
                  <a:srgbClr val="14213D"/>
                </a:solidFill>
                <a:latin typeface="Calibri" pitchFamily="34" charset="0"/>
                <a:ea typeface="Calibri" pitchFamily="34" charset="-122"/>
                <a:cs typeface="Calibri" pitchFamily="34" charset="-120"/>
              </a:rPr>
              <a:t>Keeps learning</a:t>
            </a:r>
            <a:pPr indent="0" marL="0">
              <a:buNone/>
            </a:pPr>
            <a:r>
              <a:rPr lang="en-US" sz="1350" dirty="0">
                <a:solidFill>
                  <a:srgbClr val="14213D"/>
                </a:solidFill>
                <a:latin typeface="Calibri" pitchFamily="34" charset="0"/>
                <a:ea typeface="Calibri" pitchFamily="34" charset="-122"/>
                <a:cs typeface="Calibri" pitchFamily="34" charset="-120"/>
              </a:rPr>
              <a:t> as new project data arrives</a:t>
            </a:r>
            <a:endParaRPr lang="en-US" sz="1350" dirty="0"/>
          </a:p>
        </p:txBody>
      </p:sp>
      <p:sp>
        <p:nvSpPr>
          <p:cNvPr id="10" name="Shape 7"/>
          <p:cNvSpPr/>
          <p:nvPr/>
        </p:nvSpPr>
        <p:spPr>
          <a:xfrm>
            <a:off x="7589520" y="1554480"/>
            <a:ext cx="4023360" cy="2148840"/>
          </a:xfrm>
          <a:prstGeom prst="roundRect">
            <a:avLst>
              <a:gd name="adj" fmla="val 3404"/>
            </a:avLst>
          </a:prstGeom>
          <a:solidFill>
            <a:srgbClr val="FDEDEF"/>
          </a:solidFill>
          <a:ln w="12700">
            <a:solidFill>
              <a:srgbClr val="FDEDEF"/>
            </a:solidFill>
            <a:prstDash val="solid"/>
          </a:ln>
        </p:spPr>
      </p:sp>
      <p:sp>
        <p:nvSpPr>
          <p:cNvPr id="11" name="Shape 8"/>
          <p:cNvSpPr/>
          <p:nvPr/>
        </p:nvSpPr>
        <p:spPr>
          <a:xfrm>
            <a:off x="7818120" y="1783080"/>
            <a:ext cx="502920" cy="502920"/>
          </a:xfrm>
          <a:prstGeom prst="ellipse">
            <a:avLst/>
          </a:prstGeom>
          <a:solidFill>
            <a:srgbClr val="E11D48"/>
          </a:solidFill>
          <a:ln w="12700">
            <a:solidFill>
              <a:srgbClr val="E11D48"/>
            </a:solidFill>
            <a:prstDash val="solid"/>
          </a:ln>
        </p:spPr>
      </p:sp>
      <p:pic>
        <p:nvPicPr>
          <p:cNvPr id="12" name="Image 0" descr="preencoded.png">    </p:cNvPr>
          <p:cNvPicPr>
            <a:picLocks noChangeAspect="1"/>
          </p:cNvPicPr>
          <p:nvPr/>
        </p:nvPicPr>
        <p:blipFill>
          <a:blip r:embed="rId1"/>
          <a:stretch>
            <a:fillRect/>
          </a:stretch>
        </p:blipFill>
        <p:spPr>
          <a:xfrm>
            <a:off x="7938821" y="1903781"/>
            <a:ext cx="261518" cy="261518"/>
          </a:xfrm>
          <a:prstGeom prst="rect">
            <a:avLst/>
          </a:prstGeom>
        </p:spPr>
      </p:pic>
      <p:sp>
        <p:nvSpPr>
          <p:cNvPr id="13" name="Text 9"/>
          <p:cNvSpPr txBox="1"/>
          <p:nvPr/>
        </p:nvSpPr>
        <p:spPr>
          <a:xfrm>
            <a:off x="8458200" y="1828800"/>
            <a:ext cx="2926080" cy="411480"/>
          </a:xfrm>
          <a:prstGeom prst="rect">
            <a:avLst/>
          </a:prstGeom>
          <a:noFill/>
          <a:ln/>
        </p:spPr>
        <p:txBody>
          <a:bodyPr wrap="square" lIns="0" tIns="0" rIns="0" bIns="0" rtlCol="0" anchor="ctr"/>
          <a:lstStyle/>
          <a:p>
            <a:pPr indent="0" marL="0">
              <a:buNone/>
            </a:pPr>
            <a:r>
              <a:rPr lang="en-US" sz="2000" b="1" dirty="0">
                <a:solidFill>
                  <a:srgbClr val="E11D48"/>
                </a:solidFill>
                <a:latin typeface="Calibri" pitchFamily="34" charset="0"/>
                <a:ea typeface="Calibri" pitchFamily="34" charset="-122"/>
                <a:cs typeface="Calibri" pitchFamily="34" charset="-120"/>
              </a:rPr>
              <a:t>The gap</a:t>
            </a:r>
            <a:endParaRPr lang="en-US" sz="2000" dirty="0"/>
          </a:p>
        </p:txBody>
      </p:sp>
      <p:sp>
        <p:nvSpPr>
          <p:cNvPr id="14" name="Text 10"/>
          <p:cNvSpPr txBox="1"/>
          <p:nvPr/>
        </p:nvSpPr>
        <p:spPr>
          <a:xfrm>
            <a:off x="7818120" y="2423160"/>
            <a:ext cx="3611880" cy="118872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There is no intelligent mechanism that identifies projects likely to be delayed before the delay occurs. Monitoring is reactive reporting.</a:t>
            </a:r>
            <a:endParaRPr lang="en-US" sz="1300" dirty="0"/>
          </a:p>
        </p:txBody>
      </p:sp>
      <p:sp>
        <p:nvSpPr>
          <p:cNvPr id="15" name="Shape 11"/>
          <p:cNvSpPr/>
          <p:nvPr/>
        </p:nvSpPr>
        <p:spPr>
          <a:xfrm>
            <a:off x="7589520" y="3931920"/>
            <a:ext cx="4023360" cy="2194560"/>
          </a:xfrm>
          <a:prstGeom prst="roundRect">
            <a:avLst>
              <a:gd name="adj" fmla="val 3333"/>
            </a:avLst>
          </a:prstGeom>
          <a:solidFill>
            <a:srgbClr val="E6F7F1"/>
          </a:solidFill>
          <a:ln w="12700">
            <a:solidFill>
              <a:srgbClr val="E6F7F1"/>
            </a:solidFill>
            <a:prstDash val="solid"/>
          </a:ln>
        </p:spPr>
      </p:sp>
      <p:sp>
        <p:nvSpPr>
          <p:cNvPr id="16" name="Shape 12"/>
          <p:cNvSpPr/>
          <p:nvPr/>
        </p:nvSpPr>
        <p:spPr>
          <a:xfrm>
            <a:off x="7818120" y="4160520"/>
            <a:ext cx="502920" cy="502920"/>
          </a:xfrm>
          <a:prstGeom prst="ellipse">
            <a:avLst/>
          </a:prstGeom>
          <a:solidFill>
            <a:srgbClr val="10B981"/>
          </a:solidFill>
          <a:ln w="12700">
            <a:solidFill>
              <a:srgbClr val="10B981"/>
            </a:solidFill>
            <a:prstDash val="solid"/>
          </a:ln>
        </p:spPr>
      </p:sp>
      <p:pic>
        <p:nvPicPr>
          <p:cNvPr id="17" name="Image 1" descr="preencoded.png">    </p:cNvPr>
          <p:cNvPicPr>
            <a:picLocks noChangeAspect="1"/>
          </p:cNvPicPr>
          <p:nvPr/>
        </p:nvPicPr>
        <p:blipFill>
          <a:blip r:embed="rId2"/>
          <a:stretch>
            <a:fillRect/>
          </a:stretch>
        </p:blipFill>
        <p:spPr>
          <a:xfrm>
            <a:off x="7938821" y="4281221"/>
            <a:ext cx="261518" cy="261518"/>
          </a:xfrm>
          <a:prstGeom prst="rect">
            <a:avLst/>
          </a:prstGeom>
        </p:spPr>
      </p:pic>
      <p:sp>
        <p:nvSpPr>
          <p:cNvPr id="18" name="Text 13"/>
          <p:cNvSpPr txBox="1"/>
          <p:nvPr/>
        </p:nvSpPr>
        <p:spPr>
          <a:xfrm>
            <a:off x="8458200" y="4206240"/>
            <a:ext cx="3017520" cy="411480"/>
          </a:xfrm>
          <a:prstGeom prst="rect">
            <a:avLst/>
          </a:prstGeom>
          <a:noFill/>
          <a:ln/>
        </p:spPr>
        <p:txBody>
          <a:bodyPr wrap="square" lIns="0" tIns="0" rIns="0" bIns="0" rtlCol="0" anchor="ctr"/>
          <a:lstStyle/>
          <a:p>
            <a:pPr indent="0" marL="0">
              <a:buNone/>
            </a:pPr>
            <a:r>
              <a:rPr lang="en-US" sz="2000" b="1" dirty="0">
                <a:solidFill>
                  <a:srgbClr val="0B7A52"/>
                </a:solidFill>
                <a:latin typeface="Calibri" pitchFamily="34" charset="0"/>
                <a:ea typeface="Calibri" pitchFamily="34" charset="-122"/>
                <a:cs typeface="Calibri" pitchFamily="34" charset="-120"/>
              </a:rPr>
              <a:t>The expected shift</a:t>
            </a:r>
            <a:endParaRPr lang="en-US" sz="2000" dirty="0"/>
          </a:p>
        </p:txBody>
      </p:sp>
      <p:sp>
        <p:nvSpPr>
          <p:cNvPr id="19" name="Text 14"/>
          <p:cNvSpPr txBox="1"/>
          <p:nvPr/>
        </p:nvSpPr>
        <p:spPr>
          <a:xfrm>
            <a:off x="7818120" y="4800600"/>
            <a:ext cx="3611880" cy="1188720"/>
          </a:xfrm>
          <a:prstGeom prst="rect">
            <a:avLst/>
          </a:prstGeom>
          <a:noFill/>
          <a:ln/>
        </p:spPr>
        <p:txBody>
          <a:bodyPr wrap="square" lIns="0" tIns="0" rIns="0" bIns="0" rtlCol="0" anchor="t"/>
          <a:lstStyle/>
          <a:p>
            <a:pPr indent="0" marL="0">
              <a:buNone/>
            </a:pPr>
            <a:r>
              <a:rPr lang="en-US" sz="1300" dirty="0">
                <a:solidFill>
                  <a:srgbClr val="14213D"/>
                </a:solidFill>
                <a:latin typeface="Calibri" pitchFamily="34" charset="0"/>
                <a:ea typeface="Calibri" pitchFamily="34" charset="-122"/>
                <a:cs typeface="Calibri" pitchFamily="34" charset="-120"/>
              </a:rPr>
              <a:t>From reactive reporting to predictive decision-making: fewer delays, optimised public expenditure, faster infrastructure.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WHAT LANDPULSE AI COVERS IN THIS PROTOTYPE — AND WHAT IT DOES NOT</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Scope of Study</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554480"/>
                <a:gridCol w="6035040"/>
                <a:gridCol w="3474720"/>
              </a:tblGrid>
              <a:tr h="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Dimension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 scope (implemented)</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Out of scope / future</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Geography</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National hierarchy: all 28 States + 8 UTs, ministries, zones, divisions, districts. Corpus spans 25 States, 265 districts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Village cadastral maps; live LGD codes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Project types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11 types: National Highway, Expressway, Railway, Metro, Urban, Industrial, Irrigation, Power Transmission, Renewable, Pipeline, Airport</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Ports, coal, defence (registered, no data yet)</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Legal frameworks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RFCTLARR 2013, NH Act 1956, Railways Act 1989, PMP Act 1962, Electricity Act RoW, KIAD Act, MID Act</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Legal advice; state rule-book variations beyond configured profiles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9 stages: identification → survey → notification → objections → valuation → compensation → possession → R&amp;R → closure</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Construction-phase monitoring</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Unit of analysis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Parcel-level case (3.5 lakh) → project (312) → district → State → nation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Individual landowner profiling</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Parameters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All 10 SIH parameters + department dependencies, approvals pending, coordination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Social-media / news sentiment</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Predictions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Delay probability per case and project, stage-wise forecast, expected slip days, P(miss target)</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Cost-overrun prediction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Decision support</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Drivers (TreeSHAP), recommendations with predicted impact, interventions, alerts, escalation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Automatic action without a human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Data</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Synthetic corpus on real boundaries and statutes; user entries, CSV and API ingestion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Real government records (need MoU and access)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Users</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10 roles from National Administrator to Field Verification Officer, scoped by position</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250" dirty="0">
                          <a:solidFill>
                            <a:srgbClr val="14213D"/>
                          </a:solidFill>
                          <a:latin typeface="Calibri" pitchFamily="34" charset="0"/>
                          <a:ea typeface="Calibri" pitchFamily="34" charset="-122"/>
                          <a:cs typeface="Calibri" pitchFamily="34" charset="-120"/>
                        </a:rPr>
                        <a:t>Citizen / landowner portal</a:t>
                      </a:r>
                      <a:endParaRPr lang="en-US" sz="12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02</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Our solution</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One platform that predicts, explains, recommends, alerts and learns — for every level of government from national to district.</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FROM PROJECT DATA TO OFFICER ACTION</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LandPulse AI at a glance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8</a:t>
            </a:r>
            <a:endParaRPr lang="en-US" sz="900" dirty="0"/>
          </a:p>
        </p:txBody>
      </p:sp>
      <p:sp>
        <p:nvSpPr>
          <p:cNvPr id="7" name="Shape 4"/>
          <p:cNvSpPr/>
          <p:nvPr/>
        </p:nvSpPr>
        <p:spPr>
          <a:xfrm>
            <a:off x="548640" y="1691640"/>
            <a:ext cx="1361150" cy="1874520"/>
          </a:xfrm>
          <a:prstGeom prst="roundRect">
            <a:avLst>
              <a:gd name="adj" fmla="val 5374"/>
            </a:avLst>
          </a:prstGeom>
          <a:solidFill>
            <a:srgbClr val="F3F6FB"/>
          </a:solidFill>
          <a:ln w="12700">
            <a:solidFill>
              <a:srgbClr val="F3F6FB"/>
            </a:solidFill>
            <a:prstDash val="solid"/>
          </a:ln>
        </p:spPr>
      </p:sp>
      <p:sp>
        <p:nvSpPr>
          <p:cNvPr id="8" name="Shape 5"/>
          <p:cNvSpPr/>
          <p:nvPr/>
        </p:nvSpPr>
        <p:spPr>
          <a:xfrm>
            <a:off x="676656" y="1819656"/>
            <a:ext cx="402336" cy="402336"/>
          </a:xfrm>
          <a:prstGeom prst="ellipse">
            <a:avLst/>
          </a:prstGeom>
          <a:solidFill>
            <a:srgbClr val="3B72F0"/>
          </a:solidFill>
          <a:ln w="12700">
            <a:solidFill>
              <a:srgbClr val="3B72F0"/>
            </a:solidFill>
            <a:prstDash val="solid"/>
          </a:ln>
        </p:spPr>
      </p:sp>
      <p:pic>
        <p:nvPicPr>
          <p:cNvPr id="9" name="Image 0" descr="preencoded.png">    </p:cNvPr>
          <p:cNvPicPr>
            <a:picLocks noChangeAspect="1"/>
          </p:cNvPicPr>
          <p:nvPr/>
        </p:nvPicPr>
        <p:blipFill>
          <a:blip r:embed="rId1"/>
          <a:stretch>
            <a:fillRect/>
          </a:stretch>
        </p:blipFill>
        <p:spPr>
          <a:xfrm>
            <a:off x="773217" y="1916217"/>
            <a:ext cx="209215" cy="209215"/>
          </a:xfrm>
          <a:prstGeom prst="rect">
            <a:avLst/>
          </a:prstGeom>
        </p:spPr>
      </p:pic>
      <p:sp>
        <p:nvSpPr>
          <p:cNvPr id="10" name="Text 6"/>
          <p:cNvSpPr txBox="1"/>
          <p:nvPr/>
        </p:nvSpPr>
        <p:spPr>
          <a:xfrm>
            <a:off x="676656"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Project data</a:t>
            </a:r>
            <a:endParaRPr lang="en-US" sz="1250" dirty="0"/>
          </a:p>
        </p:txBody>
      </p:sp>
      <p:sp>
        <p:nvSpPr>
          <p:cNvPr id="11" name="Text 7"/>
          <p:cNvSpPr txBox="1"/>
          <p:nvPr/>
        </p:nvSpPr>
        <p:spPr>
          <a:xfrm>
            <a:off x="676656"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Parcel cases, stages, approvals, compensation, legal, R&amp;R, dependencies</a:t>
            </a:r>
            <a:endParaRPr lang="en-US" sz="950" dirty="0"/>
          </a:p>
        </p:txBody>
      </p:sp>
      <p:sp>
        <p:nvSpPr>
          <p:cNvPr id="12" name="Shape 8"/>
          <p:cNvSpPr/>
          <p:nvPr/>
        </p:nvSpPr>
        <p:spPr>
          <a:xfrm>
            <a:off x="1946366" y="2546604"/>
            <a:ext cx="182880" cy="164592"/>
          </a:xfrm>
          <a:prstGeom prst="rightArrow">
            <a:avLst/>
          </a:prstGeom>
          <a:solidFill>
            <a:srgbClr val="F59E0B"/>
          </a:solidFill>
          <a:ln w="12700">
            <a:solidFill>
              <a:srgbClr val="F59E0B"/>
            </a:solidFill>
            <a:prstDash val="solid"/>
          </a:ln>
        </p:spPr>
      </p:sp>
      <p:sp>
        <p:nvSpPr>
          <p:cNvPr id="13" name="Shape 9"/>
          <p:cNvSpPr/>
          <p:nvPr/>
        </p:nvSpPr>
        <p:spPr>
          <a:xfrm>
            <a:off x="2165822" y="1691640"/>
            <a:ext cx="1361150" cy="1874520"/>
          </a:xfrm>
          <a:prstGeom prst="roundRect">
            <a:avLst>
              <a:gd name="adj" fmla="val 5374"/>
            </a:avLst>
          </a:prstGeom>
          <a:solidFill>
            <a:srgbClr val="F3F6FB"/>
          </a:solidFill>
          <a:ln w="12700">
            <a:solidFill>
              <a:srgbClr val="F3F6FB"/>
            </a:solidFill>
            <a:prstDash val="solid"/>
          </a:ln>
        </p:spPr>
      </p:sp>
      <p:sp>
        <p:nvSpPr>
          <p:cNvPr id="14" name="Shape 10"/>
          <p:cNvSpPr/>
          <p:nvPr/>
        </p:nvSpPr>
        <p:spPr>
          <a:xfrm>
            <a:off x="2293838" y="1819656"/>
            <a:ext cx="402336" cy="402336"/>
          </a:xfrm>
          <a:prstGeom prst="ellipse">
            <a:avLst/>
          </a:prstGeom>
          <a:solidFill>
            <a:srgbClr val="3B72F0"/>
          </a:solidFill>
          <a:ln w="12700">
            <a:solidFill>
              <a:srgbClr val="3B72F0"/>
            </a:solidFill>
            <a:prstDash val="solid"/>
          </a:ln>
        </p:spPr>
      </p:sp>
      <p:pic>
        <p:nvPicPr>
          <p:cNvPr id="15" name="Image 1" descr="preencoded.png">    </p:cNvPr>
          <p:cNvPicPr>
            <a:picLocks noChangeAspect="1"/>
          </p:cNvPicPr>
          <p:nvPr/>
        </p:nvPicPr>
        <p:blipFill>
          <a:blip r:embed="rId2"/>
          <a:stretch>
            <a:fillRect/>
          </a:stretch>
        </p:blipFill>
        <p:spPr>
          <a:xfrm>
            <a:off x="2390398" y="1916217"/>
            <a:ext cx="209215" cy="209215"/>
          </a:xfrm>
          <a:prstGeom prst="rect">
            <a:avLst/>
          </a:prstGeom>
        </p:spPr>
      </p:pic>
      <p:sp>
        <p:nvSpPr>
          <p:cNvPr id="16" name="Text 11"/>
          <p:cNvSpPr txBox="1"/>
          <p:nvPr/>
        </p:nvSpPr>
        <p:spPr>
          <a:xfrm>
            <a:off x="2293838"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ML prediction</a:t>
            </a:r>
            <a:endParaRPr lang="en-US" sz="1250" dirty="0"/>
          </a:p>
        </p:txBody>
      </p:sp>
      <p:sp>
        <p:nvSpPr>
          <p:cNvPr id="17" name="Text 12"/>
          <p:cNvSpPr txBox="1"/>
          <p:nvPr/>
        </p:nvSpPr>
        <p:spPr>
          <a:xfrm>
            <a:off x="2293838"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Gradient-boosted model: P(milestone slips &gt; 30 days)</a:t>
            </a:r>
            <a:endParaRPr lang="en-US" sz="950" dirty="0"/>
          </a:p>
        </p:txBody>
      </p:sp>
      <p:sp>
        <p:nvSpPr>
          <p:cNvPr id="18" name="Shape 13"/>
          <p:cNvSpPr/>
          <p:nvPr/>
        </p:nvSpPr>
        <p:spPr>
          <a:xfrm>
            <a:off x="3563547" y="2546604"/>
            <a:ext cx="182880" cy="164592"/>
          </a:xfrm>
          <a:prstGeom prst="rightArrow">
            <a:avLst/>
          </a:prstGeom>
          <a:solidFill>
            <a:srgbClr val="F59E0B"/>
          </a:solidFill>
          <a:ln w="12700">
            <a:solidFill>
              <a:srgbClr val="F59E0B"/>
            </a:solidFill>
            <a:prstDash val="solid"/>
          </a:ln>
        </p:spPr>
      </p:sp>
      <p:sp>
        <p:nvSpPr>
          <p:cNvPr id="19" name="Shape 14"/>
          <p:cNvSpPr/>
          <p:nvPr/>
        </p:nvSpPr>
        <p:spPr>
          <a:xfrm>
            <a:off x="3783003" y="1691640"/>
            <a:ext cx="1361150" cy="1874520"/>
          </a:xfrm>
          <a:prstGeom prst="roundRect">
            <a:avLst>
              <a:gd name="adj" fmla="val 5374"/>
            </a:avLst>
          </a:prstGeom>
          <a:solidFill>
            <a:srgbClr val="F3F6FB"/>
          </a:solidFill>
          <a:ln w="12700">
            <a:solidFill>
              <a:srgbClr val="F3F6FB"/>
            </a:solidFill>
            <a:prstDash val="solid"/>
          </a:ln>
        </p:spPr>
      </p:sp>
      <p:sp>
        <p:nvSpPr>
          <p:cNvPr id="20" name="Shape 15"/>
          <p:cNvSpPr/>
          <p:nvPr/>
        </p:nvSpPr>
        <p:spPr>
          <a:xfrm>
            <a:off x="3911019" y="1819656"/>
            <a:ext cx="402336" cy="402336"/>
          </a:xfrm>
          <a:prstGeom prst="ellipse">
            <a:avLst/>
          </a:prstGeom>
          <a:solidFill>
            <a:srgbClr val="0EA5A4"/>
          </a:solidFill>
          <a:ln w="12700">
            <a:solidFill>
              <a:srgbClr val="0EA5A4"/>
            </a:solidFill>
            <a:prstDash val="solid"/>
          </a:ln>
        </p:spPr>
      </p:sp>
      <p:pic>
        <p:nvPicPr>
          <p:cNvPr id="21" name="Image 2" descr="preencoded.png">    </p:cNvPr>
          <p:cNvPicPr>
            <a:picLocks noChangeAspect="1"/>
          </p:cNvPicPr>
          <p:nvPr/>
        </p:nvPicPr>
        <p:blipFill>
          <a:blip r:embed="rId3"/>
          <a:stretch>
            <a:fillRect/>
          </a:stretch>
        </p:blipFill>
        <p:spPr>
          <a:xfrm>
            <a:off x="4007580" y="1916217"/>
            <a:ext cx="209215" cy="209215"/>
          </a:xfrm>
          <a:prstGeom prst="rect">
            <a:avLst/>
          </a:prstGeom>
        </p:spPr>
      </p:pic>
      <p:sp>
        <p:nvSpPr>
          <p:cNvPr id="22" name="Text 16"/>
          <p:cNvSpPr txBox="1"/>
          <p:nvPr/>
        </p:nvSpPr>
        <p:spPr>
          <a:xfrm>
            <a:off x="3911019"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Risk &amp; forecast</a:t>
            </a:r>
            <a:endParaRPr lang="en-US" sz="1250" dirty="0"/>
          </a:p>
        </p:txBody>
      </p:sp>
      <p:sp>
        <p:nvSpPr>
          <p:cNvPr id="23" name="Text 17"/>
          <p:cNvSpPr txBox="1"/>
          <p:nvPr/>
        </p:nvSpPr>
        <p:spPr>
          <a:xfrm>
            <a:off x="3911019"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Risk score, band, stage-wise probability, P(miss target)</a:t>
            </a:r>
            <a:endParaRPr lang="en-US" sz="950" dirty="0"/>
          </a:p>
        </p:txBody>
      </p:sp>
      <p:sp>
        <p:nvSpPr>
          <p:cNvPr id="24" name="Shape 18"/>
          <p:cNvSpPr/>
          <p:nvPr/>
        </p:nvSpPr>
        <p:spPr>
          <a:xfrm>
            <a:off x="5180729" y="2546604"/>
            <a:ext cx="182880" cy="164592"/>
          </a:xfrm>
          <a:prstGeom prst="rightArrow">
            <a:avLst/>
          </a:prstGeom>
          <a:solidFill>
            <a:srgbClr val="F59E0B"/>
          </a:solidFill>
          <a:ln w="12700">
            <a:solidFill>
              <a:srgbClr val="F59E0B"/>
            </a:solidFill>
            <a:prstDash val="solid"/>
          </a:ln>
        </p:spPr>
      </p:sp>
      <p:sp>
        <p:nvSpPr>
          <p:cNvPr id="25" name="Shape 19"/>
          <p:cNvSpPr/>
          <p:nvPr/>
        </p:nvSpPr>
        <p:spPr>
          <a:xfrm>
            <a:off x="5400185" y="1691640"/>
            <a:ext cx="1361150" cy="1874520"/>
          </a:xfrm>
          <a:prstGeom prst="roundRect">
            <a:avLst>
              <a:gd name="adj" fmla="val 5374"/>
            </a:avLst>
          </a:prstGeom>
          <a:solidFill>
            <a:srgbClr val="F3F6FB"/>
          </a:solidFill>
          <a:ln w="12700">
            <a:solidFill>
              <a:srgbClr val="F3F6FB"/>
            </a:solidFill>
            <a:prstDash val="solid"/>
          </a:ln>
        </p:spPr>
      </p:sp>
      <p:sp>
        <p:nvSpPr>
          <p:cNvPr id="26" name="Shape 20"/>
          <p:cNvSpPr/>
          <p:nvPr/>
        </p:nvSpPr>
        <p:spPr>
          <a:xfrm>
            <a:off x="5528201" y="1819656"/>
            <a:ext cx="402336" cy="402336"/>
          </a:xfrm>
          <a:prstGeom prst="ellipse">
            <a:avLst/>
          </a:prstGeom>
          <a:solidFill>
            <a:srgbClr val="0EA5A4"/>
          </a:solidFill>
          <a:ln w="12700">
            <a:solidFill>
              <a:srgbClr val="0EA5A4"/>
            </a:solidFill>
            <a:prstDash val="solid"/>
          </a:ln>
        </p:spPr>
      </p:sp>
      <p:pic>
        <p:nvPicPr>
          <p:cNvPr id="27" name="Image 3" descr="preencoded.png">    </p:cNvPr>
          <p:cNvPicPr>
            <a:picLocks noChangeAspect="1"/>
          </p:cNvPicPr>
          <p:nvPr/>
        </p:nvPicPr>
        <p:blipFill>
          <a:blip r:embed="rId4"/>
          <a:stretch>
            <a:fillRect/>
          </a:stretch>
        </p:blipFill>
        <p:spPr>
          <a:xfrm>
            <a:off x="5624762" y="1916217"/>
            <a:ext cx="209215" cy="209215"/>
          </a:xfrm>
          <a:prstGeom prst="rect">
            <a:avLst/>
          </a:prstGeom>
        </p:spPr>
      </p:pic>
      <p:sp>
        <p:nvSpPr>
          <p:cNvPr id="28" name="Text 21"/>
          <p:cNvSpPr txBox="1"/>
          <p:nvPr/>
        </p:nvSpPr>
        <p:spPr>
          <a:xfrm>
            <a:off x="5528201"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Explain</a:t>
            </a:r>
            <a:endParaRPr lang="en-US" sz="1250" dirty="0"/>
          </a:p>
        </p:txBody>
      </p:sp>
      <p:sp>
        <p:nvSpPr>
          <p:cNvPr id="29" name="Text 22"/>
          <p:cNvSpPr txBox="1"/>
          <p:nvPr/>
        </p:nvSpPr>
        <p:spPr>
          <a:xfrm>
            <a:off x="5528201"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Exact TreeSHAP drivers for every case and project</a:t>
            </a:r>
            <a:endParaRPr lang="en-US" sz="950" dirty="0"/>
          </a:p>
        </p:txBody>
      </p:sp>
      <p:sp>
        <p:nvSpPr>
          <p:cNvPr id="30" name="Shape 23"/>
          <p:cNvSpPr/>
          <p:nvPr/>
        </p:nvSpPr>
        <p:spPr>
          <a:xfrm>
            <a:off x="6797911" y="2546604"/>
            <a:ext cx="182880" cy="164592"/>
          </a:xfrm>
          <a:prstGeom prst="rightArrow">
            <a:avLst/>
          </a:prstGeom>
          <a:solidFill>
            <a:srgbClr val="F59E0B"/>
          </a:solidFill>
          <a:ln w="12700">
            <a:solidFill>
              <a:srgbClr val="F59E0B"/>
            </a:solidFill>
            <a:prstDash val="solid"/>
          </a:ln>
        </p:spPr>
      </p:sp>
      <p:sp>
        <p:nvSpPr>
          <p:cNvPr id="31" name="Shape 24"/>
          <p:cNvSpPr/>
          <p:nvPr/>
        </p:nvSpPr>
        <p:spPr>
          <a:xfrm>
            <a:off x="7017367" y="1691640"/>
            <a:ext cx="1361150" cy="1874520"/>
          </a:xfrm>
          <a:prstGeom prst="roundRect">
            <a:avLst>
              <a:gd name="adj" fmla="val 5374"/>
            </a:avLst>
          </a:prstGeom>
          <a:solidFill>
            <a:srgbClr val="F3F6FB"/>
          </a:solidFill>
          <a:ln w="12700">
            <a:solidFill>
              <a:srgbClr val="F3F6FB"/>
            </a:solidFill>
            <a:prstDash val="solid"/>
          </a:ln>
        </p:spPr>
      </p:sp>
      <p:sp>
        <p:nvSpPr>
          <p:cNvPr id="32" name="Shape 25"/>
          <p:cNvSpPr/>
          <p:nvPr/>
        </p:nvSpPr>
        <p:spPr>
          <a:xfrm>
            <a:off x="7145383" y="1819656"/>
            <a:ext cx="402336" cy="402336"/>
          </a:xfrm>
          <a:prstGeom prst="ellipse">
            <a:avLst/>
          </a:prstGeom>
          <a:solidFill>
            <a:srgbClr val="F59E0B"/>
          </a:solidFill>
          <a:ln w="12700">
            <a:solidFill>
              <a:srgbClr val="F59E0B"/>
            </a:solidFill>
            <a:prstDash val="solid"/>
          </a:ln>
        </p:spPr>
      </p:sp>
      <p:pic>
        <p:nvPicPr>
          <p:cNvPr id="33" name="Image 4" descr="preencoded.png">    </p:cNvPr>
          <p:cNvPicPr>
            <a:picLocks noChangeAspect="1"/>
          </p:cNvPicPr>
          <p:nvPr/>
        </p:nvPicPr>
        <p:blipFill>
          <a:blip r:embed="rId5"/>
          <a:stretch>
            <a:fillRect/>
          </a:stretch>
        </p:blipFill>
        <p:spPr>
          <a:xfrm>
            <a:off x="7241943" y="1916217"/>
            <a:ext cx="209215" cy="209215"/>
          </a:xfrm>
          <a:prstGeom prst="rect">
            <a:avLst/>
          </a:prstGeom>
        </p:spPr>
      </p:pic>
      <p:sp>
        <p:nvSpPr>
          <p:cNvPr id="34" name="Text 26"/>
          <p:cNvSpPr txBox="1"/>
          <p:nvPr/>
        </p:nvSpPr>
        <p:spPr>
          <a:xfrm>
            <a:off x="7145383"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Recommend</a:t>
            </a:r>
            <a:endParaRPr lang="en-US" sz="1250" dirty="0"/>
          </a:p>
        </p:txBody>
      </p:sp>
      <p:sp>
        <p:nvSpPr>
          <p:cNvPr id="35" name="Text 27"/>
          <p:cNvSpPr txBox="1"/>
          <p:nvPr/>
        </p:nvSpPr>
        <p:spPr>
          <a:xfrm>
            <a:off x="7145383"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Owned actions ranked by predicted risk reduction</a:t>
            </a:r>
            <a:endParaRPr lang="en-US" sz="950" dirty="0"/>
          </a:p>
        </p:txBody>
      </p:sp>
      <p:sp>
        <p:nvSpPr>
          <p:cNvPr id="36" name="Shape 28"/>
          <p:cNvSpPr/>
          <p:nvPr/>
        </p:nvSpPr>
        <p:spPr>
          <a:xfrm>
            <a:off x="8415093" y="2546604"/>
            <a:ext cx="182880" cy="164592"/>
          </a:xfrm>
          <a:prstGeom prst="rightArrow">
            <a:avLst/>
          </a:prstGeom>
          <a:solidFill>
            <a:srgbClr val="F59E0B"/>
          </a:solidFill>
          <a:ln w="12700">
            <a:solidFill>
              <a:srgbClr val="F59E0B"/>
            </a:solidFill>
            <a:prstDash val="solid"/>
          </a:ln>
        </p:spPr>
      </p:sp>
      <p:sp>
        <p:nvSpPr>
          <p:cNvPr id="37" name="Shape 29"/>
          <p:cNvSpPr/>
          <p:nvPr/>
        </p:nvSpPr>
        <p:spPr>
          <a:xfrm>
            <a:off x="8634549" y="1691640"/>
            <a:ext cx="1361150" cy="1874520"/>
          </a:xfrm>
          <a:prstGeom prst="roundRect">
            <a:avLst>
              <a:gd name="adj" fmla="val 5374"/>
            </a:avLst>
          </a:prstGeom>
          <a:solidFill>
            <a:srgbClr val="F3F6FB"/>
          </a:solidFill>
          <a:ln w="12700">
            <a:solidFill>
              <a:srgbClr val="F3F6FB"/>
            </a:solidFill>
            <a:prstDash val="solid"/>
          </a:ln>
        </p:spPr>
      </p:sp>
      <p:sp>
        <p:nvSpPr>
          <p:cNvPr id="38" name="Shape 30"/>
          <p:cNvSpPr/>
          <p:nvPr/>
        </p:nvSpPr>
        <p:spPr>
          <a:xfrm>
            <a:off x="8762565" y="1819656"/>
            <a:ext cx="402336" cy="402336"/>
          </a:xfrm>
          <a:prstGeom prst="ellipse">
            <a:avLst/>
          </a:prstGeom>
          <a:solidFill>
            <a:srgbClr val="F59E0B"/>
          </a:solidFill>
          <a:ln w="12700">
            <a:solidFill>
              <a:srgbClr val="F59E0B"/>
            </a:solidFill>
            <a:prstDash val="solid"/>
          </a:ln>
        </p:spPr>
      </p:sp>
      <p:pic>
        <p:nvPicPr>
          <p:cNvPr id="39" name="Image 5" descr="preencoded.png">    </p:cNvPr>
          <p:cNvPicPr>
            <a:picLocks noChangeAspect="1"/>
          </p:cNvPicPr>
          <p:nvPr/>
        </p:nvPicPr>
        <p:blipFill>
          <a:blip r:embed="rId6"/>
          <a:stretch>
            <a:fillRect/>
          </a:stretch>
        </p:blipFill>
        <p:spPr>
          <a:xfrm>
            <a:off x="8859125" y="1916217"/>
            <a:ext cx="209215" cy="209215"/>
          </a:xfrm>
          <a:prstGeom prst="rect">
            <a:avLst/>
          </a:prstGeom>
        </p:spPr>
      </p:pic>
      <p:sp>
        <p:nvSpPr>
          <p:cNvPr id="40" name="Text 31"/>
          <p:cNvSpPr txBox="1"/>
          <p:nvPr/>
        </p:nvSpPr>
        <p:spPr>
          <a:xfrm>
            <a:off x="8762565"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Alert &amp; act</a:t>
            </a:r>
            <a:endParaRPr lang="en-US" sz="1250" dirty="0"/>
          </a:p>
        </p:txBody>
      </p:sp>
      <p:sp>
        <p:nvSpPr>
          <p:cNvPr id="41" name="Text 32"/>
          <p:cNvSpPr txBox="1"/>
          <p:nvPr/>
        </p:nvSpPr>
        <p:spPr>
          <a:xfrm>
            <a:off x="8762565"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Interventions, scheduled alerts, escalation, audit</a:t>
            </a:r>
            <a:endParaRPr lang="en-US" sz="950" dirty="0"/>
          </a:p>
        </p:txBody>
      </p:sp>
      <p:sp>
        <p:nvSpPr>
          <p:cNvPr id="42" name="Shape 33"/>
          <p:cNvSpPr/>
          <p:nvPr/>
        </p:nvSpPr>
        <p:spPr>
          <a:xfrm>
            <a:off x="10032274" y="2546604"/>
            <a:ext cx="182880" cy="164592"/>
          </a:xfrm>
          <a:prstGeom prst="rightArrow">
            <a:avLst/>
          </a:prstGeom>
          <a:solidFill>
            <a:srgbClr val="F59E0B"/>
          </a:solidFill>
          <a:ln w="12700">
            <a:solidFill>
              <a:srgbClr val="F59E0B"/>
            </a:solidFill>
            <a:prstDash val="solid"/>
          </a:ln>
        </p:spPr>
      </p:sp>
      <p:sp>
        <p:nvSpPr>
          <p:cNvPr id="43" name="Shape 34"/>
          <p:cNvSpPr/>
          <p:nvPr/>
        </p:nvSpPr>
        <p:spPr>
          <a:xfrm>
            <a:off x="10251730" y="1691640"/>
            <a:ext cx="1361150" cy="1874520"/>
          </a:xfrm>
          <a:prstGeom prst="roundRect">
            <a:avLst>
              <a:gd name="adj" fmla="val 5374"/>
            </a:avLst>
          </a:prstGeom>
          <a:solidFill>
            <a:srgbClr val="F3F6FB"/>
          </a:solidFill>
          <a:ln w="12700">
            <a:solidFill>
              <a:srgbClr val="F3F6FB"/>
            </a:solidFill>
            <a:prstDash val="solid"/>
          </a:ln>
        </p:spPr>
      </p:sp>
      <p:sp>
        <p:nvSpPr>
          <p:cNvPr id="44" name="Shape 35"/>
          <p:cNvSpPr/>
          <p:nvPr/>
        </p:nvSpPr>
        <p:spPr>
          <a:xfrm>
            <a:off x="10379746" y="1819656"/>
            <a:ext cx="402336" cy="402336"/>
          </a:xfrm>
          <a:prstGeom prst="ellipse">
            <a:avLst/>
          </a:prstGeom>
          <a:solidFill>
            <a:srgbClr val="10B981"/>
          </a:solidFill>
          <a:ln w="12700">
            <a:solidFill>
              <a:srgbClr val="10B981"/>
            </a:solidFill>
            <a:prstDash val="solid"/>
          </a:ln>
        </p:spPr>
      </p:sp>
      <p:pic>
        <p:nvPicPr>
          <p:cNvPr id="45" name="Image 6" descr="preencoded.png">    </p:cNvPr>
          <p:cNvPicPr>
            <a:picLocks noChangeAspect="1"/>
          </p:cNvPicPr>
          <p:nvPr/>
        </p:nvPicPr>
        <p:blipFill>
          <a:blip r:embed="rId7"/>
          <a:stretch>
            <a:fillRect/>
          </a:stretch>
        </p:blipFill>
        <p:spPr>
          <a:xfrm>
            <a:off x="10476307" y="1916217"/>
            <a:ext cx="209215" cy="209215"/>
          </a:xfrm>
          <a:prstGeom prst="rect">
            <a:avLst/>
          </a:prstGeom>
        </p:spPr>
      </p:pic>
      <p:sp>
        <p:nvSpPr>
          <p:cNvPr id="46" name="Text 36"/>
          <p:cNvSpPr txBox="1"/>
          <p:nvPr/>
        </p:nvSpPr>
        <p:spPr>
          <a:xfrm>
            <a:off x="10379746" y="2276856"/>
            <a:ext cx="115998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Learn</a:t>
            </a:r>
            <a:endParaRPr lang="en-US" sz="1250" dirty="0"/>
          </a:p>
        </p:txBody>
      </p:sp>
      <p:sp>
        <p:nvSpPr>
          <p:cNvPr id="47" name="Text 37"/>
          <p:cNvSpPr txBox="1"/>
          <p:nvPr/>
        </p:nvSpPr>
        <p:spPr>
          <a:xfrm>
            <a:off x="10379746" y="2542032"/>
            <a:ext cx="1159982" cy="97840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New outcomes → monitor → gated retrain → registry</a:t>
            </a:r>
            <a:endParaRPr lang="en-US" sz="950" dirty="0"/>
          </a:p>
        </p:txBody>
      </p:sp>
      <p:sp>
        <p:nvSpPr>
          <p:cNvPr id="48" name="Text 38"/>
          <p:cNvSpPr txBox="1"/>
          <p:nvPr/>
        </p:nvSpPr>
        <p:spPr>
          <a:xfrm>
            <a:off x="548640" y="4160520"/>
            <a:ext cx="1783080" cy="685800"/>
          </a:xfrm>
          <a:prstGeom prst="rect">
            <a:avLst/>
          </a:prstGeom>
          <a:noFill/>
          <a:ln/>
        </p:spPr>
        <p:txBody>
          <a:bodyPr wrap="square" lIns="0" tIns="0" rIns="0" bIns="0" rtlCol="0" anchor="ctr"/>
          <a:lstStyle/>
          <a:p>
            <a:pPr indent="0" marL="0">
              <a:buNone/>
            </a:pPr>
            <a:r>
              <a:rPr lang="en-US" sz="3400" b="1" dirty="0">
                <a:solidFill>
                  <a:srgbClr val="3B72F0"/>
                </a:solidFill>
                <a:latin typeface="Calibri" pitchFamily="34" charset="0"/>
                <a:ea typeface="Calibri" pitchFamily="34" charset="-122"/>
                <a:cs typeface="Calibri" pitchFamily="34" charset="-120"/>
              </a:rPr>
              <a:t>3,50,000</a:t>
            </a:r>
            <a:endParaRPr lang="en-US" sz="3400" dirty="0"/>
          </a:p>
        </p:txBody>
      </p:sp>
      <p:sp>
        <p:nvSpPr>
          <p:cNvPr id="49" name="Text 39"/>
          <p:cNvSpPr txBox="1"/>
          <p:nvPr/>
        </p:nvSpPr>
        <p:spPr>
          <a:xfrm>
            <a:off x="548640" y="4837176"/>
            <a:ext cx="178308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parcel-level acquisition cases</a:t>
            </a:r>
            <a:endParaRPr lang="en-US" sz="1150" dirty="0"/>
          </a:p>
        </p:txBody>
      </p:sp>
      <p:sp>
        <p:nvSpPr>
          <p:cNvPr id="50" name="Text 40"/>
          <p:cNvSpPr txBox="1"/>
          <p:nvPr/>
        </p:nvSpPr>
        <p:spPr>
          <a:xfrm>
            <a:off x="2423160" y="4160520"/>
            <a:ext cx="1783080" cy="685800"/>
          </a:xfrm>
          <a:prstGeom prst="rect">
            <a:avLst/>
          </a:prstGeom>
          <a:noFill/>
          <a:ln/>
        </p:spPr>
        <p:txBody>
          <a:bodyPr wrap="square" lIns="0" tIns="0" rIns="0" bIns="0" rtlCol="0" anchor="ctr"/>
          <a:lstStyle/>
          <a:p>
            <a:pPr indent="0" marL="0">
              <a:buNone/>
            </a:pPr>
            <a:r>
              <a:rPr lang="en-US" sz="3400" b="1" dirty="0">
                <a:solidFill>
                  <a:srgbClr val="0EA5A4"/>
                </a:solidFill>
                <a:latin typeface="Calibri" pitchFamily="34" charset="0"/>
                <a:ea typeface="Calibri" pitchFamily="34" charset="-122"/>
                <a:cs typeface="Calibri" pitchFamily="34" charset="-120"/>
              </a:rPr>
              <a:t>312</a:t>
            </a:r>
            <a:endParaRPr lang="en-US" sz="3400" dirty="0"/>
          </a:p>
        </p:txBody>
      </p:sp>
      <p:sp>
        <p:nvSpPr>
          <p:cNvPr id="51" name="Text 41"/>
          <p:cNvSpPr txBox="1"/>
          <p:nvPr/>
        </p:nvSpPr>
        <p:spPr>
          <a:xfrm>
            <a:off x="2423160" y="4837176"/>
            <a:ext cx="178308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projects across 11 types</a:t>
            </a:r>
            <a:endParaRPr lang="en-US" sz="1150" dirty="0"/>
          </a:p>
        </p:txBody>
      </p:sp>
      <p:sp>
        <p:nvSpPr>
          <p:cNvPr id="52" name="Text 42"/>
          <p:cNvSpPr txBox="1"/>
          <p:nvPr/>
        </p:nvSpPr>
        <p:spPr>
          <a:xfrm>
            <a:off x="4297680" y="4160520"/>
            <a:ext cx="1783080" cy="685800"/>
          </a:xfrm>
          <a:prstGeom prst="rect">
            <a:avLst/>
          </a:prstGeom>
          <a:noFill/>
          <a:ln/>
        </p:spPr>
        <p:txBody>
          <a:bodyPr wrap="square" lIns="0" tIns="0" rIns="0" bIns="0" rtlCol="0" anchor="ctr"/>
          <a:lstStyle/>
          <a:p>
            <a:pPr indent="0" marL="0">
              <a:buNone/>
            </a:pPr>
            <a:r>
              <a:rPr lang="en-US" sz="3400" b="1" dirty="0">
                <a:solidFill>
                  <a:srgbClr val="3B72F0"/>
                </a:solidFill>
                <a:latin typeface="Calibri" pitchFamily="34" charset="0"/>
                <a:ea typeface="Calibri" pitchFamily="34" charset="-122"/>
                <a:cs typeface="Calibri" pitchFamily="34" charset="-120"/>
              </a:rPr>
              <a:t>25 / 265</a:t>
            </a:r>
            <a:endParaRPr lang="en-US" sz="3400" dirty="0"/>
          </a:p>
        </p:txBody>
      </p:sp>
      <p:sp>
        <p:nvSpPr>
          <p:cNvPr id="53" name="Text 43"/>
          <p:cNvSpPr txBox="1"/>
          <p:nvPr/>
        </p:nvSpPr>
        <p:spPr>
          <a:xfrm>
            <a:off x="4297680" y="4837176"/>
            <a:ext cx="178308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States / districts in the corpus</a:t>
            </a:r>
            <a:endParaRPr lang="en-US" sz="1150" dirty="0"/>
          </a:p>
        </p:txBody>
      </p:sp>
      <p:sp>
        <p:nvSpPr>
          <p:cNvPr id="54" name="Text 44"/>
          <p:cNvSpPr txBox="1"/>
          <p:nvPr/>
        </p:nvSpPr>
        <p:spPr>
          <a:xfrm>
            <a:off x="6172200" y="4160520"/>
            <a:ext cx="1783080" cy="685800"/>
          </a:xfrm>
          <a:prstGeom prst="rect">
            <a:avLst/>
          </a:prstGeom>
          <a:noFill/>
          <a:ln/>
        </p:spPr>
        <p:txBody>
          <a:bodyPr wrap="square" lIns="0" tIns="0" rIns="0" bIns="0" rtlCol="0" anchor="ctr"/>
          <a:lstStyle/>
          <a:p>
            <a:pPr indent="0" marL="0">
              <a:buNone/>
            </a:pPr>
            <a:r>
              <a:rPr lang="en-US" sz="3400" b="1" dirty="0">
                <a:solidFill>
                  <a:srgbClr val="F59E0B"/>
                </a:solidFill>
                <a:latin typeface="Calibri" pitchFamily="34" charset="0"/>
                <a:ea typeface="Calibri" pitchFamily="34" charset="-122"/>
                <a:cs typeface="Calibri" pitchFamily="34" charset="-120"/>
              </a:rPr>
              <a:t>0.834</a:t>
            </a:r>
            <a:endParaRPr lang="en-US" sz="3400" dirty="0"/>
          </a:p>
        </p:txBody>
      </p:sp>
      <p:sp>
        <p:nvSpPr>
          <p:cNvPr id="55" name="Text 45"/>
          <p:cNvSpPr txBox="1"/>
          <p:nvPr/>
        </p:nvSpPr>
        <p:spPr>
          <a:xfrm>
            <a:off x="6172200" y="4837176"/>
            <a:ext cx="178308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test ROC-AUC (synthetic data)</a:t>
            </a:r>
            <a:endParaRPr lang="en-US" sz="1150" dirty="0"/>
          </a:p>
        </p:txBody>
      </p:sp>
      <p:sp>
        <p:nvSpPr>
          <p:cNvPr id="56" name="Text 46"/>
          <p:cNvSpPr txBox="1"/>
          <p:nvPr/>
        </p:nvSpPr>
        <p:spPr>
          <a:xfrm>
            <a:off x="8046720" y="4160520"/>
            <a:ext cx="1783080" cy="685800"/>
          </a:xfrm>
          <a:prstGeom prst="rect">
            <a:avLst/>
          </a:prstGeom>
          <a:noFill/>
          <a:ln/>
        </p:spPr>
        <p:txBody>
          <a:bodyPr wrap="square" lIns="0" tIns="0" rIns="0" bIns="0" rtlCol="0" anchor="ctr"/>
          <a:lstStyle/>
          <a:p>
            <a:pPr indent="0" marL="0">
              <a:buNone/>
            </a:pPr>
            <a:r>
              <a:rPr lang="en-US" sz="3400" b="1" dirty="0">
                <a:solidFill>
                  <a:srgbClr val="0EA5A4"/>
                </a:solidFill>
                <a:latin typeface="Calibri" pitchFamily="34" charset="0"/>
                <a:ea typeface="Calibri" pitchFamily="34" charset="-122"/>
                <a:cs typeface="Calibri" pitchFamily="34" charset="-120"/>
              </a:rPr>
              <a:t>27</a:t>
            </a:r>
            <a:endParaRPr lang="en-US" sz="3400" dirty="0"/>
          </a:p>
        </p:txBody>
      </p:sp>
      <p:sp>
        <p:nvSpPr>
          <p:cNvPr id="57" name="Text 47"/>
          <p:cNvSpPr txBox="1"/>
          <p:nvPr/>
        </p:nvSpPr>
        <p:spPr>
          <a:xfrm>
            <a:off x="8046720" y="4837176"/>
            <a:ext cx="178308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screens, from command centre to audit</a:t>
            </a:r>
            <a:endParaRPr lang="en-US" sz="1150" dirty="0"/>
          </a:p>
        </p:txBody>
      </p:sp>
      <p:sp>
        <p:nvSpPr>
          <p:cNvPr id="58" name="Text 48"/>
          <p:cNvSpPr txBox="1"/>
          <p:nvPr/>
        </p:nvSpPr>
        <p:spPr>
          <a:xfrm>
            <a:off x="9921240" y="4160520"/>
            <a:ext cx="1783080" cy="685800"/>
          </a:xfrm>
          <a:prstGeom prst="rect">
            <a:avLst/>
          </a:prstGeom>
          <a:noFill/>
          <a:ln/>
        </p:spPr>
        <p:txBody>
          <a:bodyPr wrap="square" lIns="0" tIns="0" rIns="0" bIns="0" rtlCol="0" anchor="ctr"/>
          <a:lstStyle/>
          <a:p>
            <a:pPr indent="0" marL="0">
              <a:buNone/>
            </a:pPr>
            <a:r>
              <a:rPr lang="en-US" sz="3400" b="1" dirty="0">
                <a:solidFill>
                  <a:srgbClr val="10B981"/>
                </a:solidFill>
                <a:latin typeface="Calibri" pitchFamily="34" charset="0"/>
                <a:ea typeface="Calibri" pitchFamily="34" charset="-122"/>
                <a:cs typeface="Calibri" pitchFamily="34" charset="-120"/>
              </a:rPr>
              <a:t>211</a:t>
            </a:r>
            <a:endParaRPr lang="en-US" sz="3400" dirty="0"/>
          </a:p>
        </p:txBody>
      </p:sp>
      <p:sp>
        <p:nvSpPr>
          <p:cNvPr id="59" name="Text 49"/>
          <p:cNvSpPr txBox="1"/>
          <p:nvPr/>
        </p:nvSpPr>
        <p:spPr>
          <a:xfrm>
            <a:off x="9921240" y="4837176"/>
            <a:ext cx="178308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automated end-to-end tests passing</a:t>
            </a:r>
            <a:endParaRPr lang="en-US" sz="1150" dirty="0"/>
          </a:p>
        </p:txBody>
      </p:sp>
      <p:sp>
        <p:nvSpPr>
          <p:cNvPr id="60" name="Text 50"/>
          <p:cNvSpPr txBox="1"/>
          <p:nvPr/>
        </p:nvSpPr>
        <p:spPr>
          <a:xfrm>
            <a:off x="548640" y="5760720"/>
            <a:ext cx="10972800" cy="365760"/>
          </a:xfrm>
          <a:prstGeom prst="rect">
            <a:avLst/>
          </a:prstGeom>
          <a:noFill/>
          <a:ln/>
        </p:spPr>
        <p:txBody>
          <a:bodyPr wrap="square" lIns="0" tIns="0" rIns="0" bIns="0" rtlCol="0" anchor="t"/>
          <a:lstStyle/>
          <a:p>
            <a:pPr indent="0" marL="0">
              <a:buNone/>
            </a:pPr>
            <a:r>
              <a:rPr lang="en-US" sz="1250" i="1" dirty="0">
                <a:solidFill>
                  <a:srgbClr val="5B6B82"/>
                </a:solidFill>
                <a:latin typeface="Calibri" pitchFamily="34" charset="0"/>
                <a:ea typeface="Calibri" pitchFamily="34" charset="-122"/>
                <a:cs typeface="Calibri" pitchFamily="34" charset="-120"/>
              </a:rPr>
              <a:t>Every figure on every screen is labelled with its provenance: synthetic demo data, user-entered, or model-generated.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HOW THE PIECES CONNECT</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System architecture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9</a:t>
            </a:r>
            <a:endParaRPr lang="en-US" sz="900" dirty="0"/>
          </a:p>
        </p:txBody>
      </p:sp>
      <p:sp>
        <p:nvSpPr>
          <p:cNvPr id="7" name="Shape 4"/>
          <p:cNvSpPr/>
          <p:nvPr/>
        </p:nvSpPr>
        <p:spPr>
          <a:xfrm>
            <a:off x="548640" y="1508760"/>
            <a:ext cx="2286000" cy="1828800"/>
          </a:xfrm>
          <a:prstGeom prst="roundRect">
            <a:avLst>
              <a:gd name="adj" fmla="val 4000"/>
            </a:avLst>
          </a:prstGeom>
          <a:solidFill>
            <a:srgbClr val="E3ECFF"/>
          </a:solidFill>
          <a:ln w="12700">
            <a:solidFill>
              <a:srgbClr val="E3ECFF"/>
            </a:solidFill>
            <a:prstDash val="solid"/>
          </a:ln>
        </p:spPr>
      </p:sp>
      <p:sp>
        <p:nvSpPr>
          <p:cNvPr id="8" name="Text 5"/>
          <p:cNvSpPr txBox="1"/>
          <p:nvPr/>
        </p:nvSpPr>
        <p:spPr>
          <a:xfrm>
            <a:off x="685800" y="1600200"/>
            <a:ext cx="20116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Officers (web app)</a:t>
            </a:r>
            <a:endParaRPr lang="en-US" sz="1300" dirty="0"/>
          </a:p>
        </p:txBody>
      </p:sp>
      <p:sp>
        <p:nvSpPr>
          <p:cNvPr id="9" name="Text 6"/>
          <p:cNvSpPr txBox="1"/>
          <p:nvPr/>
        </p:nvSpPr>
        <p:spPr>
          <a:xfrm>
            <a:off x="685800" y="1892808"/>
            <a:ext cx="2011680" cy="1371600"/>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React 18 · TypeScript · Vite · Tailwind · Recharts · custom SVG GIS · 27 screens</a:t>
            </a:r>
            <a:endParaRPr lang="en-US" sz="1000" dirty="0"/>
          </a:p>
        </p:txBody>
      </p:sp>
      <p:sp>
        <p:nvSpPr>
          <p:cNvPr id="10" name="Shape 7"/>
          <p:cNvSpPr/>
          <p:nvPr/>
        </p:nvSpPr>
        <p:spPr>
          <a:xfrm>
            <a:off x="548640" y="3520440"/>
            <a:ext cx="2286000" cy="1920240"/>
          </a:xfrm>
          <a:prstGeom prst="roundRect">
            <a:avLst>
              <a:gd name="adj" fmla="val 3810"/>
            </a:avLst>
          </a:prstGeom>
          <a:solidFill>
            <a:srgbClr val="E6F7F1"/>
          </a:solidFill>
          <a:ln w="12700">
            <a:solidFill>
              <a:srgbClr val="E6F7F1"/>
            </a:solidFill>
            <a:prstDash val="solid"/>
          </a:ln>
        </p:spPr>
      </p:sp>
      <p:sp>
        <p:nvSpPr>
          <p:cNvPr id="11" name="Text 8"/>
          <p:cNvSpPr txBox="1"/>
          <p:nvPr/>
        </p:nvSpPr>
        <p:spPr>
          <a:xfrm>
            <a:off x="685800" y="3611880"/>
            <a:ext cx="20116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External systems</a:t>
            </a:r>
            <a:endParaRPr lang="en-US" sz="1300" dirty="0"/>
          </a:p>
        </p:txBody>
      </p:sp>
      <p:sp>
        <p:nvSpPr>
          <p:cNvPr id="12" name="Text 9"/>
          <p:cNvSpPr txBox="1"/>
          <p:nvPr/>
        </p:nvSpPr>
        <p:spPr>
          <a:xfrm>
            <a:off x="685800" y="3904488"/>
            <a:ext cx="2011680" cy="1463040"/>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State LA case systems, portals, government databases via REST API v1 + API keys · webhooks</a:t>
            </a:r>
            <a:endParaRPr lang="en-US" sz="1000" dirty="0"/>
          </a:p>
        </p:txBody>
      </p:sp>
      <p:sp>
        <p:nvSpPr>
          <p:cNvPr id="13" name="Shape 10"/>
          <p:cNvSpPr/>
          <p:nvPr/>
        </p:nvSpPr>
        <p:spPr>
          <a:xfrm>
            <a:off x="3154680" y="1508760"/>
            <a:ext cx="2103120" cy="3931920"/>
          </a:xfrm>
          <a:prstGeom prst="roundRect">
            <a:avLst>
              <a:gd name="adj" fmla="val 3478"/>
            </a:avLst>
          </a:prstGeom>
          <a:solidFill>
            <a:srgbClr val="0B1B34"/>
          </a:solidFill>
          <a:ln w="12700">
            <a:solidFill>
              <a:srgbClr val="0B1B34"/>
            </a:solidFill>
            <a:prstDash val="solid"/>
          </a:ln>
        </p:spPr>
      </p:sp>
      <p:sp>
        <p:nvSpPr>
          <p:cNvPr id="14" name="Text 11"/>
          <p:cNvSpPr txBox="1"/>
          <p:nvPr/>
        </p:nvSpPr>
        <p:spPr>
          <a:xfrm>
            <a:off x="3291840" y="1600200"/>
            <a:ext cx="18288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LandPulse AI API</a:t>
            </a:r>
            <a:endParaRPr lang="en-US" sz="1300" dirty="0"/>
          </a:p>
        </p:txBody>
      </p:sp>
      <p:sp>
        <p:nvSpPr>
          <p:cNvPr id="15" name="Text 12"/>
          <p:cNvSpPr txBox="1"/>
          <p:nvPr/>
        </p:nvSpPr>
        <p:spPr>
          <a:xfrm>
            <a:off x="3291840" y="1892808"/>
            <a:ext cx="1828800" cy="3474720"/>
          </a:xfrm>
          <a:prstGeom prst="rect">
            <a:avLst/>
          </a:prstGeom>
          <a:noFill/>
          <a:ln/>
        </p:spPr>
        <p:txBody>
          <a:bodyPr wrap="square" lIns="0" tIns="0" rIns="0" bIns="0" rtlCol="0" anchor="t"/>
          <a:lstStyle/>
          <a:p>
            <a:pPr indent="0" marL="0">
              <a:buNone/>
            </a:pPr>
            <a:r>
              <a:rPr lang="en-US" sz="1000" dirty="0">
                <a:solidFill>
                  <a:srgbClr val="C9D3E4"/>
                </a:solidFill>
                <a:latin typeface="Calibri" pitchFamily="34" charset="0"/>
                <a:ea typeface="Calibri" pitchFamily="34" charset="-122"/>
                <a:cs typeface="Calibri" pitchFamily="34" charset="-120"/>
              </a:rPr>
              <a:t>Node.js, zero runtime dependencies</a:t>
            </a:r>
            <a:endParaRPr lang="en-US" sz="1000" dirty="0"/>
          </a:p>
          <a:p>
            <a:pPr indent="0" marL="0">
              <a:buNone/>
            </a:pPr>
            <a:endParaRPr lang="en-US" sz="1000" dirty="0"/>
          </a:p>
          <a:p>
            <a:pPr indent="0" marL="0">
              <a:buNone/>
            </a:pPr>
            <a:r>
              <a:rPr lang="en-US" sz="1000" dirty="0">
                <a:solidFill>
                  <a:srgbClr val="C9D3E4"/>
                </a:solidFill>
                <a:latin typeface="Calibri" pitchFamily="34" charset="0"/>
                <a:ea typeface="Calibri" pitchFamily="34" charset="-122"/>
                <a:cs typeface="Calibri" pitchFamily="34" charset="-120"/>
              </a:rPr>
              <a:t>• Password auth, hashed expiring sessions</a:t>
            </a:r>
            <a:endParaRPr lang="en-US" sz="1000" dirty="0"/>
          </a:p>
          <a:p>
            <a:pPr indent="0" marL="0">
              <a:buNone/>
            </a:pPr>
            <a:r>
              <a:rPr lang="en-US" sz="1000" dirty="0">
                <a:solidFill>
                  <a:srgbClr val="C9D3E4"/>
                </a:solidFill>
                <a:latin typeface="Calibri" pitchFamily="34" charset="0"/>
                <a:ea typeface="Calibri" pitchFamily="34" charset="-122"/>
                <a:cs typeface="Calibri" pitchFamily="34" charset="-120"/>
              </a:rPr>
              <a:t>• Role permissions + position jurisdiction</a:t>
            </a:r>
            <a:endParaRPr lang="en-US" sz="1000" dirty="0"/>
          </a:p>
          <a:p>
            <a:pPr indent="0" marL="0">
              <a:buNone/>
            </a:pPr>
            <a:r>
              <a:rPr lang="en-US" sz="1000" dirty="0">
                <a:solidFill>
                  <a:srgbClr val="C9D3E4"/>
                </a:solidFill>
                <a:latin typeface="Calibri" pitchFamily="34" charset="0"/>
                <a:ea typeface="Calibri" pitchFamily="34" charset="-122"/>
                <a:cs typeface="Calibri" pitchFamily="34" charset="-120"/>
              </a:rPr>
              <a:t>• CORS allowlist, security headers</a:t>
            </a:r>
            <a:endParaRPr lang="en-US" sz="1000" dirty="0"/>
          </a:p>
          <a:p>
            <a:pPr indent="0" marL="0">
              <a:buNone/>
            </a:pPr>
            <a:r>
              <a:rPr lang="en-US" sz="1000" dirty="0">
                <a:solidFill>
                  <a:srgbClr val="C9D3E4"/>
                </a:solidFill>
                <a:latin typeface="Calibri" pitchFamily="34" charset="0"/>
                <a:ea typeface="Calibri" pitchFamily="34" charset="-122"/>
                <a:cs typeface="Calibri" pitchFamily="34" charset="-120"/>
              </a:rPr>
              <a:t>• OpenAPI 3 contract</a:t>
            </a:r>
            <a:endParaRPr lang="en-US" sz="1000" dirty="0"/>
          </a:p>
          <a:p>
            <a:pPr indent="0" marL="0">
              <a:buNone/>
            </a:pPr>
            <a:r>
              <a:rPr lang="en-US" sz="1000" dirty="0">
                <a:solidFill>
                  <a:srgbClr val="C9D3E4"/>
                </a:solidFill>
                <a:latin typeface="Calibri" pitchFamily="34" charset="0"/>
                <a:ea typeface="Calibri" pitchFamily="34" charset="-122"/>
                <a:cs typeface="Calibri" pitchFamily="34" charset="-120"/>
              </a:rPr>
              <a:t>• Scheduler: alert scans, auto-retrain</a:t>
            </a:r>
            <a:endParaRPr lang="en-US" sz="1000" dirty="0"/>
          </a:p>
        </p:txBody>
      </p:sp>
      <p:sp>
        <p:nvSpPr>
          <p:cNvPr id="16" name="Shape 13"/>
          <p:cNvSpPr/>
          <p:nvPr/>
        </p:nvSpPr>
        <p:spPr>
          <a:xfrm>
            <a:off x="5577840" y="1508760"/>
            <a:ext cx="1600200" cy="896112"/>
          </a:xfrm>
          <a:prstGeom prst="roundRect">
            <a:avLst>
              <a:gd name="adj" fmla="val 8163"/>
            </a:avLst>
          </a:prstGeom>
          <a:solidFill>
            <a:srgbClr val="F3F6FB"/>
          </a:solidFill>
          <a:ln w="12700">
            <a:solidFill>
              <a:srgbClr val="F3F6FB"/>
            </a:solidFill>
            <a:prstDash val="solid"/>
          </a:ln>
        </p:spPr>
      </p:sp>
      <p:sp>
        <p:nvSpPr>
          <p:cNvPr id="17" name="Text 14"/>
          <p:cNvSpPr txBox="1"/>
          <p:nvPr/>
        </p:nvSpPr>
        <p:spPr>
          <a:xfrm>
            <a:off x="5715000" y="160020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Project service</a:t>
            </a:r>
            <a:endParaRPr lang="en-US" sz="1300" dirty="0"/>
          </a:p>
        </p:txBody>
      </p:sp>
      <p:sp>
        <p:nvSpPr>
          <p:cNvPr id="18" name="Text 15"/>
          <p:cNvSpPr txBox="1"/>
          <p:nvPr/>
        </p:nvSpPr>
        <p:spPr>
          <a:xfrm>
            <a:off x="5715000" y="189280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corpus + edits + additions</a:t>
            </a:r>
            <a:endParaRPr lang="en-US" sz="1000" dirty="0"/>
          </a:p>
        </p:txBody>
      </p:sp>
      <p:sp>
        <p:nvSpPr>
          <p:cNvPr id="19" name="Shape 16"/>
          <p:cNvSpPr/>
          <p:nvPr/>
        </p:nvSpPr>
        <p:spPr>
          <a:xfrm>
            <a:off x="7269480" y="1508760"/>
            <a:ext cx="1600200" cy="896112"/>
          </a:xfrm>
          <a:prstGeom prst="roundRect">
            <a:avLst>
              <a:gd name="adj" fmla="val 8163"/>
            </a:avLst>
          </a:prstGeom>
          <a:solidFill>
            <a:srgbClr val="F3F6FB"/>
          </a:solidFill>
          <a:ln w="12700">
            <a:solidFill>
              <a:srgbClr val="F3F6FB"/>
            </a:solidFill>
            <a:prstDash val="solid"/>
          </a:ln>
        </p:spPr>
      </p:sp>
      <p:sp>
        <p:nvSpPr>
          <p:cNvPr id="20" name="Text 17"/>
          <p:cNvSpPr txBox="1"/>
          <p:nvPr/>
        </p:nvSpPr>
        <p:spPr>
          <a:xfrm>
            <a:off x="7406640" y="160020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Scoring</a:t>
            </a:r>
            <a:endParaRPr lang="en-US" sz="1300" dirty="0"/>
          </a:p>
        </p:txBody>
      </p:sp>
      <p:sp>
        <p:nvSpPr>
          <p:cNvPr id="21" name="Text 18"/>
          <p:cNvSpPr txBox="1"/>
          <p:nvPr/>
        </p:nvSpPr>
        <p:spPr>
          <a:xfrm>
            <a:off x="7406640" y="189280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exported trees + exact TreeSHAP</a:t>
            </a:r>
            <a:endParaRPr lang="en-US" sz="1000" dirty="0"/>
          </a:p>
        </p:txBody>
      </p:sp>
      <p:sp>
        <p:nvSpPr>
          <p:cNvPr id="22" name="Shape 19"/>
          <p:cNvSpPr/>
          <p:nvPr/>
        </p:nvSpPr>
        <p:spPr>
          <a:xfrm>
            <a:off x="5577840" y="2514600"/>
            <a:ext cx="1600200" cy="896112"/>
          </a:xfrm>
          <a:prstGeom prst="roundRect">
            <a:avLst>
              <a:gd name="adj" fmla="val 8163"/>
            </a:avLst>
          </a:prstGeom>
          <a:solidFill>
            <a:srgbClr val="F3F6FB"/>
          </a:solidFill>
          <a:ln w="12700">
            <a:solidFill>
              <a:srgbClr val="F3F6FB"/>
            </a:solidFill>
            <a:prstDash val="solid"/>
          </a:ln>
        </p:spPr>
      </p:sp>
      <p:sp>
        <p:nvSpPr>
          <p:cNvPr id="23" name="Text 20"/>
          <p:cNvSpPr txBox="1"/>
          <p:nvPr/>
        </p:nvSpPr>
        <p:spPr>
          <a:xfrm>
            <a:off x="5715000" y="260604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Stage forecast</a:t>
            </a:r>
            <a:endParaRPr lang="en-US" sz="1300" dirty="0"/>
          </a:p>
        </p:txBody>
      </p:sp>
      <p:sp>
        <p:nvSpPr>
          <p:cNvPr id="24" name="Text 21"/>
          <p:cNvSpPr txBox="1"/>
          <p:nvPr/>
        </p:nvSpPr>
        <p:spPr>
          <a:xfrm>
            <a:off x="5715000" y="289864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Monte Carlo, 2,000 runs</a:t>
            </a:r>
            <a:endParaRPr lang="en-US" sz="1000" dirty="0"/>
          </a:p>
        </p:txBody>
      </p:sp>
      <p:sp>
        <p:nvSpPr>
          <p:cNvPr id="25" name="Shape 22"/>
          <p:cNvSpPr/>
          <p:nvPr/>
        </p:nvSpPr>
        <p:spPr>
          <a:xfrm>
            <a:off x="7269480" y="2514600"/>
            <a:ext cx="1600200" cy="896112"/>
          </a:xfrm>
          <a:prstGeom prst="roundRect">
            <a:avLst>
              <a:gd name="adj" fmla="val 8163"/>
            </a:avLst>
          </a:prstGeom>
          <a:solidFill>
            <a:srgbClr val="F3F6FB"/>
          </a:solidFill>
          <a:ln w="12700">
            <a:solidFill>
              <a:srgbClr val="F3F6FB"/>
            </a:solidFill>
            <a:prstDash val="solid"/>
          </a:ln>
        </p:spPr>
      </p:sp>
      <p:sp>
        <p:nvSpPr>
          <p:cNvPr id="26" name="Text 23"/>
          <p:cNvSpPr txBox="1"/>
          <p:nvPr/>
        </p:nvSpPr>
        <p:spPr>
          <a:xfrm>
            <a:off x="7406640" y="260604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Rules &amp; impact</a:t>
            </a:r>
            <a:endParaRPr lang="en-US" sz="1300" dirty="0"/>
          </a:p>
        </p:txBody>
      </p:sp>
      <p:sp>
        <p:nvSpPr>
          <p:cNvPr id="27" name="Text 24"/>
          <p:cNvSpPr txBox="1"/>
          <p:nvPr/>
        </p:nvSpPr>
        <p:spPr>
          <a:xfrm>
            <a:off x="7406640" y="289864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owned actions, model what-if</a:t>
            </a:r>
            <a:endParaRPr lang="en-US" sz="1000" dirty="0"/>
          </a:p>
        </p:txBody>
      </p:sp>
      <p:sp>
        <p:nvSpPr>
          <p:cNvPr id="28" name="Shape 25"/>
          <p:cNvSpPr/>
          <p:nvPr/>
        </p:nvSpPr>
        <p:spPr>
          <a:xfrm>
            <a:off x="5577840" y="3520440"/>
            <a:ext cx="1600200" cy="896112"/>
          </a:xfrm>
          <a:prstGeom prst="roundRect">
            <a:avLst>
              <a:gd name="adj" fmla="val 8163"/>
            </a:avLst>
          </a:prstGeom>
          <a:solidFill>
            <a:srgbClr val="F3F6FB"/>
          </a:solidFill>
          <a:ln w="12700">
            <a:solidFill>
              <a:srgbClr val="F3F6FB"/>
            </a:solidFill>
            <a:prstDash val="solid"/>
          </a:ln>
        </p:spPr>
      </p:sp>
      <p:sp>
        <p:nvSpPr>
          <p:cNvPr id="29" name="Text 26"/>
          <p:cNvSpPr txBox="1"/>
          <p:nvPr/>
        </p:nvSpPr>
        <p:spPr>
          <a:xfrm>
            <a:off x="5715000" y="361188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Workflow</a:t>
            </a:r>
            <a:endParaRPr lang="en-US" sz="1300" dirty="0"/>
          </a:p>
        </p:txBody>
      </p:sp>
      <p:sp>
        <p:nvSpPr>
          <p:cNvPr id="30" name="Text 27"/>
          <p:cNvSpPr txBox="1"/>
          <p:nvPr/>
        </p:nvSpPr>
        <p:spPr>
          <a:xfrm>
            <a:off x="5715000" y="390448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interventions, alerts, escalation</a:t>
            </a:r>
            <a:endParaRPr lang="en-US" sz="1000" dirty="0"/>
          </a:p>
        </p:txBody>
      </p:sp>
      <p:sp>
        <p:nvSpPr>
          <p:cNvPr id="31" name="Shape 28"/>
          <p:cNvSpPr/>
          <p:nvPr/>
        </p:nvSpPr>
        <p:spPr>
          <a:xfrm>
            <a:off x="7269480" y="3520440"/>
            <a:ext cx="1600200" cy="896112"/>
          </a:xfrm>
          <a:prstGeom prst="roundRect">
            <a:avLst>
              <a:gd name="adj" fmla="val 8163"/>
            </a:avLst>
          </a:prstGeom>
          <a:solidFill>
            <a:srgbClr val="F3F6FB"/>
          </a:solidFill>
          <a:ln w="12700">
            <a:solidFill>
              <a:srgbClr val="F3F6FB"/>
            </a:solidFill>
            <a:prstDash val="solid"/>
          </a:ln>
        </p:spPr>
      </p:sp>
      <p:sp>
        <p:nvSpPr>
          <p:cNvPr id="32" name="Text 29"/>
          <p:cNvSpPr txBox="1"/>
          <p:nvPr/>
        </p:nvSpPr>
        <p:spPr>
          <a:xfrm>
            <a:off x="7406640" y="361188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Notifications</a:t>
            </a:r>
            <a:endParaRPr lang="en-US" sz="1300" dirty="0"/>
          </a:p>
        </p:txBody>
      </p:sp>
      <p:sp>
        <p:nvSpPr>
          <p:cNvPr id="33" name="Text 30"/>
          <p:cNvSpPr txBox="1"/>
          <p:nvPr/>
        </p:nvSpPr>
        <p:spPr>
          <a:xfrm>
            <a:off x="7406640" y="390448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in-app · email/SMS outbox · webhook</a:t>
            </a:r>
            <a:endParaRPr lang="en-US" sz="1000" dirty="0"/>
          </a:p>
        </p:txBody>
      </p:sp>
      <p:sp>
        <p:nvSpPr>
          <p:cNvPr id="34" name="Shape 31"/>
          <p:cNvSpPr/>
          <p:nvPr/>
        </p:nvSpPr>
        <p:spPr>
          <a:xfrm>
            <a:off x="5577840" y="4526280"/>
            <a:ext cx="1600200" cy="896112"/>
          </a:xfrm>
          <a:prstGeom prst="roundRect">
            <a:avLst>
              <a:gd name="adj" fmla="val 8163"/>
            </a:avLst>
          </a:prstGeom>
          <a:solidFill>
            <a:srgbClr val="F3F6FB"/>
          </a:solidFill>
          <a:ln w="12700">
            <a:solidFill>
              <a:srgbClr val="F3F6FB"/>
            </a:solidFill>
            <a:prstDash val="solid"/>
          </a:ln>
        </p:spPr>
      </p:sp>
      <p:sp>
        <p:nvSpPr>
          <p:cNvPr id="35" name="Text 32"/>
          <p:cNvSpPr txBox="1"/>
          <p:nvPr/>
        </p:nvSpPr>
        <p:spPr>
          <a:xfrm>
            <a:off x="5715000" y="461772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Analytics</a:t>
            </a:r>
            <a:endParaRPr lang="en-US" sz="1300" dirty="0"/>
          </a:p>
        </p:txBody>
      </p:sp>
      <p:sp>
        <p:nvSpPr>
          <p:cNvPr id="36" name="Text 33"/>
          <p:cNvSpPr txBox="1"/>
          <p:nvPr/>
        </p:nvSpPr>
        <p:spPr>
          <a:xfrm>
            <a:off x="5715000" y="491032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trends, KPIs, drill-down, GIS</a:t>
            </a:r>
            <a:endParaRPr lang="en-US" sz="1000" dirty="0"/>
          </a:p>
        </p:txBody>
      </p:sp>
      <p:sp>
        <p:nvSpPr>
          <p:cNvPr id="37" name="Shape 34"/>
          <p:cNvSpPr/>
          <p:nvPr/>
        </p:nvSpPr>
        <p:spPr>
          <a:xfrm>
            <a:off x="7269480" y="4526280"/>
            <a:ext cx="1600200" cy="896112"/>
          </a:xfrm>
          <a:prstGeom prst="roundRect">
            <a:avLst>
              <a:gd name="adj" fmla="val 8163"/>
            </a:avLst>
          </a:prstGeom>
          <a:solidFill>
            <a:srgbClr val="F3F6FB"/>
          </a:solidFill>
          <a:ln w="12700">
            <a:solidFill>
              <a:srgbClr val="F3F6FB"/>
            </a:solidFill>
            <a:prstDash val="solid"/>
          </a:ln>
        </p:spPr>
      </p:sp>
      <p:sp>
        <p:nvSpPr>
          <p:cNvPr id="38" name="Text 35"/>
          <p:cNvSpPr txBox="1"/>
          <p:nvPr/>
        </p:nvSpPr>
        <p:spPr>
          <a:xfrm>
            <a:off x="7406640" y="4617720"/>
            <a:ext cx="1325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Learning</a:t>
            </a:r>
            <a:endParaRPr lang="en-US" sz="1300" dirty="0"/>
          </a:p>
        </p:txBody>
      </p:sp>
      <p:sp>
        <p:nvSpPr>
          <p:cNvPr id="39" name="Text 36"/>
          <p:cNvSpPr txBox="1"/>
          <p:nvPr/>
        </p:nvSpPr>
        <p:spPr>
          <a:xfrm>
            <a:off x="7406640" y="4910328"/>
            <a:ext cx="1325880" cy="43891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outcomes, monitoring, drift, registry</a:t>
            </a:r>
            <a:endParaRPr lang="en-US" sz="1000" dirty="0"/>
          </a:p>
        </p:txBody>
      </p:sp>
      <p:sp>
        <p:nvSpPr>
          <p:cNvPr id="40" name="Shape 37"/>
          <p:cNvSpPr/>
          <p:nvPr/>
        </p:nvSpPr>
        <p:spPr>
          <a:xfrm>
            <a:off x="9098280" y="1508760"/>
            <a:ext cx="2514600" cy="1874520"/>
          </a:xfrm>
          <a:prstGeom prst="roundRect">
            <a:avLst>
              <a:gd name="adj" fmla="val 3902"/>
            </a:avLst>
          </a:prstGeom>
          <a:solidFill>
            <a:srgbClr val="FFF1D6"/>
          </a:solidFill>
          <a:ln w="12700">
            <a:solidFill>
              <a:srgbClr val="FFF1D6"/>
            </a:solidFill>
            <a:prstDash val="solid"/>
          </a:ln>
        </p:spPr>
      </p:sp>
      <p:sp>
        <p:nvSpPr>
          <p:cNvPr id="41" name="Text 38"/>
          <p:cNvSpPr txBox="1"/>
          <p:nvPr/>
        </p:nvSpPr>
        <p:spPr>
          <a:xfrm>
            <a:off x="9235440" y="1600200"/>
            <a:ext cx="22402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Data stores</a:t>
            </a:r>
            <a:endParaRPr lang="en-US" sz="1300" dirty="0"/>
          </a:p>
        </p:txBody>
      </p:sp>
      <p:sp>
        <p:nvSpPr>
          <p:cNvPr id="42" name="Text 39"/>
          <p:cNvSpPr txBox="1"/>
          <p:nvPr/>
        </p:nvSpPr>
        <p:spPr>
          <a:xfrm>
            <a:off x="9235440" y="1892808"/>
            <a:ext cx="2240280" cy="1417320"/>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 Columnar case store (43 MB, 3.5 lakh rows)</a:t>
            </a:r>
            <a:endParaRPr lang="en-US" sz="1000" dirty="0"/>
          </a:p>
          <a:p>
            <a:pPr indent="0" marL="0">
              <a:buNone/>
            </a:pPr>
            <a:r>
              <a:rPr lang="en-US" sz="1000" dirty="0">
                <a:solidFill>
                  <a:srgbClr val="5B6B82"/>
                </a:solidFill>
                <a:latin typeface="Calibri" pitchFamily="34" charset="0"/>
                <a:ea typeface="Calibri" pitchFamily="34" charset="-122"/>
                <a:cs typeface="Calibri" pitchFamily="34" charset="-120"/>
              </a:rPr>
              <a:t>• Runtime state + documents</a:t>
            </a:r>
            <a:endParaRPr lang="en-US" sz="1000" dirty="0"/>
          </a:p>
          <a:p>
            <a:pPr indent="0" marL="0">
              <a:buNone/>
            </a:pPr>
            <a:r>
              <a:rPr lang="en-US" sz="1000" dirty="0">
                <a:solidFill>
                  <a:srgbClr val="5B6B82"/>
                </a:solidFill>
                <a:latin typeface="Calibri" pitchFamily="34" charset="0"/>
                <a:ea typeface="Calibri" pitchFamily="34" charset="-122"/>
                <a:cs typeface="Calibri" pitchFamily="34" charset="-120"/>
              </a:rPr>
              <a:t>• Hash-chained audit log</a:t>
            </a:r>
            <a:endParaRPr lang="en-US" sz="1000" dirty="0"/>
          </a:p>
          <a:p>
            <a:pPr indent="0" marL="0">
              <a:buNone/>
            </a:pPr>
            <a:r>
              <a:rPr lang="en-US" sz="1000" dirty="0">
                <a:solidFill>
                  <a:srgbClr val="5B6B82"/>
                </a:solidFill>
                <a:latin typeface="Calibri" pitchFamily="34" charset="0"/>
                <a:ea typeface="Calibri" pitchFamily="34" charset="-122"/>
                <a:cs typeface="Calibri" pitchFamily="34" charset="-120"/>
              </a:rPr>
              <a:t>• Model registry &amp; archived versions</a:t>
            </a:r>
            <a:endParaRPr lang="en-US" sz="1000" dirty="0"/>
          </a:p>
        </p:txBody>
      </p:sp>
      <p:sp>
        <p:nvSpPr>
          <p:cNvPr id="43" name="Shape 40"/>
          <p:cNvSpPr/>
          <p:nvPr/>
        </p:nvSpPr>
        <p:spPr>
          <a:xfrm>
            <a:off x="9098280" y="3566160"/>
            <a:ext cx="2514600" cy="1874520"/>
          </a:xfrm>
          <a:prstGeom prst="roundRect">
            <a:avLst>
              <a:gd name="adj" fmla="val 3902"/>
            </a:avLst>
          </a:prstGeom>
          <a:solidFill>
            <a:srgbClr val="FDEDEF"/>
          </a:solidFill>
          <a:ln w="12700">
            <a:solidFill>
              <a:srgbClr val="FDEDEF"/>
            </a:solidFill>
            <a:prstDash val="solid"/>
          </a:ln>
        </p:spPr>
      </p:sp>
      <p:sp>
        <p:nvSpPr>
          <p:cNvPr id="44" name="Text 41"/>
          <p:cNvSpPr txBox="1"/>
          <p:nvPr/>
        </p:nvSpPr>
        <p:spPr>
          <a:xfrm>
            <a:off x="9235440" y="3657600"/>
            <a:ext cx="22402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Offline ML pipeline</a:t>
            </a:r>
            <a:endParaRPr lang="en-US" sz="1300" dirty="0"/>
          </a:p>
        </p:txBody>
      </p:sp>
      <p:sp>
        <p:nvSpPr>
          <p:cNvPr id="45" name="Text 42"/>
          <p:cNvSpPr txBox="1"/>
          <p:nvPr/>
        </p:nvSpPr>
        <p:spPr>
          <a:xfrm>
            <a:off x="9235440" y="3950208"/>
            <a:ext cx="2240280" cy="1417320"/>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Generator → ml/train.py (LR, GBM, RF, gate, refit, SHAP, export) → build-store → hot reload</a:t>
            </a:r>
            <a:endParaRPr lang="en-US" sz="1000" dirty="0"/>
          </a:p>
        </p:txBody>
      </p:sp>
      <p:sp>
        <p:nvSpPr>
          <p:cNvPr id="46" name="Shape 43"/>
          <p:cNvSpPr/>
          <p:nvPr/>
        </p:nvSpPr>
        <p:spPr>
          <a:xfrm>
            <a:off x="3154680" y="5577840"/>
            <a:ext cx="8458200" cy="685800"/>
          </a:xfrm>
          <a:prstGeom prst="roundRect">
            <a:avLst>
              <a:gd name="adj" fmla="val 10667"/>
            </a:avLst>
          </a:prstGeom>
          <a:solidFill>
            <a:srgbClr val="EEF1F6"/>
          </a:solidFill>
          <a:ln w="12700">
            <a:solidFill>
              <a:srgbClr val="EEF1F6"/>
            </a:solidFill>
            <a:prstDash val="solid"/>
          </a:ln>
        </p:spPr>
      </p:sp>
      <p:sp>
        <p:nvSpPr>
          <p:cNvPr id="47" name="Text 44"/>
          <p:cNvSpPr txBox="1"/>
          <p:nvPr/>
        </p:nvSpPr>
        <p:spPr>
          <a:xfrm>
            <a:off x="3291840" y="5669280"/>
            <a:ext cx="81838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Data integration layer</a:t>
            </a:r>
            <a:endParaRPr lang="en-US" sz="1300" dirty="0"/>
          </a:p>
        </p:txBody>
      </p:sp>
      <p:sp>
        <p:nvSpPr>
          <p:cNvPr id="48" name="Text 45"/>
          <p:cNvSpPr txBox="1"/>
          <p:nvPr/>
        </p:nvSpPr>
        <p:spPr>
          <a:xfrm>
            <a:off x="3291840" y="5961888"/>
            <a:ext cx="8183880" cy="228600"/>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9 provider contracts (land records, registration, courts, compensation, notifications, project status, clearances, GIS, admin units) · synthetic adapters today</a:t>
            </a:r>
            <a:endParaRPr lang="en-US" sz="1000" dirty="0"/>
          </a:p>
        </p:txBody>
      </p:sp>
      <p:sp>
        <p:nvSpPr>
          <p:cNvPr id="49" name="Shape 46"/>
          <p:cNvSpPr/>
          <p:nvPr/>
        </p:nvSpPr>
        <p:spPr>
          <a:xfrm>
            <a:off x="548640" y="5577840"/>
            <a:ext cx="2286000" cy="685800"/>
          </a:xfrm>
          <a:prstGeom prst="roundRect">
            <a:avLst>
              <a:gd name="adj" fmla="val 10667"/>
            </a:avLst>
          </a:prstGeom>
          <a:solidFill>
            <a:srgbClr val="EEF1F6"/>
          </a:solidFill>
          <a:ln w="12700">
            <a:solidFill>
              <a:srgbClr val="EEF1F6"/>
            </a:solidFill>
            <a:prstDash val="solid"/>
          </a:ln>
        </p:spPr>
      </p:sp>
      <p:sp>
        <p:nvSpPr>
          <p:cNvPr id="50" name="Text 47"/>
          <p:cNvSpPr txBox="1"/>
          <p:nvPr/>
        </p:nvSpPr>
        <p:spPr>
          <a:xfrm>
            <a:off x="685800" y="5669280"/>
            <a:ext cx="2011680" cy="292608"/>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Government sources (future)</a:t>
            </a:r>
            <a:endParaRPr lang="en-US" sz="1300" dirty="0"/>
          </a:p>
        </p:txBody>
      </p:sp>
      <p:sp>
        <p:nvSpPr>
          <p:cNvPr id="51" name="Text 48"/>
          <p:cNvSpPr txBox="1"/>
          <p:nvPr/>
        </p:nvSpPr>
        <p:spPr>
          <a:xfrm>
            <a:off x="685800" y="5961888"/>
            <a:ext cx="2011680" cy="228600"/>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DILRMP · eCourts · PFMS · PARIVESH · LGD</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WHAT A SOLUTION OF THIS KIND NEEDS, AND WHAT WE BUILT</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Suggested component-wise technology</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74520"/>
                <a:gridCol w="2148840"/>
                <a:gridCol w="4343400"/>
                <a:gridCol w="2697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Suggested technology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LandPulse AI implementation</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Production path</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User interface &amp; dashboards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React / Angular, charting library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React 18, TypeScript, Vite, Tailwind CSS, Recharts, Lucide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Same; accessibility audit, Hindi &amp; regional languages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GIS visualisation</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Leaflet / OpenLayers, PostGIS, Bhuvan</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Custom SVG GIS on Survey of India-aligned boundaries (INDIAN-SHAPEFILES), choropleth, clustering</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Bhuvan / PM Gati Shakti layers, PostGIS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Backend &amp; APIs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Node.js / Django / FastAPI, REST</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Node.js HTTP API (zero runtime deps), REST + OpenAPI 3 v1, API keys, webhooks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API gateway, containerised services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Machine learning</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scikit-learn, XGBoost, LightGBM</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scikit-learn HistGradientBoosting (+ logistic regression, random forest baselines); trees exported and scored in the API</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Same model family; per-state calibration on real data</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Explainable AI</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SHAP, LIME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TreeSHAP (Python shap) on all cases + exact TreeSHAP port in the API for new records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Same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Data processing</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pandas, NumPy, Spark</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pandas, NumPy; columnar binary case store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Spark / Airflow at national volume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Database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PostgreSQL / PostGIS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Columnar store + JSON runtime state (prototype)</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PostgreSQL + PostGIS with row-level security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Alerts &amp; notifications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Email / SMS gateway, push</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Scheduler, in-app centre, email &amp; SMS outbox adapters, webhooks, escalation</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NIC email / SMS gateway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Continuous learning (MLOps)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MLflow, Airflow</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Outcome ingestion, prospective monitoring, PSI drift, champion–challenger gate, registry, rollback</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MLflow tracking, scheduled pipelines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Security &amp; identity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OAuth2 / SSO, RBAC, audit</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scrypt passwords, lockout, hashed expiring sessions, 10 roles + jurisdiction, API scopes, SHA-256 hash-chained audit</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Government SSO with MFA, TLS, SIEM</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Integration</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ESB / API gateway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9 provider contracts with swappable adapters (synthetic today)</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DILRMP, NGDRS, eCourts/NJDG, PFMS, PARIVESH, LGD</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Deployment &amp; testing</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Docker, Kubernetes, CI</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Single Node process; 211 end-to-end tests, 56 data checks, 16 live consistency checks</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00" dirty="0">
                          <a:solidFill>
                            <a:srgbClr val="14213D"/>
                          </a:solidFill>
                          <a:latin typeface="Calibri" pitchFamily="34" charset="0"/>
                          <a:ea typeface="Calibri" pitchFamily="34" charset="-122"/>
                          <a:cs typeface="Calibri" pitchFamily="34" charset="-120"/>
                        </a:rPr>
                        <a:t>NIC cloud / MeghRaj, CI/CD</a:t>
                      </a:r>
                      <a:endParaRPr lang="en-US" sz="11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03</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Data &amp; machine learning</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How the data is built, how the model learns, and how a prediction becomes a risk score, a stage forecast and an explanation.</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SYNTHETIC CORPUS ON REAL FOUNDATIONS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The data we use — and what is real</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12</a:t>
            </a:r>
            <a:endParaRPr lang="en-US" sz="900" dirty="0"/>
          </a:p>
        </p:txBody>
      </p:sp>
      <p:sp>
        <p:nvSpPr>
          <p:cNvPr id="7" name="Text 4"/>
          <p:cNvSpPr txBox="1"/>
          <p:nvPr/>
        </p:nvSpPr>
        <p:spPr>
          <a:xfrm>
            <a:off x="548640" y="1554480"/>
            <a:ext cx="1920240" cy="685800"/>
          </a:xfrm>
          <a:prstGeom prst="rect">
            <a:avLst/>
          </a:prstGeom>
          <a:noFill/>
          <a:ln/>
        </p:spPr>
        <p:txBody>
          <a:bodyPr wrap="square" lIns="0" tIns="0" rIns="0" bIns="0" rtlCol="0" anchor="ctr"/>
          <a:lstStyle/>
          <a:p>
            <a:pPr indent="0" marL="0">
              <a:buNone/>
            </a:pPr>
            <a:r>
              <a:rPr lang="en-US" sz="3400" b="1" dirty="0">
                <a:solidFill>
                  <a:srgbClr val="3B72F0"/>
                </a:solidFill>
                <a:latin typeface="Calibri" pitchFamily="34" charset="0"/>
                <a:ea typeface="Calibri" pitchFamily="34" charset="-122"/>
                <a:cs typeface="Calibri" pitchFamily="34" charset="-120"/>
              </a:rPr>
              <a:t>3,50,000</a:t>
            </a:r>
            <a:endParaRPr lang="en-US" sz="3400" dirty="0"/>
          </a:p>
        </p:txBody>
      </p:sp>
      <p:sp>
        <p:nvSpPr>
          <p:cNvPr id="8" name="Text 5"/>
          <p:cNvSpPr txBox="1"/>
          <p:nvPr/>
        </p:nvSpPr>
        <p:spPr>
          <a:xfrm>
            <a:off x="548640" y="2231136"/>
            <a:ext cx="192024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parcel-level cases (60 columns)</a:t>
            </a:r>
            <a:endParaRPr lang="en-US" sz="1150" dirty="0"/>
          </a:p>
        </p:txBody>
      </p:sp>
      <p:sp>
        <p:nvSpPr>
          <p:cNvPr id="9" name="Text 6"/>
          <p:cNvSpPr txBox="1"/>
          <p:nvPr/>
        </p:nvSpPr>
        <p:spPr>
          <a:xfrm>
            <a:off x="2560320" y="1554480"/>
            <a:ext cx="1920240" cy="685800"/>
          </a:xfrm>
          <a:prstGeom prst="rect">
            <a:avLst/>
          </a:prstGeom>
          <a:noFill/>
          <a:ln/>
        </p:spPr>
        <p:txBody>
          <a:bodyPr wrap="square" lIns="0" tIns="0" rIns="0" bIns="0" rtlCol="0" anchor="ctr"/>
          <a:lstStyle/>
          <a:p>
            <a:pPr indent="0" marL="0">
              <a:buNone/>
            </a:pPr>
            <a:r>
              <a:rPr lang="en-US" sz="3400" b="1" dirty="0">
                <a:solidFill>
                  <a:srgbClr val="3B72F0"/>
                </a:solidFill>
                <a:latin typeface="Calibri" pitchFamily="34" charset="0"/>
                <a:ea typeface="Calibri" pitchFamily="34" charset="-122"/>
                <a:cs typeface="Calibri" pitchFamily="34" charset="-120"/>
              </a:rPr>
              <a:t>312</a:t>
            </a:r>
            <a:endParaRPr lang="en-US" sz="3400" dirty="0"/>
          </a:p>
        </p:txBody>
      </p:sp>
      <p:sp>
        <p:nvSpPr>
          <p:cNvPr id="10" name="Text 7"/>
          <p:cNvSpPr txBox="1"/>
          <p:nvPr/>
        </p:nvSpPr>
        <p:spPr>
          <a:xfrm>
            <a:off x="2560320" y="2231136"/>
            <a:ext cx="192024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projects, 11 project types</a:t>
            </a:r>
            <a:endParaRPr lang="en-US" sz="1150" dirty="0"/>
          </a:p>
        </p:txBody>
      </p:sp>
      <p:sp>
        <p:nvSpPr>
          <p:cNvPr id="11" name="Text 8"/>
          <p:cNvSpPr txBox="1"/>
          <p:nvPr/>
        </p:nvSpPr>
        <p:spPr>
          <a:xfrm>
            <a:off x="4572000" y="1554480"/>
            <a:ext cx="1920240" cy="685800"/>
          </a:xfrm>
          <a:prstGeom prst="rect">
            <a:avLst/>
          </a:prstGeom>
          <a:noFill/>
          <a:ln/>
        </p:spPr>
        <p:txBody>
          <a:bodyPr wrap="square" lIns="0" tIns="0" rIns="0" bIns="0" rtlCol="0" anchor="ctr"/>
          <a:lstStyle/>
          <a:p>
            <a:pPr indent="0" marL="0">
              <a:buNone/>
            </a:pPr>
            <a:r>
              <a:rPr lang="en-US" sz="3400" b="1" dirty="0">
                <a:solidFill>
                  <a:srgbClr val="3B72F0"/>
                </a:solidFill>
                <a:latin typeface="Calibri" pitchFamily="34" charset="0"/>
                <a:ea typeface="Calibri" pitchFamily="34" charset="-122"/>
                <a:cs typeface="Calibri" pitchFamily="34" charset="-120"/>
              </a:rPr>
              <a:t>25</a:t>
            </a:r>
            <a:endParaRPr lang="en-US" sz="3400" dirty="0"/>
          </a:p>
        </p:txBody>
      </p:sp>
      <p:sp>
        <p:nvSpPr>
          <p:cNvPr id="12" name="Text 9"/>
          <p:cNvSpPr txBox="1"/>
          <p:nvPr/>
        </p:nvSpPr>
        <p:spPr>
          <a:xfrm>
            <a:off x="4572000" y="2231136"/>
            <a:ext cx="192024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States in the corpus</a:t>
            </a:r>
            <a:endParaRPr lang="en-US" sz="1150" dirty="0"/>
          </a:p>
        </p:txBody>
      </p:sp>
      <p:sp>
        <p:nvSpPr>
          <p:cNvPr id="13" name="Text 10"/>
          <p:cNvSpPr txBox="1"/>
          <p:nvPr/>
        </p:nvSpPr>
        <p:spPr>
          <a:xfrm>
            <a:off x="548640" y="2880360"/>
            <a:ext cx="1920240" cy="685800"/>
          </a:xfrm>
          <a:prstGeom prst="rect">
            <a:avLst/>
          </a:prstGeom>
          <a:noFill/>
          <a:ln/>
        </p:spPr>
        <p:txBody>
          <a:bodyPr wrap="square" lIns="0" tIns="0" rIns="0" bIns="0" rtlCol="0" anchor="ctr"/>
          <a:lstStyle/>
          <a:p>
            <a:pPr indent="0" marL="0">
              <a:buNone/>
            </a:pPr>
            <a:r>
              <a:rPr lang="en-US" sz="3400" b="1" dirty="0">
                <a:solidFill>
                  <a:srgbClr val="0EA5A4"/>
                </a:solidFill>
                <a:latin typeface="Calibri" pitchFamily="34" charset="0"/>
                <a:ea typeface="Calibri" pitchFamily="34" charset="-122"/>
                <a:cs typeface="Calibri" pitchFamily="34" charset="-120"/>
              </a:rPr>
              <a:t>265</a:t>
            </a:r>
            <a:endParaRPr lang="en-US" sz="3400" dirty="0"/>
          </a:p>
        </p:txBody>
      </p:sp>
      <p:sp>
        <p:nvSpPr>
          <p:cNvPr id="14" name="Text 11"/>
          <p:cNvSpPr txBox="1"/>
          <p:nvPr/>
        </p:nvSpPr>
        <p:spPr>
          <a:xfrm>
            <a:off x="548640" y="3557016"/>
            <a:ext cx="192024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districts (real polygons)</a:t>
            </a:r>
            <a:endParaRPr lang="en-US" sz="1150" dirty="0"/>
          </a:p>
        </p:txBody>
      </p:sp>
      <p:sp>
        <p:nvSpPr>
          <p:cNvPr id="15" name="Text 12"/>
          <p:cNvSpPr txBox="1"/>
          <p:nvPr/>
        </p:nvSpPr>
        <p:spPr>
          <a:xfrm>
            <a:off x="2560320" y="2880360"/>
            <a:ext cx="1920240" cy="685800"/>
          </a:xfrm>
          <a:prstGeom prst="rect">
            <a:avLst/>
          </a:prstGeom>
          <a:noFill/>
          <a:ln/>
        </p:spPr>
        <p:txBody>
          <a:bodyPr wrap="square" lIns="0" tIns="0" rIns="0" bIns="0" rtlCol="0" anchor="ctr"/>
          <a:lstStyle/>
          <a:p>
            <a:pPr indent="0" marL="0">
              <a:buNone/>
            </a:pPr>
            <a:r>
              <a:rPr lang="en-US" sz="3400" b="1" dirty="0">
                <a:solidFill>
                  <a:srgbClr val="0EA5A4"/>
                </a:solidFill>
                <a:latin typeface="Calibri" pitchFamily="34" charset="0"/>
                <a:ea typeface="Calibri" pitchFamily="34" charset="-122"/>
                <a:cs typeface="Calibri" pitchFamily="34" charset="-120"/>
              </a:rPr>
              <a:t>2,92,077</a:t>
            </a:r>
            <a:endParaRPr lang="en-US" sz="3400" dirty="0"/>
          </a:p>
        </p:txBody>
      </p:sp>
      <p:sp>
        <p:nvSpPr>
          <p:cNvPr id="16" name="Text 13"/>
          <p:cNvSpPr txBox="1"/>
          <p:nvPr/>
        </p:nvSpPr>
        <p:spPr>
          <a:xfrm>
            <a:off x="2560320" y="3557016"/>
            <a:ext cx="192024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cases with a known outcome</a:t>
            </a:r>
            <a:endParaRPr lang="en-US" sz="1150" dirty="0"/>
          </a:p>
        </p:txBody>
      </p:sp>
      <p:sp>
        <p:nvSpPr>
          <p:cNvPr id="17" name="Text 14"/>
          <p:cNvSpPr txBox="1"/>
          <p:nvPr/>
        </p:nvSpPr>
        <p:spPr>
          <a:xfrm>
            <a:off x="4572000" y="2880360"/>
            <a:ext cx="1920240" cy="685800"/>
          </a:xfrm>
          <a:prstGeom prst="rect">
            <a:avLst/>
          </a:prstGeom>
          <a:noFill/>
          <a:ln/>
        </p:spPr>
        <p:txBody>
          <a:bodyPr wrap="square" lIns="0" tIns="0" rIns="0" bIns="0" rtlCol="0" anchor="ctr"/>
          <a:lstStyle/>
          <a:p>
            <a:pPr indent="0" marL="0">
              <a:buNone/>
            </a:pPr>
            <a:r>
              <a:rPr lang="en-US" sz="3400" b="1" dirty="0">
                <a:solidFill>
                  <a:srgbClr val="0EA5A4"/>
                </a:solidFill>
                <a:latin typeface="Calibri" pitchFamily="34" charset="0"/>
                <a:ea typeface="Calibri" pitchFamily="34" charset="-122"/>
                <a:cs typeface="Calibri" pitchFamily="34" charset="-120"/>
              </a:rPr>
              <a:t>57,923</a:t>
            </a:r>
            <a:endParaRPr lang="en-US" sz="3400" dirty="0"/>
          </a:p>
        </p:txBody>
      </p:sp>
      <p:sp>
        <p:nvSpPr>
          <p:cNvPr id="18" name="Text 15"/>
          <p:cNvSpPr txBox="1"/>
          <p:nvPr/>
        </p:nvSpPr>
        <p:spPr>
          <a:xfrm>
            <a:off x="4572000" y="3557016"/>
            <a:ext cx="192024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open cases scored live</a:t>
            </a:r>
            <a:endParaRPr lang="en-US" sz="1150" dirty="0"/>
          </a:p>
        </p:txBody>
      </p:sp>
      <p:sp>
        <p:nvSpPr>
          <p:cNvPr id="19" name="Shape 16"/>
          <p:cNvSpPr/>
          <p:nvPr/>
        </p:nvSpPr>
        <p:spPr>
          <a:xfrm>
            <a:off x="6766560" y="1508760"/>
            <a:ext cx="2331720" cy="4480560"/>
          </a:xfrm>
          <a:prstGeom prst="roundRect">
            <a:avLst>
              <a:gd name="adj" fmla="val 3137"/>
            </a:avLst>
          </a:prstGeom>
          <a:solidFill>
            <a:srgbClr val="E6F7F1"/>
          </a:solidFill>
          <a:ln w="12700">
            <a:solidFill>
              <a:srgbClr val="E6F7F1"/>
            </a:solidFill>
            <a:prstDash val="solid"/>
          </a:ln>
        </p:spPr>
      </p:sp>
      <p:sp>
        <p:nvSpPr>
          <p:cNvPr id="20" name="Text 17"/>
          <p:cNvSpPr txBox="1"/>
          <p:nvPr/>
        </p:nvSpPr>
        <p:spPr>
          <a:xfrm>
            <a:off x="6949440" y="1645920"/>
            <a:ext cx="2011680" cy="411480"/>
          </a:xfrm>
          <a:prstGeom prst="rect">
            <a:avLst/>
          </a:prstGeom>
          <a:noFill/>
          <a:ln/>
        </p:spPr>
        <p:txBody>
          <a:bodyPr wrap="square" lIns="0" tIns="0" rIns="0" bIns="0" rtlCol="0" anchor="ctr"/>
          <a:lstStyle/>
          <a:p>
            <a:pPr indent="0" marL="0">
              <a:buNone/>
            </a:pPr>
            <a:r>
              <a:rPr lang="en-US" sz="2000" b="1" dirty="0">
                <a:solidFill>
                  <a:srgbClr val="0B7A52"/>
                </a:solidFill>
                <a:latin typeface="Calibri" pitchFamily="34" charset="0"/>
                <a:ea typeface="Calibri" pitchFamily="34" charset="-122"/>
                <a:cs typeface="Calibri" pitchFamily="34" charset="-120"/>
              </a:rPr>
              <a:t>Real</a:t>
            </a:r>
            <a:endParaRPr lang="en-US" sz="2000" dirty="0"/>
          </a:p>
        </p:txBody>
      </p:sp>
      <p:sp>
        <p:nvSpPr>
          <p:cNvPr id="21" name="Text 18"/>
          <p:cNvSpPr txBox="1"/>
          <p:nvPr/>
        </p:nvSpPr>
        <p:spPr>
          <a:xfrm>
            <a:off x="6949440" y="2148840"/>
            <a:ext cx="2011680" cy="37490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State, district and taluk names</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Administrative boundaries (Survey of India depiction)</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Statutory frameworks and stage sequence</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Authority and dependency structure (configured from statute)</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Case coordinates fall inside real district polygons</a:t>
            </a:r>
            <a:endParaRPr lang="en-US" sz="1150" dirty="0"/>
          </a:p>
        </p:txBody>
      </p:sp>
      <p:sp>
        <p:nvSpPr>
          <p:cNvPr id="22" name="Shape 19"/>
          <p:cNvSpPr/>
          <p:nvPr/>
        </p:nvSpPr>
        <p:spPr>
          <a:xfrm>
            <a:off x="9281160" y="1508760"/>
            <a:ext cx="2331720" cy="4480560"/>
          </a:xfrm>
          <a:prstGeom prst="roundRect">
            <a:avLst>
              <a:gd name="adj" fmla="val 3137"/>
            </a:avLst>
          </a:prstGeom>
          <a:solidFill>
            <a:srgbClr val="FDEDEF"/>
          </a:solidFill>
          <a:ln w="12700">
            <a:solidFill>
              <a:srgbClr val="FDEDEF"/>
            </a:solidFill>
            <a:prstDash val="solid"/>
          </a:ln>
        </p:spPr>
      </p:sp>
      <p:sp>
        <p:nvSpPr>
          <p:cNvPr id="23" name="Text 20"/>
          <p:cNvSpPr txBox="1"/>
          <p:nvPr/>
        </p:nvSpPr>
        <p:spPr>
          <a:xfrm>
            <a:off x="9464040" y="1645920"/>
            <a:ext cx="2011680" cy="411480"/>
          </a:xfrm>
          <a:prstGeom prst="rect">
            <a:avLst/>
          </a:prstGeom>
          <a:noFill/>
          <a:ln/>
        </p:spPr>
        <p:txBody>
          <a:bodyPr wrap="square" lIns="0" tIns="0" rIns="0" bIns="0" rtlCol="0" anchor="ctr"/>
          <a:lstStyle/>
          <a:p>
            <a:pPr indent="0" marL="0">
              <a:buNone/>
            </a:pPr>
            <a:r>
              <a:rPr lang="en-US" sz="2000" b="1" dirty="0">
                <a:solidFill>
                  <a:srgbClr val="E11D48"/>
                </a:solidFill>
                <a:latin typeface="Calibri" pitchFamily="34" charset="0"/>
                <a:ea typeface="Calibri" pitchFamily="34" charset="-122"/>
                <a:cs typeface="Calibri" pitchFamily="34" charset="-120"/>
              </a:rPr>
              <a:t>Synthetic</a:t>
            </a:r>
            <a:endParaRPr lang="en-US" sz="2000" dirty="0"/>
          </a:p>
        </p:txBody>
      </p:sp>
      <p:sp>
        <p:nvSpPr>
          <p:cNvPr id="24" name="Text 21"/>
          <p:cNvSpPr txBox="1"/>
          <p:nvPr/>
        </p:nvSpPr>
        <p:spPr>
          <a:xfrm>
            <a:off x="9464040" y="2148840"/>
            <a:ext cx="2011680" cy="374904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Every project, parcel, owner, date and amount</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Delay outcomes (from a documented formula)</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District &amp; authority historical delay rates</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Project names describe the kind of work only</a:t>
            </a:r>
            <a:endParaRPr lang="en-US" sz="1150" dirty="0"/>
          </a:p>
          <a:p>
            <a:pPr marL="342900" indent="-342900">
              <a:spcAft>
                <a:spcPts val="600"/>
              </a:spcAft>
              <a:buSzPct val="100000"/>
              <a:buChar char="•"/>
            </a:pPr>
            <a:r>
              <a:rPr lang="en-US" sz="1150" dirty="0">
                <a:solidFill>
                  <a:srgbClr val="14213D"/>
                </a:solidFill>
                <a:latin typeface="Calibri" pitchFamily="34" charset="0"/>
                <a:ea typeface="Calibri" pitchFamily="34" charset="-122"/>
                <a:cs typeface="Calibri" pitchFamily="34" charset="-120"/>
              </a:rPr>
              <a:t>Seeded — byte-identical on every run</a:t>
            </a:r>
            <a:endParaRPr lang="en-US" sz="1150" dirty="0"/>
          </a:p>
        </p:txBody>
      </p:sp>
      <p:sp>
        <p:nvSpPr>
          <p:cNvPr id="25" name="Shape 22"/>
          <p:cNvSpPr/>
          <p:nvPr/>
        </p:nvSpPr>
        <p:spPr>
          <a:xfrm>
            <a:off x="548640" y="4343400"/>
            <a:ext cx="5943600" cy="1645920"/>
          </a:xfrm>
          <a:prstGeom prst="roundRect">
            <a:avLst>
              <a:gd name="adj" fmla="val 4444"/>
            </a:avLst>
          </a:prstGeom>
          <a:solidFill>
            <a:srgbClr val="F3F6FB"/>
          </a:solidFill>
          <a:ln w="12700">
            <a:solidFill>
              <a:srgbClr val="F3F6FB"/>
            </a:solidFill>
            <a:prstDash val="solid"/>
          </a:ln>
        </p:spPr>
      </p:sp>
      <p:sp>
        <p:nvSpPr>
          <p:cNvPr id="26" name="Text 23"/>
          <p:cNvSpPr txBox="1"/>
          <p:nvPr/>
        </p:nvSpPr>
        <p:spPr>
          <a:xfrm>
            <a:off x="777240" y="4480560"/>
            <a:ext cx="548640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Data quality realism</a:t>
            </a:r>
            <a:endParaRPr lang="en-US" sz="1400" dirty="0"/>
          </a:p>
        </p:txBody>
      </p:sp>
      <p:sp>
        <p:nvSpPr>
          <p:cNvPr id="27" name="Text 24"/>
          <p:cNvSpPr txBox="1"/>
          <p:nvPr/>
        </p:nvSpPr>
        <p:spPr>
          <a:xfrm>
            <a:off x="777240" y="4846320"/>
            <a:ext cx="5577840" cy="109728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Missing values injected (1–4% in 7 fields), right-censored recent outcomes, uneven state and type mix, parcels progressing ahead of their project, residual case backlogs in completed stages. A per-case data-quality score is shown wherever a case appears.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WHY OUR ACCURACY IS NOT A REAL-WORLD CLAIM</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How delay outcomes are generated — stated openly</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13</a:t>
            </a:r>
            <a:endParaRPr lang="en-US" sz="900" dirty="0"/>
          </a:p>
        </p:txBody>
      </p:sp>
      <p:sp>
        <p:nvSpPr>
          <p:cNvPr id="7" name="Shape 4"/>
          <p:cNvSpPr/>
          <p:nvPr/>
        </p:nvSpPr>
        <p:spPr>
          <a:xfrm>
            <a:off x="548640" y="1508760"/>
            <a:ext cx="6400800" cy="3017520"/>
          </a:xfrm>
          <a:prstGeom prst="roundRect">
            <a:avLst>
              <a:gd name="adj" fmla="val 2424"/>
            </a:avLst>
          </a:prstGeom>
          <a:solidFill>
            <a:srgbClr val="0B1B34"/>
          </a:solidFill>
          <a:ln w="12700">
            <a:solidFill>
              <a:srgbClr val="0B1B34"/>
            </a:solidFill>
            <a:prstDash val="solid"/>
          </a:ln>
        </p:spPr>
      </p:sp>
      <p:sp>
        <p:nvSpPr>
          <p:cNvPr id="8" name="Text 5"/>
          <p:cNvSpPr txBox="1"/>
          <p:nvPr/>
        </p:nvSpPr>
        <p:spPr>
          <a:xfrm>
            <a:off x="777240" y="1645920"/>
            <a:ext cx="6035040" cy="320040"/>
          </a:xfrm>
          <a:prstGeom prst="rect">
            <a:avLst/>
          </a:prstGeom>
          <a:noFill/>
          <a:ln/>
        </p:spPr>
        <p:txBody>
          <a:bodyPr wrap="square" lIns="0" tIns="0" rIns="0" bIns="0" rtlCol="0" anchor="ctr"/>
          <a:lstStyle/>
          <a:p>
            <a:pPr indent="0" marL="0">
              <a:buNone/>
            </a:pPr>
            <a:r>
              <a:rPr lang="en-US" sz="1300" b="1" dirty="0">
                <a:solidFill>
                  <a:srgbClr val="F59E0B"/>
                </a:solidFill>
                <a:latin typeface="Calibri" pitchFamily="34" charset="0"/>
                <a:ea typeface="Calibri" pitchFamily="34" charset="-122"/>
                <a:cs typeface="Calibri" pitchFamily="34" charset="-120"/>
              </a:rPr>
              <a:t>Latent delay propensity (scripts/generate-dataset.mjs)</a:t>
            </a:r>
            <a:endParaRPr lang="en-US" sz="1300" dirty="0"/>
          </a:p>
        </p:txBody>
      </p:sp>
      <p:sp>
        <p:nvSpPr>
          <p:cNvPr id="9" name="Text 6"/>
          <p:cNvSpPr txBox="1"/>
          <p:nvPr/>
        </p:nvSpPr>
        <p:spPr>
          <a:xfrm>
            <a:off x="777240" y="2057400"/>
            <a:ext cx="6035040" cy="2286000"/>
          </a:xfrm>
          <a:prstGeom prst="rect">
            <a:avLst/>
          </a:prstGeom>
          <a:noFill/>
          <a:ln/>
        </p:spPr>
        <p:txBody>
          <a:bodyPr wrap="square" lIns="0" tIns="0" rIns="0" bIns="0" rtlCol="0" anchor="t"/>
          <a:lstStyle/>
          <a:p>
            <a:pPr indent="0" marL="0">
              <a:buNone/>
            </a:pPr>
            <a:r>
              <a:rPr lang="en-US" sz="1100" dirty="0">
                <a:solidFill>
                  <a:srgbClr val="E6ECF5"/>
                </a:solidFill>
                <a:latin typeface="Courier New" pitchFamily="34" charset="0"/>
                <a:ea typeface="Courier New" pitchFamily="34" charset="-122"/>
                <a:cs typeface="Courier New" pitchFamily="34" charset="-120"/>
              </a:rPr>
              <a:t>z = gain × ( 2.0·schedule slack + 0.9·unpaid compensation</a:t>
            </a:r>
            <a:endParaRPr lang="en-US" sz="1100" dirty="0"/>
          </a:p>
          <a:p>
            <a:pPr indent="0" marL="0">
              <a:buNone/>
            </a:pPr>
            <a:r>
              <a:rPr lang="en-US" sz="1100" dirty="0">
                <a:solidFill>
                  <a:srgbClr val="E6ECF5"/>
                </a:solidFill>
                <a:latin typeface="Courier New" pitchFamily="34" charset="0"/>
                <a:ea typeface="Courier New" pitchFamily="34" charset="-122"/>
                <a:cs typeface="Courier New" pitchFamily="34" charset="-120"/>
              </a:rPr>
              <a:t>    + 0.75·legal cases + 0.8·inactivity + 0.65·documentation gap</a:t>
            </a:r>
            <a:endParaRPr lang="en-US" sz="1100" dirty="0"/>
          </a:p>
          <a:p>
            <a:pPr indent="0" marL="0">
              <a:buNone/>
            </a:pPr>
            <a:r>
              <a:rPr lang="en-US" sz="1100" dirty="0">
                <a:solidFill>
                  <a:srgbClr val="E6ECF5"/>
                </a:solidFill>
                <a:latin typeface="Courier New" pitchFamily="34" charset="0"/>
                <a:ea typeface="Courier New" pitchFamily="34" charset="-122"/>
                <a:cs typeface="Courier New" pitchFamily="34" charset="-120"/>
              </a:rPr>
              <a:t>    + 0.6·pending department actions + 0.55·approval delay</a:t>
            </a:r>
            <a:endParaRPr lang="en-US" sz="1100" dirty="0"/>
          </a:p>
          <a:p>
            <a:pPr indent="0" marL="0">
              <a:buNone/>
            </a:pPr>
            <a:r>
              <a:rPr lang="en-US" sz="1100" dirty="0">
                <a:solidFill>
                  <a:srgbClr val="E6ECF5"/>
                </a:solidFill>
                <a:latin typeface="Courier New" pitchFamily="34" charset="0"/>
                <a:ea typeface="Courier New" pitchFamily="34" charset="-122"/>
                <a:cs typeface="Courier New" pitchFamily="34" charset="-120"/>
              </a:rPr>
              <a:t>    + district / authority / stage history + interactions</a:t>
            </a:r>
            <a:endParaRPr lang="en-US" sz="1100" dirty="0"/>
          </a:p>
          <a:p>
            <a:pPr indent="0" marL="0">
              <a:buNone/>
            </a:pPr>
            <a:r>
              <a:rPr lang="en-US" sz="1100" dirty="0">
                <a:solidFill>
                  <a:srgbClr val="E6ECF5"/>
                </a:solidFill>
                <a:latin typeface="Courier New" pitchFamily="34" charset="0"/>
                <a:ea typeface="Courier New" pitchFamily="34" charset="-122"/>
                <a:cs typeface="Courier New" pitchFamily="34" charset="-120"/>
              </a:rPr>
              <a:t>    + hidden noise ) + intercept</a:t>
            </a:r>
            <a:endParaRPr lang="en-US" sz="1100" dirty="0"/>
          </a:p>
          <a:p>
            <a:pPr indent="0" marL="0">
              <a:buNone/>
            </a:pPr>
            <a:r>
              <a:rPr lang="en-US" sz="1100" dirty="0">
                <a:solidFill>
                  <a:srgbClr val="E6ECF5"/>
                </a:solidFill>
                <a:latin typeface="Courier New" pitchFamily="34" charset="0"/>
                <a:ea typeface="Courier New" pitchFamily="34" charset="-122"/>
                <a:cs typeface="Courier New" pitchFamily="34" charset="-120"/>
              </a:rPr>
              <a:t>delayed ~ Bernoulli( sigmoid(z) )   ·   target positive rate ≈ 36%</a:t>
            </a:r>
            <a:endParaRPr lang="en-US" sz="1100" dirty="0"/>
          </a:p>
        </p:txBody>
      </p:sp>
      <p:sp>
        <p:nvSpPr>
          <p:cNvPr id="10" name="Shape 7"/>
          <p:cNvSpPr/>
          <p:nvPr/>
        </p:nvSpPr>
        <p:spPr>
          <a:xfrm>
            <a:off x="7223760" y="1508760"/>
            <a:ext cx="4389120" cy="3017520"/>
          </a:xfrm>
          <a:prstGeom prst="roundRect">
            <a:avLst>
              <a:gd name="adj" fmla="val 2424"/>
            </a:avLst>
          </a:prstGeom>
          <a:solidFill>
            <a:srgbClr val="F3F6FB"/>
          </a:solidFill>
          <a:ln w="12700">
            <a:solidFill>
              <a:srgbClr val="F3F6FB"/>
            </a:solidFill>
            <a:prstDash val="solid"/>
          </a:ln>
        </p:spPr>
      </p:sp>
      <p:sp>
        <p:nvSpPr>
          <p:cNvPr id="11" name="Text 8"/>
          <p:cNvSpPr txBox="1"/>
          <p:nvPr/>
        </p:nvSpPr>
        <p:spPr>
          <a:xfrm>
            <a:off x="7452360" y="1645920"/>
            <a:ext cx="393192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What this means</a:t>
            </a:r>
            <a:endParaRPr lang="en-US" sz="1600" dirty="0"/>
          </a:p>
        </p:txBody>
      </p:sp>
      <p:sp>
        <p:nvSpPr>
          <p:cNvPr id="12" name="Text 9"/>
          <p:cNvSpPr txBox="1"/>
          <p:nvPr/>
        </p:nvSpPr>
        <p:spPr>
          <a:xfrm>
            <a:off x="7452360" y="2057400"/>
            <a:ext cx="397764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The weights encode commonly cited delay causes; they are our assumptions</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A hidden noise term means no single field decides the outcome (AUC ceiling ≈ 0.84)</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The model re-learns this structure: metrics prove the pipeline, not real-world accuracy</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Outcomes of open cases are withheld and released later to demonstrate learning</a:t>
            </a:r>
            <a:endParaRPr lang="en-US" sz="1250" dirty="0"/>
          </a:p>
        </p:txBody>
      </p:sp>
      <p:sp>
        <p:nvSpPr>
          <p:cNvPr id="13" name="Shape 10"/>
          <p:cNvSpPr/>
          <p:nvPr/>
        </p:nvSpPr>
        <p:spPr>
          <a:xfrm>
            <a:off x="548640" y="4754880"/>
            <a:ext cx="11064240" cy="1280160"/>
          </a:xfrm>
          <a:prstGeom prst="roundRect">
            <a:avLst>
              <a:gd name="adj" fmla="val 5714"/>
            </a:avLst>
          </a:prstGeom>
          <a:solidFill>
            <a:srgbClr val="FFF1D6"/>
          </a:solidFill>
          <a:ln w="12700">
            <a:solidFill>
              <a:srgbClr val="FFF1D6"/>
            </a:solidFill>
            <a:prstDash val="solid"/>
          </a:ln>
        </p:spPr>
      </p:sp>
      <p:sp>
        <p:nvSpPr>
          <p:cNvPr id="14" name="Shape 11"/>
          <p:cNvSpPr/>
          <p:nvPr/>
        </p:nvSpPr>
        <p:spPr>
          <a:xfrm>
            <a:off x="777240" y="5010912"/>
            <a:ext cx="731520" cy="731520"/>
          </a:xfrm>
          <a:prstGeom prst="ellipse">
            <a:avLst/>
          </a:prstGeom>
          <a:solidFill>
            <a:srgbClr val="F59E0B"/>
          </a:solidFill>
          <a:ln w="12700">
            <a:solidFill>
              <a:srgbClr val="F59E0B"/>
            </a:solidFill>
            <a:prstDash val="solid"/>
          </a:ln>
        </p:spPr>
      </p:sp>
      <p:pic>
        <p:nvPicPr>
          <p:cNvPr id="15" name="Image 0" descr="preencoded.png">    </p:cNvPr>
          <p:cNvPicPr>
            <a:picLocks noChangeAspect="1"/>
          </p:cNvPicPr>
          <p:nvPr/>
        </p:nvPicPr>
        <p:blipFill>
          <a:blip r:embed="rId1"/>
          <a:stretch>
            <a:fillRect/>
          </a:stretch>
        </p:blipFill>
        <p:spPr>
          <a:xfrm>
            <a:off x="952805" y="5186477"/>
            <a:ext cx="380390" cy="380390"/>
          </a:xfrm>
          <a:prstGeom prst="rect">
            <a:avLst/>
          </a:prstGeom>
        </p:spPr>
      </p:pic>
      <p:sp>
        <p:nvSpPr>
          <p:cNvPr id="16" name="Text 12"/>
          <p:cNvSpPr txBox="1"/>
          <p:nvPr/>
        </p:nvSpPr>
        <p:spPr>
          <a:xfrm>
            <a:off x="1737360" y="4937760"/>
            <a:ext cx="9692640" cy="91440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With real data, the same pipeline re-fits and re-validates on authorised historical acquisition records — per State and per project type — before any figure is used for decisions.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EVERY PARAMETER IS AN INPUT THE MODEL ACTUALLY USES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The 10 SIH parameters in the model</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560320"/>
                <a:gridCol w="6309360"/>
                <a:gridCol w="219456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SIH parameter</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Model inputs (feature columns)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Status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Project type</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project_type (11 types) + type-specific dependency network and rule thresholds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Land area</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land_area_ha (parcel), log area, project_land_requirement_ha</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Number of affected families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affected_families, log families, rehabilitation_cases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Compensation status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compensation_status, completion %, days pending, unpaid share</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Approval timelines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approval_status, approval_delay_days, department_response_days, pending department actions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Legal disputes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legal_dispute, legal_case_count, dispute_complexity</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Possession status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possession_status (Not initiated → Complete)</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Rehabilitation progress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rr_required, rr_progress_percentage, rr_status, R&amp;R pending share</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b="1" dirty="0">
                          <a:solidFill>
                            <a:srgbClr val="0B7A52"/>
                          </a:solidFill>
                          <a:latin typeface="Calibri" pitchFamily="34" charset="0"/>
                          <a:ea typeface="Calibri" pitchFamily="34" charset="-122"/>
                          <a:cs typeface="Calibri" pitchFamily="34" charset="-120"/>
                        </a:rPr>
                        <a:t>Implemented</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Stakeholder responsiveness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stakeholder_responsiveness (Low / Moderate / High)</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50" b="1" dirty="0">
                          <a:solidFill>
                            <a:srgbClr val="9A5B00"/>
                          </a:solidFill>
                          <a:latin typeface="Calibri" pitchFamily="34" charset="0"/>
                          <a:ea typeface="Calibri" pitchFamily="34" charset="-122"/>
                          <a:cs typeface="Calibri" pitchFamily="34" charset="-120"/>
                        </a:rPr>
                        <a:t>Partial — coarse rating</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1D6"/>
                    </a:solidFill>
                  </a:tcPr>
                </a:tc>
              </a:tr>
              <a:tr h="0">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Historical performance</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dirty="0">
                          <a:solidFill>
                            <a:srgbClr val="14213D"/>
                          </a:solidFill>
                          <a:latin typeface="Calibri" pitchFamily="34" charset="0"/>
                          <a:ea typeface="Calibri" pitchFamily="34" charset="-122"/>
                          <a:cs typeface="Calibri" pitchFamily="34" charset="-120"/>
                        </a:rPr>
                        <a:t>stage, district and authority historical delay rates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350" b="1" dirty="0">
                          <a:solidFill>
                            <a:srgbClr val="9A5B00"/>
                          </a:solidFill>
                          <a:latin typeface="Calibri" pitchFamily="34" charset="0"/>
                          <a:ea typeface="Calibri" pitchFamily="34" charset="-122"/>
                          <a:cs typeface="Calibri" pitchFamily="34" charset="-120"/>
                        </a:rPr>
                        <a:t>Partial — synthetic rates</a:t>
                      </a:r>
                      <a:endParaRPr lang="en-US" sz="13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1D6"/>
                    </a:solidFill>
                  </a:tcPr>
                </a:tc>
              </a:tr>
            </a:tbl>
          </a:graphicData>
        </a:graphic>
      </p:graphicFrame>
      <p:sp>
        <p:nvSpPr>
          <p:cNvPr id="8" name="Text 4"/>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150" i="1" dirty="0">
                <a:solidFill>
                  <a:srgbClr val="5B6B82"/>
                </a:solidFill>
                <a:latin typeface="Calibri" pitchFamily="34" charset="0"/>
                <a:ea typeface="Calibri" pitchFamily="34" charset="-122"/>
                <a:cs typeface="Calibri" pitchFamily="34" charset="-120"/>
              </a:rPr>
              <a:t>Plus: documentation completeness, verification, inactivity, schedule pressure, ownership complexity, dependency count and coordination — 83 engineered features in total. State, authority and coordinates are deliberately not features, so a State or district the model has never seen is scored on its signals, not mis-mapped.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TRAIN HONESTLY, COMPARE, GATE, PUBLISH</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The machine learning pipeline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15</a:t>
            </a:r>
            <a:endParaRPr lang="en-US" sz="900" dirty="0"/>
          </a:p>
        </p:txBody>
      </p:sp>
      <p:sp>
        <p:nvSpPr>
          <p:cNvPr id="7" name="Shape 4"/>
          <p:cNvSpPr/>
          <p:nvPr/>
        </p:nvSpPr>
        <p:spPr>
          <a:xfrm>
            <a:off x="548640" y="1645920"/>
            <a:ext cx="1630680" cy="2057400"/>
          </a:xfrm>
          <a:prstGeom prst="roundRect">
            <a:avLst>
              <a:gd name="adj" fmla="val 4486"/>
            </a:avLst>
          </a:prstGeom>
          <a:solidFill>
            <a:srgbClr val="F3F6FB"/>
          </a:solidFill>
          <a:ln w="12700">
            <a:solidFill>
              <a:srgbClr val="F3F6FB"/>
            </a:solidFill>
            <a:prstDash val="solid"/>
          </a:ln>
        </p:spPr>
      </p:sp>
      <p:sp>
        <p:nvSpPr>
          <p:cNvPr id="8" name="Shape 5"/>
          <p:cNvSpPr/>
          <p:nvPr/>
        </p:nvSpPr>
        <p:spPr>
          <a:xfrm>
            <a:off x="676656" y="1773936"/>
            <a:ext cx="402336" cy="402336"/>
          </a:xfrm>
          <a:prstGeom prst="ellipse">
            <a:avLst/>
          </a:prstGeom>
          <a:solidFill>
            <a:srgbClr val="3B72F0"/>
          </a:solidFill>
          <a:ln w="12700">
            <a:solidFill>
              <a:srgbClr val="3B72F0"/>
            </a:solidFill>
            <a:prstDash val="solid"/>
          </a:ln>
        </p:spPr>
      </p:sp>
      <p:pic>
        <p:nvPicPr>
          <p:cNvPr id="9" name="Image 0" descr="preencoded.png">    </p:cNvPr>
          <p:cNvPicPr>
            <a:picLocks noChangeAspect="1"/>
          </p:cNvPicPr>
          <p:nvPr/>
        </p:nvPicPr>
        <p:blipFill>
          <a:blip r:embed="rId1"/>
          <a:stretch>
            <a:fillRect/>
          </a:stretch>
        </p:blipFill>
        <p:spPr>
          <a:xfrm>
            <a:off x="773217" y="1870497"/>
            <a:ext cx="209215" cy="209215"/>
          </a:xfrm>
          <a:prstGeom prst="rect">
            <a:avLst/>
          </a:prstGeom>
        </p:spPr>
      </p:pic>
      <p:sp>
        <p:nvSpPr>
          <p:cNvPr id="10" name="Text 6"/>
          <p:cNvSpPr txBox="1"/>
          <p:nvPr/>
        </p:nvSpPr>
        <p:spPr>
          <a:xfrm>
            <a:off x="676656" y="223113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1 · Time-aware split</a:t>
            </a:r>
            <a:endParaRPr lang="en-US" sz="1250" dirty="0"/>
          </a:p>
        </p:txBody>
      </p:sp>
      <p:sp>
        <p:nvSpPr>
          <p:cNvPr id="11" name="Text 7"/>
          <p:cNvSpPr txBox="1"/>
          <p:nvPr/>
        </p:nvSpPr>
        <p:spPr>
          <a:xfrm>
            <a:off x="676656" y="2496312"/>
            <a:ext cx="1429512" cy="11612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Train 2,04,453 (to 2026-06-08) · validate 43,812 · test 43,812 (to 2026-09-11)</a:t>
            </a:r>
            <a:endParaRPr lang="en-US" sz="950" dirty="0"/>
          </a:p>
        </p:txBody>
      </p:sp>
      <p:sp>
        <p:nvSpPr>
          <p:cNvPr id="12" name="Shape 8"/>
          <p:cNvSpPr/>
          <p:nvPr/>
        </p:nvSpPr>
        <p:spPr>
          <a:xfrm>
            <a:off x="2215896" y="2592324"/>
            <a:ext cx="182880" cy="164592"/>
          </a:xfrm>
          <a:prstGeom prst="rightArrow">
            <a:avLst/>
          </a:prstGeom>
          <a:solidFill>
            <a:srgbClr val="F59E0B"/>
          </a:solidFill>
          <a:ln w="12700">
            <a:solidFill>
              <a:srgbClr val="F59E0B"/>
            </a:solidFill>
            <a:prstDash val="solid"/>
          </a:ln>
        </p:spPr>
      </p:sp>
      <p:sp>
        <p:nvSpPr>
          <p:cNvPr id="13" name="Shape 9"/>
          <p:cNvSpPr/>
          <p:nvPr/>
        </p:nvSpPr>
        <p:spPr>
          <a:xfrm>
            <a:off x="2435352" y="1645920"/>
            <a:ext cx="1630680" cy="2057400"/>
          </a:xfrm>
          <a:prstGeom prst="roundRect">
            <a:avLst>
              <a:gd name="adj" fmla="val 4486"/>
            </a:avLst>
          </a:prstGeom>
          <a:solidFill>
            <a:srgbClr val="F3F6FB"/>
          </a:solidFill>
          <a:ln w="12700">
            <a:solidFill>
              <a:srgbClr val="F3F6FB"/>
            </a:solidFill>
            <a:prstDash val="solid"/>
          </a:ln>
        </p:spPr>
      </p:sp>
      <p:sp>
        <p:nvSpPr>
          <p:cNvPr id="14" name="Shape 10"/>
          <p:cNvSpPr/>
          <p:nvPr/>
        </p:nvSpPr>
        <p:spPr>
          <a:xfrm>
            <a:off x="2563368" y="1773936"/>
            <a:ext cx="402336" cy="402336"/>
          </a:xfrm>
          <a:prstGeom prst="ellipse">
            <a:avLst/>
          </a:prstGeom>
          <a:solidFill>
            <a:srgbClr val="3B72F0"/>
          </a:solidFill>
          <a:ln w="12700">
            <a:solidFill>
              <a:srgbClr val="3B72F0"/>
            </a:solidFill>
            <a:prstDash val="solid"/>
          </a:ln>
        </p:spPr>
      </p:sp>
      <p:pic>
        <p:nvPicPr>
          <p:cNvPr id="15" name="Image 1" descr="preencoded.png">    </p:cNvPr>
          <p:cNvPicPr>
            <a:picLocks noChangeAspect="1"/>
          </p:cNvPicPr>
          <p:nvPr/>
        </p:nvPicPr>
        <p:blipFill>
          <a:blip r:embed="rId2"/>
          <a:stretch>
            <a:fillRect/>
          </a:stretch>
        </p:blipFill>
        <p:spPr>
          <a:xfrm>
            <a:off x="2659929" y="1870497"/>
            <a:ext cx="209215" cy="209215"/>
          </a:xfrm>
          <a:prstGeom prst="rect">
            <a:avLst/>
          </a:prstGeom>
        </p:spPr>
      </p:pic>
      <p:sp>
        <p:nvSpPr>
          <p:cNvPr id="16" name="Text 11"/>
          <p:cNvSpPr txBox="1"/>
          <p:nvPr/>
        </p:nvSpPr>
        <p:spPr>
          <a:xfrm>
            <a:off x="2563368" y="223113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2 · Compare models</a:t>
            </a:r>
            <a:endParaRPr lang="en-US" sz="1250" dirty="0"/>
          </a:p>
        </p:txBody>
      </p:sp>
      <p:sp>
        <p:nvSpPr>
          <p:cNvPr id="17" name="Text 12"/>
          <p:cNvSpPr txBox="1"/>
          <p:nvPr/>
        </p:nvSpPr>
        <p:spPr>
          <a:xfrm>
            <a:off x="2563368" y="2496312"/>
            <a:ext cx="1429512" cy="11612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Logistic regression baseline, histogram gradient boosting, random forest</a:t>
            </a:r>
            <a:endParaRPr lang="en-US" sz="950" dirty="0"/>
          </a:p>
        </p:txBody>
      </p:sp>
      <p:sp>
        <p:nvSpPr>
          <p:cNvPr id="18" name="Shape 13"/>
          <p:cNvSpPr/>
          <p:nvPr/>
        </p:nvSpPr>
        <p:spPr>
          <a:xfrm>
            <a:off x="4102608" y="2592324"/>
            <a:ext cx="182880" cy="164592"/>
          </a:xfrm>
          <a:prstGeom prst="rightArrow">
            <a:avLst/>
          </a:prstGeom>
          <a:solidFill>
            <a:srgbClr val="F59E0B"/>
          </a:solidFill>
          <a:ln w="12700">
            <a:solidFill>
              <a:srgbClr val="F59E0B"/>
            </a:solidFill>
            <a:prstDash val="solid"/>
          </a:ln>
        </p:spPr>
      </p:sp>
      <p:sp>
        <p:nvSpPr>
          <p:cNvPr id="19" name="Shape 14"/>
          <p:cNvSpPr/>
          <p:nvPr/>
        </p:nvSpPr>
        <p:spPr>
          <a:xfrm>
            <a:off x="4322064" y="1645920"/>
            <a:ext cx="1630680" cy="2057400"/>
          </a:xfrm>
          <a:prstGeom prst="roundRect">
            <a:avLst>
              <a:gd name="adj" fmla="val 4486"/>
            </a:avLst>
          </a:prstGeom>
          <a:solidFill>
            <a:srgbClr val="F3F6FB"/>
          </a:solidFill>
          <a:ln w="12700">
            <a:solidFill>
              <a:srgbClr val="F3F6FB"/>
            </a:solidFill>
            <a:prstDash val="solid"/>
          </a:ln>
        </p:spPr>
      </p:sp>
      <p:sp>
        <p:nvSpPr>
          <p:cNvPr id="20" name="Shape 15"/>
          <p:cNvSpPr/>
          <p:nvPr/>
        </p:nvSpPr>
        <p:spPr>
          <a:xfrm>
            <a:off x="4450080" y="1773936"/>
            <a:ext cx="402336" cy="402336"/>
          </a:xfrm>
          <a:prstGeom prst="ellipse">
            <a:avLst/>
          </a:prstGeom>
          <a:solidFill>
            <a:srgbClr val="0EA5A4"/>
          </a:solidFill>
          <a:ln w="12700">
            <a:solidFill>
              <a:srgbClr val="0EA5A4"/>
            </a:solidFill>
            <a:prstDash val="solid"/>
          </a:ln>
        </p:spPr>
      </p:sp>
      <p:pic>
        <p:nvPicPr>
          <p:cNvPr id="21" name="Image 2" descr="preencoded.png">    </p:cNvPr>
          <p:cNvPicPr>
            <a:picLocks noChangeAspect="1"/>
          </p:cNvPicPr>
          <p:nvPr/>
        </p:nvPicPr>
        <p:blipFill>
          <a:blip r:embed="rId3"/>
          <a:stretch>
            <a:fillRect/>
          </a:stretch>
        </p:blipFill>
        <p:spPr>
          <a:xfrm>
            <a:off x="4546641" y="1870497"/>
            <a:ext cx="209215" cy="209215"/>
          </a:xfrm>
          <a:prstGeom prst="rect">
            <a:avLst/>
          </a:prstGeom>
        </p:spPr>
      </p:pic>
      <p:sp>
        <p:nvSpPr>
          <p:cNvPr id="22" name="Text 16"/>
          <p:cNvSpPr txBox="1"/>
          <p:nvPr/>
        </p:nvSpPr>
        <p:spPr>
          <a:xfrm>
            <a:off x="4450080" y="223113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3 · Threshold</a:t>
            </a:r>
            <a:endParaRPr lang="en-US" sz="1250" dirty="0"/>
          </a:p>
        </p:txBody>
      </p:sp>
      <p:sp>
        <p:nvSpPr>
          <p:cNvPr id="23" name="Text 17"/>
          <p:cNvSpPr txBox="1"/>
          <p:nvPr/>
        </p:nvSpPr>
        <p:spPr>
          <a:xfrm>
            <a:off x="4450080" y="2496312"/>
            <a:ext cx="1429512" cy="11612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Operating threshold 0.3337 chosen on validation (best F1)</a:t>
            </a:r>
            <a:endParaRPr lang="en-US" sz="950" dirty="0"/>
          </a:p>
        </p:txBody>
      </p:sp>
      <p:sp>
        <p:nvSpPr>
          <p:cNvPr id="24" name="Shape 18"/>
          <p:cNvSpPr/>
          <p:nvPr/>
        </p:nvSpPr>
        <p:spPr>
          <a:xfrm>
            <a:off x="5989320" y="2592324"/>
            <a:ext cx="182880" cy="164592"/>
          </a:xfrm>
          <a:prstGeom prst="rightArrow">
            <a:avLst/>
          </a:prstGeom>
          <a:solidFill>
            <a:srgbClr val="F59E0B"/>
          </a:solidFill>
          <a:ln w="12700">
            <a:solidFill>
              <a:srgbClr val="F59E0B"/>
            </a:solidFill>
            <a:prstDash val="solid"/>
          </a:ln>
        </p:spPr>
      </p:sp>
      <p:sp>
        <p:nvSpPr>
          <p:cNvPr id="25" name="Shape 19"/>
          <p:cNvSpPr/>
          <p:nvPr/>
        </p:nvSpPr>
        <p:spPr>
          <a:xfrm>
            <a:off x="6208776" y="1645920"/>
            <a:ext cx="1630680" cy="2057400"/>
          </a:xfrm>
          <a:prstGeom prst="roundRect">
            <a:avLst>
              <a:gd name="adj" fmla="val 4486"/>
            </a:avLst>
          </a:prstGeom>
          <a:solidFill>
            <a:srgbClr val="F3F6FB"/>
          </a:solidFill>
          <a:ln w="12700">
            <a:solidFill>
              <a:srgbClr val="F3F6FB"/>
            </a:solidFill>
            <a:prstDash val="solid"/>
          </a:ln>
        </p:spPr>
      </p:sp>
      <p:sp>
        <p:nvSpPr>
          <p:cNvPr id="26" name="Shape 20"/>
          <p:cNvSpPr/>
          <p:nvPr/>
        </p:nvSpPr>
        <p:spPr>
          <a:xfrm>
            <a:off x="6336792" y="1773936"/>
            <a:ext cx="402336" cy="402336"/>
          </a:xfrm>
          <a:prstGeom prst="ellipse">
            <a:avLst/>
          </a:prstGeom>
          <a:solidFill>
            <a:srgbClr val="0EA5A4"/>
          </a:solidFill>
          <a:ln w="12700">
            <a:solidFill>
              <a:srgbClr val="0EA5A4"/>
            </a:solidFill>
            <a:prstDash val="solid"/>
          </a:ln>
        </p:spPr>
      </p:sp>
      <p:pic>
        <p:nvPicPr>
          <p:cNvPr id="27" name="Image 3" descr="preencoded.png">    </p:cNvPr>
          <p:cNvPicPr>
            <a:picLocks noChangeAspect="1"/>
          </p:cNvPicPr>
          <p:nvPr/>
        </p:nvPicPr>
        <p:blipFill>
          <a:blip r:embed="rId4"/>
          <a:stretch>
            <a:fillRect/>
          </a:stretch>
        </p:blipFill>
        <p:spPr>
          <a:xfrm>
            <a:off x="6433353" y="1870497"/>
            <a:ext cx="209215" cy="209215"/>
          </a:xfrm>
          <a:prstGeom prst="rect">
            <a:avLst/>
          </a:prstGeom>
        </p:spPr>
      </p:pic>
      <p:sp>
        <p:nvSpPr>
          <p:cNvPr id="28" name="Text 21"/>
          <p:cNvSpPr txBox="1"/>
          <p:nvPr/>
        </p:nvSpPr>
        <p:spPr>
          <a:xfrm>
            <a:off x="6336792" y="223113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4 · Gate</a:t>
            </a:r>
            <a:endParaRPr lang="en-US" sz="1250" dirty="0"/>
          </a:p>
        </p:txBody>
      </p:sp>
      <p:sp>
        <p:nvSpPr>
          <p:cNvPr id="29" name="Text 22"/>
          <p:cNvSpPr txBox="1"/>
          <p:nvPr/>
        </p:nvSpPr>
        <p:spPr>
          <a:xfrm>
            <a:off x="6336792" y="2496312"/>
            <a:ext cx="1429512" cy="11612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Challenger vs serving champion on the same latest window</a:t>
            </a:r>
            <a:endParaRPr lang="en-US" sz="950" dirty="0"/>
          </a:p>
        </p:txBody>
      </p:sp>
      <p:sp>
        <p:nvSpPr>
          <p:cNvPr id="30" name="Shape 23"/>
          <p:cNvSpPr/>
          <p:nvPr/>
        </p:nvSpPr>
        <p:spPr>
          <a:xfrm>
            <a:off x="7876032" y="2592324"/>
            <a:ext cx="182880" cy="164592"/>
          </a:xfrm>
          <a:prstGeom prst="rightArrow">
            <a:avLst/>
          </a:prstGeom>
          <a:solidFill>
            <a:srgbClr val="F59E0B"/>
          </a:solidFill>
          <a:ln w="12700">
            <a:solidFill>
              <a:srgbClr val="F59E0B"/>
            </a:solidFill>
            <a:prstDash val="solid"/>
          </a:ln>
        </p:spPr>
      </p:sp>
      <p:sp>
        <p:nvSpPr>
          <p:cNvPr id="31" name="Shape 24"/>
          <p:cNvSpPr/>
          <p:nvPr/>
        </p:nvSpPr>
        <p:spPr>
          <a:xfrm>
            <a:off x="8095488" y="1645920"/>
            <a:ext cx="1630680" cy="2057400"/>
          </a:xfrm>
          <a:prstGeom prst="roundRect">
            <a:avLst>
              <a:gd name="adj" fmla="val 4486"/>
            </a:avLst>
          </a:prstGeom>
          <a:solidFill>
            <a:srgbClr val="F3F6FB"/>
          </a:solidFill>
          <a:ln w="12700">
            <a:solidFill>
              <a:srgbClr val="F3F6FB"/>
            </a:solidFill>
            <a:prstDash val="solid"/>
          </a:ln>
        </p:spPr>
      </p:sp>
      <p:sp>
        <p:nvSpPr>
          <p:cNvPr id="32" name="Shape 25"/>
          <p:cNvSpPr/>
          <p:nvPr/>
        </p:nvSpPr>
        <p:spPr>
          <a:xfrm>
            <a:off x="8223504" y="1773936"/>
            <a:ext cx="402336" cy="402336"/>
          </a:xfrm>
          <a:prstGeom prst="ellipse">
            <a:avLst/>
          </a:prstGeom>
          <a:solidFill>
            <a:srgbClr val="F59E0B"/>
          </a:solidFill>
          <a:ln w="12700">
            <a:solidFill>
              <a:srgbClr val="F59E0B"/>
            </a:solidFill>
            <a:prstDash val="solid"/>
          </a:ln>
        </p:spPr>
      </p:sp>
      <p:pic>
        <p:nvPicPr>
          <p:cNvPr id="33" name="Image 4" descr="preencoded.png">    </p:cNvPr>
          <p:cNvPicPr>
            <a:picLocks noChangeAspect="1"/>
          </p:cNvPicPr>
          <p:nvPr/>
        </p:nvPicPr>
        <p:blipFill>
          <a:blip r:embed="rId5"/>
          <a:stretch>
            <a:fillRect/>
          </a:stretch>
        </p:blipFill>
        <p:spPr>
          <a:xfrm>
            <a:off x="8320065" y="1870497"/>
            <a:ext cx="209215" cy="209215"/>
          </a:xfrm>
          <a:prstGeom prst="rect">
            <a:avLst/>
          </a:prstGeom>
        </p:spPr>
      </p:pic>
      <p:sp>
        <p:nvSpPr>
          <p:cNvPr id="34" name="Text 26"/>
          <p:cNvSpPr txBox="1"/>
          <p:nvPr/>
        </p:nvSpPr>
        <p:spPr>
          <a:xfrm>
            <a:off x="8223504" y="223113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5 · Refit &amp; export</a:t>
            </a:r>
            <a:endParaRPr lang="en-US" sz="1250" dirty="0"/>
          </a:p>
        </p:txBody>
      </p:sp>
      <p:sp>
        <p:nvSpPr>
          <p:cNvPr id="35" name="Text 27"/>
          <p:cNvSpPr txBox="1"/>
          <p:nvPr/>
        </p:nvSpPr>
        <p:spPr>
          <a:xfrm>
            <a:off x="8223504" y="2496312"/>
            <a:ext cx="1429512" cy="11612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Refit on all labelled rows; trees exported, parity 0 vs scikit-learn</a:t>
            </a:r>
            <a:endParaRPr lang="en-US" sz="950" dirty="0"/>
          </a:p>
        </p:txBody>
      </p:sp>
      <p:sp>
        <p:nvSpPr>
          <p:cNvPr id="36" name="Shape 28"/>
          <p:cNvSpPr/>
          <p:nvPr/>
        </p:nvSpPr>
        <p:spPr>
          <a:xfrm>
            <a:off x="9762744" y="2592324"/>
            <a:ext cx="182880" cy="164592"/>
          </a:xfrm>
          <a:prstGeom prst="rightArrow">
            <a:avLst/>
          </a:prstGeom>
          <a:solidFill>
            <a:srgbClr val="F59E0B"/>
          </a:solidFill>
          <a:ln w="12700">
            <a:solidFill>
              <a:srgbClr val="F59E0B"/>
            </a:solidFill>
            <a:prstDash val="solid"/>
          </a:ln>
        </p:spPr>
      </p:sp>
      <p:sp>
        <p:nvSpPr>
          <p:cNvPr id="37" name="Shape 29"/>
          <p:cNvSpPr/>
          <p:nvPr/>
        </p:nvSpPr>
        <p:spPr>
          <a:xfrm>
            <a:off x="9982200" y="1645920"/>
            <a:ext cx="1630680" cy="2057400"/>
          </a:xfrm>
          <a:prstGeom prst="roundRect">
            <a:avLst>
              <a:gd name="adj" fmla="val 4486"/>
            </a:avLst>
          </a:prstGeom>
          <a:solidFill>
            <a:srgbClr val="F3F6FB"/>
          </a:solidFill>
          <a:ln w="12700">
            <a:solidFill>
              <a:srgbClr val="F3F6FB"/>
            </a:solidFill>
            <a:prstDash val="solid"/>
          </a:ln>
        </p:spPr>
      </p:sp>
      <p:sp>
        <p:nvSpPr>
          <p:cNvPr id="38" name="Shape 30"/>
          <p:cNvSpPr/>
          <p:nvPr/>
        </p:nvSpPr>
        <p:spPr>
          <a:xfrm>
            <a:off x="10110216" y="1773936"/>
            <a:ext cx="402336" cy="402336"/>
          </a:xfrm>
          <a:prstGeom prst="ellipse">
            <a:avLst/>
          </a:prstGeom>
          <a:solidFill>
            <a:srgbClr val="10B981"/>
          </a:solidFill>
          <a:ln w="12700">
            <a:solidFill>
              <a:srgbClr val="10B981"/>
            </a:solidFill>
            <a:prstDash val="solid"/>
          </a:ln>
        </p:spPr>
      </p:sp>
      <p:pic>
        <p:nvPicPr>
          <p:cNvPr id="39" name="Image 5" descr="preencoded.png">    </p:cNvPr>
          <p:cNvPicPr>
            <a:picLocks noChangeAspect="1"/>
          </p:cNvPicPr>
          <p:nvPr/>
        </p:nvPicPr>
        <p:blipFill>
          <a:blip r:embed="rId6"/>
          <a:stretch>
            <a:fillRect/>
          </a:stretch>
        </p:blipFill>
        <p:spPr>
          <a:xfrm>
            <a:off x="10206777" y="1870497"/>
            <a:ext cx="209215" cy="209215"/>
          </a:xfrm>
          <a:prstGeom prst="rect">
            <a:avLst/>
          </a:prstGeom>
        </p:spPr>
      </p:pic>
      <p:sp>
        <p:nvSpPr>
          <p:cNvPr id="40" name="Text 31"/>
          <p:cNvSpPr txBox="1"/>
          <p:nvPr/>
        </p:nvSpPr>
        <p:spPr>
          <a:xfrm>
            <a:off x="10110216" y="223113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6 · Explain &amp; publish</a:t>
            </a:r>
            <a:endParaRPr lang="en-US" sz="1250" dirty="0"/>
          </a:p>
        </p:txBody>
      </p:sp>
      <p:sp>
        <p:nvSpPr>
          <p:cNvPr id="41" name="Text 32"/>
          <p:cNvSpPr txBox="1"/>
          <p:nvPr/>
        </p:nvSpPr>
        <p:spPr>
          <a:xfrm>
            <a:off x="10110216" y="2496312"/>
            <a:ext cx="1429512" cy="11612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TreeSHAP for every case, registry entry, store rebuild, hot reload</a:t>
            </a:r>
            <a:endParaRPr lang="en-US" sz="950" dirty="0"/>
          </a:p>
        </p:txBody>
      </p:sp>
      <p:sp>
        <p:nvSpPr>
          <p:cNvPr id="42" name="Shape 33"/>
          <p:cNvSpPr/>
          <p:nvPr/>
        </p:nvSpPr>
        <p:spPr>
          <a:xfrm>
            <a:off x="548640" y="3977640"/>
            <a:ext cx="5486400" cy="2103120"/>
          </a:xfrm>
          <a:prstGeom prst="roundRect">
            <a:avLst>
              <a:gd name="adj" fmla="val 3478"/>
            </a:avLst>
          </a:prstGeom>
          <a:solidFill>
            <a:srgbClr val="F3F6FB"/>
          </a:solidFill>
          <a:ln w="12700">
            <a:solidFill>
              <a:srgbClr val="F3F6FB"/>
            </a:solidFill>
            <a:prstDash val="solid"/>
          </a:ln>
        </p:spPr>
      </p:sp>
      <p:sp>
        <p:nvSpPr>
          <p:cNvPr id="43" name="Text 34"/>
          <p:cNvSpPr txBox="1"/>
          <p:nvPr/>
        </p:nvSpPr>
        <p:spPr>
          <a:xfrm>
            <a:off x="777240" y="4114800"/>
            <a:ext cx="502920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Target variable</a:t>
            </a:r>
            <a:endParaRPr lang="en-US" sz="1500" dirty="0"/>
          </a:p>
        </p:txBody>
      </p:sp>
      <p:sp>
        <p:nvSpPr>
          <p:cNvPr id="44" name="Text 35"/>
          <p:cNvSpPr txBox="1"/>
          <p:nvPr/>
        </p:nvSpPr>
        <p:spPr>
          <a:xfrm>
            <a:off x="777240" y="4480560"/>
            <a:ext cx="5074920" cy="1554480"/>
          </a:xfrm>
          <a:prstGeom prst="rect">
            <a:avLst/>
          </a:prstGeom>
          <a:noFill/>
          <a:ln/>
        </p:spPr>
        <p:txBody>
          <a:bodyPr wrap="square" lIns="0" tIns="0" rIns="0" bIns="0" rtlCol="0" anchor="t"/>
          <a:lstStyle/>
          <a:p>
            <a:pPr indent="0" marL="0">
              <a:buNone/>
            </a:pPr>
            <a:r>
              <a:rPr lang="en-US" sz="1250" dirty="0">
                <a:solidFill>
                  <a:srgbClr val="5B6B82"/>
                </a:solidFill>
                <a:latin typeface="Calibri" pitchFamily="34" charset="0"/>
                <a:ea typeface="Calibri" pitchFamily="34" charset="-122"/>
                <a:cs typeface="Calibri" pitchFamily="34" charset="-120"/>
              </a:rPr>
              <a:t>next_milestone_delayed = 1 when a case's current-stage milestone slips by more than 30 days. Trained only on cases whose outcome is already knowable (36.1% delayed). A second regressor predicts slip days given a delay: expected slip = P(delay) × slip days.</a:t>
            </a:r>
            <a:endParaRPr lang="en-US" sz="1250" dirty="0"/>
          </a:p>
        </p:txBody>
      </p:sp>
      <p:sp>
        <p:nvSpPr>
          <p:cNvPr id="45" name="Shape 36"/>
          <p:cNvSpPr/>
          <p:nvPr/>
        </p:nvSpPr>
        <p:spPr>
          <a:xfrm>
            <a:off x="6217920" y="3977640"/>
            <a:ext cx="5394960" cy="2103120"/>
          </a:xfrm>
          <a:prstGeom prst="roundRect">
            <a:avLst>
              <a:gd name="adj" fmla="val 3478"/>
            </a:avLst>
          </a:prstGeom>
          <a:solidFill>
            <a:srgbClr val="F3F6FB"/>
          </a:solidFill>
          <a:ln w="12700">
            <a:solidFill>
              <a:srgbClr val="F3F6FB"/>
            </a:solidFill>
            <a:prstDash val="solid"/>
          </a:ln>
        </p:spPr>
      </p:sp>
      <p:sp>
        <p:nvSpPr>
          <p:cNvPr id="46" name="Text 37"/>
          <p:cNvSpPr txBox="1"/>
          <p:nvPr/>
        </p:nvSpPr>
        <p:spPr>
          <a:xfrm>
            <a:off x="6446520" y="4114800"/>
            <a:ext cx="502920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Leakage and overfitting controls</a:t>
            </a:r>
            <a:endParaRPr lang="en-US" sz="1500" dirty="0"/>
          </a:p>
        </p:txBody>
      </p:sp>
      <p:sp>
        <p:nvSpPr>
          <p:cNvPr id="47" name="Text 38"/>
          <p:cNvSpPr txBox="1"/>
          <p:nvPr/>
        </p:nvSpPr>
        <p:spPr>
          <a:xfrm>
            <a:off x="6446520" y="4480560"/>
            <a:ext cx="498348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Outcomes and actual slip days are never features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Chronological split, no shuffling; imputation fitted on training window only</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Early stopping, minimum leaf size, L2 regularisation</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Metrics reported per project type and per stage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TEST WINDOW — SYNTHETIC DATA</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Model performance on held-out future data</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48640" y="150876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0" y="1554480"/>
          <a:ext cx="4754880" cy="914400"/>
        </p:xfrm>
        <a:graphic>
          <a:graphicData uri="http://schemas.openxmlformats.org/drawingml/2006/table">
            <a:tbl>
              <a:tblPr/>
              <a:tblGrid>
                <a:gridCol w="1234440"/>
                <a:gridCol w="731520"/>
                <a:gridCol w="278892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Metric (deployed)</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ROC-AUC</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A delayed case outranks an on-time case 83% of the time</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PR-AUC</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0.716</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Test positive rate 31%; a random ranking would score about that</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Precision</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0.610</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Of flagged cases, this share really slips</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Recall</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0.707</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Of cases that slip, this share is caught</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F1</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0.655</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Balance of precision and recall</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Brier</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0.146</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Probability error; calibration bins agree within ~2 points</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Slip MAE</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55.45 d</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150" dirty="0">
                          <a:solidFill>
                            <a:srgbClr val="14213D"/>
                          </a:solidFill>
                          <a:latin typeface="Calibri" pitchFamily="34" charset="0"/>
                          <a:ea typeface="Calibri" pitchFamily="34" charset="-122"/>
                          <a:cs typeface="Calibri" pitchFamily="34" charset="-120"/>
                        </a:rPr>
                        <a:t>vs 58.31 d median baseline (censored)</a:t>
                      </a:r>
                      <a:endParaRPr lang="en-US" sz="11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bl>
          </a:graphicData>
        </a:graphic>
      </p:graphicFrame>
      <p:sp>
        <p:nvSpPr>
          <p:cNvPr id="9" name="Shape 4"/>
          <p:cNvSpPr/>
          <p:nvPr/>
        </p:nvSpPr>
        <p:spPr>
          <a:xfrm>
            <a:off x="6858000" y="4617720"/>
            <a:ext cx="4754880" cy="1188720"/>
          </a:xfrm>
          <a:prstGeom prst="roundRect">
            <a:avLst>
              <a:gd name="adj" fmla="val 6154"/>
            </a:avLst>
          </a:prstGeom>
          <a:solidFill>
            <a:srgbClr val="FFF1D6"/>
          </a:solidFill>
          <a:ln w="12700">
            <a:solidFill>
              <a:srgbClr val="FFF1D6"/>
            </a:solidFill>
            <a:prstDash val="solid"/>
          </a:ln>
        </p:spPr>
      </p:sp>
      <p:sp>
        <p:nvSpPr>
          <p:cNvPr id="10" name="Text 5"/>
          <p:cNvSpPr txBox="1"/>
          <p:nvPr/>
        </p:nvSpPr>
        <p:spPr>
          <a:xfrm>
            <a:off x="7040880" y="4709160"/>
            <a:ext cx="4434840" cy="1051560"/>
          </a:xfrm>
          <a:prstGeom prst="rect">
            <a:avLst/>
          </a:prstGeom>
          <a:noFill/>
          <a:ln/>
        </p:spPr>
        <p:txBody>
          <a:bodyPr wrap="square" lIns="0" tIns="0" rIns="0" bIns="0" rtlCol="0" anchor="t"/>
          <a:lstStyle/>
          <a:p>
            <a:pPr indent="0" marL="0">
              <a:buNone/>
            </a:pPr>
            <a:r>
              <a:rPr lang="en-US" sz="1100" dirty="0">
                <a:solidFill>
                  <a:srgbClr val="14213D"/>
                </a:solidFill>
                <a:latin typeface="Calibri" pitchFamily="34" charset="0"/>
                <a:ea typeface="Calibri" pitchFamily="34" charset="-122"/>
                <a:cs typeface="Calibri" pitchFamily="34" charset="-120"/>
              </a:rPr>
              <a:t>Gradient boosting is only modestly ahead of logistic regression because the synthetic outcome formula is close to linear. On real data, where interactions are richer, the gap is expected to be larger — and must be re-measured.</a:t>
            </a:r>
            <a:endParaRPr lang="en-US" sz="1100" dirty="0"/>
          </a:p>
        </p:txBody>
      </p:sp>
      <p:sp>
        <p:nvSpPr>
          <p:cNvPr id="11" name="Text 6"/>
          <p:cNvSpPr txBox="1"/>
          <p:nvPr/>
        </p:nvSpPr>
        <p:spPr>
          <a:xfrm>
            <a:off x="548640" y="5623560"/>
            <a:ext cx="6035040" cy="365760"/>
          </a:xfrm>
          <a:prstGeom prst="rect">
            <a:avLst/>
          </a:prstGeom>
          <a:noFill/>
          <a:ln/>
        </p:spPr>
        <p:txBody>
          <a:bodyPr wrap="square" lIns="0" tIns="0" rIns="0" bIns="0" rtlCol="0" anchor="t"/>
          <a:lstStyle/>
          <a:p>
            <a:pPr indent="0" marL="0">
              <a:buNone/>
            </a:pPr>
            <a:r>
              <a:rPr lang="en-US" sz="1100" i="1" dirty="0">
                <a:solidFill>
                  <a:srgbClr val="5B6B82"/>
                </a:solidFill>
                <a:latin typeface="Calibri" pitchFamily="34" charset="0"/>
                <a:ea typeface="Calibri" pitchFamily="34" charset="-122"/>
                <a:cs typeface="Calibri" pitchFamily="34" charset="-120"/>
              </a:rPr>
              <a:t>Operating threshold 0.3337. Split: train to 2026-06-08, test 2026-07-24 → 2026-09-11.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CASE-LEVEL AND PROJECT-LEVEL RISK</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From probability to risk score and category</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17</a:t>
            </a:r>
            <a:endParaRPr lang="en-US" sz="900" dirty="0"/>
          </a:p>
        </p:txBody>
      </p:sp>
      <p:sp>
        <p:nvSpPr>
          <p:cNvPr id="7" name="Text 4"/>
          <p:cNvSpPr txBox="1"/>
          <p:nvPr/>
        </p:nvSpPr>
        <p:spPr>
          <a:xfrm>
            <a:off x="548640" y="1508760"/>
            <a:ext cx="548640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Case risk = P(this parcel's milestone slips &gt; 30 days) × 100</a:t>
            </a:r>
            <a:endParaRPr lang="en-US" sz="1500" dirty="0"/>
          </a:p>
        </p:txBody>
      </p:sp>
      <p:sp>
        <p:nvSpPr>
          <p:cNvPr id="8" name="Shape 5"/>
          <p:cNvSpPr/>
          <p:nvPr/>
        </p:nvSpPr>
        <p:spPr>
          <a:xfrm>
            <a:off x="548640" y="1920240"/>
            <a:ext cx="1755648" cy="411480"/>
          </a:xfrm>
          <a:prstGeom prst="rect">
            <a:avLst/>
          </a:prstGeom>
          <a:solidFill>
            <a:srgbClr val="10B981"/>
          </a:solidFill>
          <a:ln w="12700">
            <a:solidFill>
              <a:srgbClr val="FFFFFF"/>
            </a:solidFill>
            <a:prstDash val="solid"/>
          </a:ln>
        </p:spPr>
      </p:sp>
      <p:sp>
        <p:nvSpPr>
          <p:cNvPr id="9" name="Text 6"/>
          <p:cNvSpPr txBox="1"/>
          <p:nvPr/>
        </p:nvSpPr>
        <p:spPr>
          <a:xfrm>
            <a:off x="548640" y="1920240"/>
            <a:ext cx="1755648"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Low</a:t>
            </a:r>
            <a:endParaRPr lang="en-US" sz="1100" dirty="0"/>
          </a:p>
        </p:txBody>
      </p:sp>
      <p:sp>
        <p:nvSpPr>
          <p:cNvPr id="10" name="Shape 7"/>
          <p:cNvSpPr/>
          <p:nvPr/>
        </p:nvSpPr>
        <p:spPr>
          <a:xfrm>
            <a:off x="2304288" y="1920240"/>
            <a:ext cx="1463040" cy="411480"/>
          </a:xfrm>
          <a:prstGeom prst="rect">
            <a:avLst/>
          </a:prstGeom>
          <a:solidFill>
            <a:srgbClr val="F59E0B"/>
          </a:solidFill>
          <a:ln w="12700">
            <a:solidFill>
              <a:srgbClr val="FFFFFF"/>
            </a:solidFill>
            <a:prstDash val="solid"/>
          </a:ln>
        </p:spPr>
      </p:sp>
      <p:sp>
        <p:nvSpPr>
          <p:cNvPr id="11" name="Text 8"/>
          <p:cNvSpPr txBox="1"/>
          <p:nvPr/>
        </p:nvSpPr>
        <p:spPr>
          <a:xfrm>
            <a:off x="2304288" y="1920240"/>
            <a:ext cx="14630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Medium</a:t>
            </a:r>
            <a:endParaRPr lang="en-US" sz="1100" dirty="0"/>
          </a:p>
        </p:txBody>
      </p:sp>
      <p:sp>
        <p:nvSpPr>
          <p:cNvPr id="12" name="Shape 9"/>
          <p:cNvSpPr/>
          <p:nvPr/>
        </p:nvSpPr>
        <p:spPr>
          <a:xfrm>
            <a:off x="3767328" y="1920240"/>
            <a:ext cx="1345997" cy="411480"/>
          </a:xfrm>
          <a:prstGeom prst="rect">
            <a:avLst/>
          </a:prstGeom>
          <a:solidFill>
            <a:srgbClr val="F97316"/>
          </a:solidFill>
          <a:ln w="12700">
            <a:solidFill>
              <a:srgbClr val="FFFFFF"/>
            </a:solidFill>
            <a:prstDash val="solid"/>
          </a:ln>
        </p:spPr>
      </p:sp>
      <p:sp>
        <p:nvSpPr>
          <p:cNvPr id="13" name="Text 10"/>
          <p:cNvSpPr txBox="1"/>
          <p:nvPr/>
        </p:nvSpPr>
        <p:spPr>
          <a:xfrm>
            <a:off x="3767328" y="1920240"/>
            <a:ext cx="1345997"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High</a:t>
            </a:r>
            <a:endParaRPr lang="en-US" sz="1100" dirty="0"/>
          </a:p>
        </p:txBody>
      </p:sp>
      <p:sp>
        <p:nvSpPr>
          <p:cNvPr id="14" name="Shape 11"/>
          <p:cNvSpPr/>
          <p:nvPr/>
        </p:nvSpPr>
        <p:spPr>
          <a:xfrm>
            <a:off x="5113325" y="1920240"/>
            <a:ext cx="1287475" cy="411480"/>
          </a:xfrm>
          <a:prstGeom prst="rect">
            <a:avLst/>
          </a:prstGeom>
          <a:solidFill>
            <a:srgbClr val="E11D48"/>
          </a:solidFill>
          <a:ln w="12700">
            <a:solidFill>
              <a:srgbClr val="FFFFFF"/>
            </a:solidFill>
            <a:prstDash val="solid"/>
          </a:ln>
        </p:spPr>
      </p:sp>
      <p:sp>
        <p:nvSpPr>
          <p:cNvPr id="15" name="Text 12"/>
          <p:cNvSpPr txBox="1"/>
          <p:nvPr/>
        </p:nvSpPr>
        <p:spPr>
          <a:xfrm>
            <a:off x="5113325" y="1920240"/>
            <a:ext cx="1287475"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Critical</a:t>
            </a:r>
            <a:endParaRPr lang="en-US" sz="1100" dirty="0"/>
          </a:p>
        </p:txBody>
      </p:sp>
      <p:sp>
        <p:nvSpPr>
          <p:cNvPr id="16" name="Text 13"/>
          <p:cNvSpPr txBox="1"/>
          <p:nvPr/>
        </p:nvSpPr>
        <p:spPr>
          <a:xfrm>
            <a:off x="2029968" y="2359152"/>
            <a:ext cx="548640" cy="228600"/>
          </a:xfrm>
          <a:prstGeom prst="rect">
            <a:avLst/>
          </a:prstGeom>
          <a:noFill/>
          <a:ln/>
        </p:spPr>
        <p:txBody>
          <a:bodyPr wrap="square" lIns="0" tIns="0" rIns="0" bIns="0" rtlCol="0" anchor="ctr"/>
          <a:lstStyle/>
          <a:p>
            <a:pPr algn="ctr" indent="0" marL="0">
              <a:buNone/>
            </a:pPr>
            <a:r>
              <a:rPr lang="en-US" sz="1000" dirty="0">
                <a:solidFill>
                  <a:srgbClr val="5B6B82"/>
                </a:solidFill>
                <a:latin typeface="Calibri" pitchFamily="34" charset="0"/>
                <a:ea typeface="Calibri" pitchFamily="34" charset="-122"/>
                <a:cs typeface="Calibri" pitchFamily="34" charset="-120"/>
              </a:rPr>
              <a:t>30</a:t>
            </a:r>
            <a:endParaRPr lang="en-US" sz="1000" dirty="0"/>
          </a:p>
        </p:txBody>
      </p:sp>
      <p:sp>
        <p:nvSpPr>
          <p:cNvPr id="17" name="Text 14"/>
          <p:cNvSpPr txBox="1"/>
          <p:nvPr/>
        </p:nvSpPr>
        <p:spPr>
          <a:xfrm>
            <a:off x="3493008" y="2359152"/>
            <a:ext cx="548640" cy="228600"/>
          </a:xfrm>
          <a:prstGeom prst="rect">
            <a:avLst/>
          </a:prstGeom>
          <a:noFill/>
          <a:ln/>
        </p:spPr>
        <p:txBody>
          <a:bodyPr wrap="square" lIns="0" tIns="0" rIns="0" bIns="0" rtlCol="0" anchor="ctr"/>
          <a:lstStyle/>
          <a:p>
            <a:pPr algn="ctr" indent="0" marL="0">
              <a:buNone/>
            </a:pPr>
            <a:r>
              <a:rPr lang="en-US" sz="1000" dirty="0">
                <a:solidFill>
                  <a:srgbClr val="5B6B82"/>
                </a:solidFill>
                <a:latin typeface="Calibri" pitchFamily="34" charset="0"/>
                <a:ea typeface="Calibri" pitchFamily="34" charset="-122"/>
                <a:cs typeface="Calibri" pitchFamily="34" charset="-120"/>
              </a:rPr>
              <a:t>55</a:t>
            </a:r>
            <a:endParaRPr lang="en-US" sz="1000" dirty="0"/>
          </a:p>
        </p:txBody>
      </p:sp>
      <p:sp>
        <p:nvSpPr>
          <p:cNvPr id="18" name="Text 15"/>
          <p:cNvSpPr txBox="1"/>
          <p:nvPr/>
        </p:nvSpPr>
        <p:spPr>
          <a:xfrm>
            <a:off x="4839005" y="2359152"/>
            <a:ext cx="548640" cy="228600"/>
          </a:xfrm>
          <a:prstGeom prst="rect">
            <a:avLst/>
          </a:prstGeom>
          <a:noFill/>
          <a:ln/>
        </p:spPr>
        <p:txBody>
          <a:bodyPr wrap="square" lIns="0" tIns="0" rIns="0" bIns="0" rtlCol="0" anchor="ctr"/>
          <a:lstStyle/>
          <a:p>
            <a:pPr algn="ctr" indent="0" marL="0">
              <a:buNone/>
            </a:pPr>
            <a:r>
              <a:rPr lang="en-US" sz="1000" dirty="0">
                <a:solidFill>
                  <a:srgbClr val="5B6B82"/>
                </a:solidFill>
                <a:latin typeface="Calibri" pitchFamily="34" charset="0"/>
                <a:ea typeface="Calibri" pitchFamily="34" charset="-122"/>
                <a:cs typeface="Calibri" pitchFamily="34" charset="-120"/>
              </a:rPr>
              <a:t>78</a:t>
            </a:r>
            <a:endParaRPr lang="en-US" sz="1000" dirty="0"/>
          </a:p>
        </p:txBody>
      </p:sp>
      <p:sp>
        <p:nvSpPr>
          <p:cNvPr id="19" name="Text 16"/>
          <p:cNvSpPr txBox="1"/>
          <p:nvPr/>
        </p:nvSpPr>
        <p:spPr>
          <a:xfrm>
            <a:off x="548640" y="2606040"/>
            <a:ext cx="5852160" cy="6400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Used for cases, the parcel map and single-milestone forecasts.</a:t>
            </a:r>
            <a:endParaRPr lang="en-US" sz="1150" dirty="0"/>
          </a:p>
        </p:txBody>
      </p:sp>
      <p:sp>
        <p:nvSpPr>
          <p:cNvPr id="20" name="Text 17"/>
          <p:cNvSpPr txBox="1"/>
          <p:nvPr/>
        </p:nvSpPr>
        <p:spPr>
          <a:xfrm>
            <a:off x="548640" y="3429000"/>
            <a:ext cx="548640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Project risk = expected share of open current-stage parcels that slip</a:t>
            </a:r>
            <a:endParaRPr lang="en-US" sz="1500" dirty="0"/>
          </a:p>
        </p:txBody>
      </p:sp>
      <p:sp>
        <p:nvSpPr>
          <p:cNvPr id="21" name="Shape 18"/>
          <p:cNvSpPr/>
          <p:nvPr/>
        </p:nvSpPr>
        <p:spPr>
          <a:xfrm>
            <a:off x="548640" y="3840480"/>
            <a:ext cx="1755648" cy="411480"/>
          </a:xfrm>
          <a:prstGeom prst="rect">
            <a:avLst/>
          </a:prstGeom>
          <a:solidFill>
            <a:srgbClr val="10B981"/>
          </a:solidFill>
          <a:ln w="12700">
            <a:solidFill>
              <a:srgbClr val="FFFFFF"/>
            </a:solidFill>
            <a:prstDash val="solid"/>
          </a:ln>
        </p:spPr>
      </p:sp>
      <p:sp>
        <p:nvSpPr>
          <p:cNvPr id="22" name="Text 19"/>
          <p:cNvSpPr txBox="1"/>
          <p:nvPr/>
        </p:nvSpPr>
        <p:spPr>
          <a:xfrm>
            <a:off x="548640" y="3840480"/>
            <a:ext cx="1755648"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Low</a:t>
            </a:r>
            <a:endParaRPr lang="en-US" sz="1100" dirty="0"/>
          </a:p>
        </p:txBody>
      </p:sp>
      <p:sp>
        <p:nvSpPr>
          <p:cNvPr id="23" name="Shape 20"/>
          <p:cNvSpPr/>
          <p:nvPr/>
        </p:nvSpPr>
        <p:spPr>
          <a:xfrm>
            <a:off x="2304288" y="3840480"/>
            <a:ext cx="877824" cy="411480"/>
          </a:xfrm>
          <a:prstGeom prst="rect">
            <a:avLst/>
          </a:prstGeom>
          <a:solidFill>
            <a:srgbClr val="F59E0B"/>
          </a:solidFill>
          <a:ln w="12700">
            <a:solidFill>
              <a:srgbClr val="FFFFFF"/>
            </a:solidFill>
            <a:prstDash val="solid"/>
          </a:ln>
        </p:spPr>
      </p:sp>
      <p:sp>
        <p:nvSpPr>
          <p:cNvPr id="24" name="Text 21"/>
          <p:cNvSpPr txBox="1"/>
          <p:nvPr/>
        </p:nvSpPr>
        <p:spPr>
          <a:xfrm>
            <a:off x="2304288" y="3840480"/>
            <a:ext cx="877824"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Medium</a:t>
            </a:r>
            <a:endParaRPr lang="en-US" sz="1100" dirty="0"/>
          </a:p>
        </p:txBody>
      </p:sp>
      <p:sp>
        <p:nvSpPr>
          <p:cNvPr id="25" name="Shape 22"/>
          <p:cNvSpPr/>
          <p:nvPr/>
        </p:nvSpPr>
        <p:spPr>
          <a:xfrm>
            <a:off x="3182112" y="3840480"/>
            <a:ext cx="877824" cy="411480"/>
          </a:xfrm>
          <a:prstGeom prst="rect">
            <a:avLst/>
          </a:prstGeom>
          <a:solidFill>
            <a:srgbClr val="F97316"/>
          </a:solidFill>
          <a:ln w="12700">
            <a:solidFill>
              <a:srgbClr val="FFFFFF"/>
            </a:solidFill>
            <a:prstDash val="solid"/>
          </a:ln>
        </p:spPr>
      </p:sp>
      <p:sp>
        <p:nvSpPr>
          <p:cNvPr id="26" name="Text 23"/>
          <p:cNvSpPr txBox="1"/>
          <p:nvPr/>
        </p:nvSpPr>
        <p:spPr>
          <a:xfrm>
            <a:off x="3182112" y="3840480"/>
            <a:ext cx="877824"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High</a:t>
            </a:r>
            <a:endParaRPr lang="en-US" sz="1100" dirty="0"/>
          </a:p>
        </p:txBody>
      </p:sp>
      <p:sp>
        <p:nvSpPr>
          <p:cNvPr id="27" name="Shape 24"/>
          <p:cNvSpPr/>
          <p:nvPr/>
        </p:nvSpPr>
        <p:spPr>
          <a:xfrm>
            <a:off x="4059936" y="3840480"/>
            <a:ext cx="2340864" cy="411480"/>
          </a:xfrm>
          <a:prstGeom prst="rect">
            <a:avLst/>
          </a:prstGeom>
          <a:solidFill>
            <a:srgbClr val="E11D48"/>
          </a:solidFill>
          <a:ln w="12700">
            <a:solidFill>
              <a:srgbClr val="FFFFFF"/>
            </a:solidFill>
            <a:prstDash val="solid"/>
          </a:ln>
        </p:spPr>
      </p:sp>
      <p:sp>
        <p:nvSpPr>
          <p:cNvPr id="28" name="Text 25"/>
          <p:cNvSpPr txBox="1"/>
          <p:nvPr/>
        </p:nvSpPr>
        <p:spPr>
          <a:xfrm>
            <a:off x="4059936" y="3840480"/>
            <a:ext cx="2340864"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Critical</a:t>
            </a:r>
            <a:endParaRPr lang="en-US" sz="1100" dirty="0"/>
          </a:p>
        </p:txBody>
      </p:sp>
      <p:sp>
        <p:nvSpPr>
          <p:cNvPr id="29" name="Text 26"/>
          <p:cNvSpPr txBox="1"/>
          <p:nvPr/>
        </p:nvSpPr>
        <p:spPr>
          <a:xfrm>
            <a:off x="2029968" y="4279392"/>
            <a:ext cx="548640" cy="228600"/>
          </a:xfrm>
          <a:prstGeom prst="rect">
            <a:avLst/>
          </a:prstGeom>
          <a:noFill/>
          <a:ln/>
        </p:spPr>
        <p:txBody>
          <a:bodyPr wrap="square" lIns="0" tIns="0" rIns="0" bIns="0" rtlCol="0" anchor="ctr"/>
          <a:lstStyle/>
          <a:p>
            <a:pPr algn="ctr" indent="0" marL="0">
              <a:buNone/>
            </a:pPr>
            <a:r>
              <a:rPr lang="en-US" sz="1000" dirty="0">
                <a:solidFill>
                  <a:srgbClr val="5B6B82"/>
                </a:solidFill>
                <a:latin typeface="Calibri" pitchFamily="34" charset="0"/>
                <a:ea typeface="Calibri" pitchFamily="34" charset="-122"/>
                <a:cs typeface="Calibri" pitchFamily="34" charset="-120"/>
              </a:rPr>
              <a:t>30</a:t>
            </a:r>
            <a:endParaRPr lang="en-US" sz="1000" dirty="0"/>
          </a:p>
        </p:txBody>
      </p:sp>
      <p:sp>
        <p:nvSpPr>
          <p:cNvPr id="30" name="Text 27"/>
          <p:cNvSpPr txBox="1"/>
          <p:nvPr/>
        </p:nvSpPr>
        <p:spPr>
          <a:xfrm>
            <a:off x="2907792" y="4279392"/>
            <a:ext cx="548640" cy="228600"/>
          </a:xfrm>
          <a:prstGeom prst="rect">
            <a:avLst/>
          </a:prstGeom>
          <a:noFill/>
          <a:ln/>
        </p:spPr>
        <p:txBody>
          <a:bodyPr wrap="square" lIns="0" tIns="0" rIns="0" bIns="0" rtlCol="0" anchor="ctr"/>
          <a:lstStyle/>
          <a:p>
            <a:pPr algn="ctr" indent="0" marL="0">
              <a:buNone/>
            </a:pPr>
            <a:r>
              <a:rPr lang="en-US" sz="1000" dirty="0">
                <a:solidFill>
                  <a:srgbClr val="5B6B82"/>
                </a:solidFill>
                <a:latin typeface="Calibri" pitchFamily="34" charset="0"/>
                <a:ea typeface="Calibri" pitchFamily="34" charset="-122"/>
                <a:cs typeface="Calibri" pitchFamily="34" charset="-120"/>
              </a:rPr>
              <a:t>45</a:t>
            </a:r>
            <a:endParaRPr lang="en-US" sz="1000" dirty="0"/>
          </a:p>
        </p:txBody>
      </p:sp>
      <p:sp>
        <p:nvSpPr>
          <p:cNvPr id="31" name="Text 28"/>
          <p:cNvSpPr txBox="1"/>
          <p:nvPr/>
        </p:nvSpPr>
        <p:spPr>
          <a:xfrm>
            <a:off x="3785616" y="4279392"/>
            <a:ext cx="548640" cy="228600"/>
          </a:xfrm>
          <a:prstGeom prst="rect">
            <a:avLst/>
          </a:prstGeom>
          <a:noFill/>
          <a:ln/>
        </p:spPr>
        <p:txBody>
          <a:bodyPr wrap="square" lIns="0" tIns="0" rIns="0" bIns="0" rtlCol="0" anchor="ctr"/>
          <a:lstStyle/>
          <a:p>
            <a:pPr algn="ctr" indent="0" marL="0">
              <a:buNone/>
            </a:pPr>
            <a:r>
              <a:rPr lang="en-US" sz="1000" dirty="0">
                <a:solidFill>
                  <a:srgbClr val="5B6B82"/>
                </a:solidFill>
                <a:latin typeface="Calibri" pitchFamily="34" charset="0"/>
                <a:ea typeface="Calibri" pitchFamily="34" charset="-122"/>
                <a:cs typeface="Calibri" pitchFamily="34" charset="-120"/>
              </a:rPr>
              <a:t>60</a:t>
            </a:r>
            <a:endParaRPr lang="en-US" sz="1000" dirty="0"/>
          </a:p>
        </p:txBody>
      </p:sp>
      <p:sp>
        <p:nvSpPr>
          <p:cNvPr id="32" name="Text 29"/>
          <p:cNvSpPr txBox="1"/>
          <p:nvPr/>
        </p:nvSpPr>
        <p:spPr>
          <a:xfrm>
            <a:off x="548640" y="4526280"/>
            <a:ext cx="5852160" cy="6400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Mean of the case probabilities, so it sits in a narrower range and gets its own cut-offs.</a:t>
            </a:r>
            <a:endParaRPr lang="en-US" sz="1150" dirty="0"/>
          </a:p>
        </p:txBody>
      </p:sp>
      <p:graphicFrame>
        <p:nvGraphicFramePr>
          <p:cNvPr id="33" name="Chart 0" descr=""/>
          <p:cNvGraphicFramePr/>
          <p:nvPr/>
        </p:nvGraphicFramePr>
        <p:xfrm>
          <a:off x="6766560" y="141732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34" name="Shape 30"/>
          <p:cNvSpPr/>
          <p:nvPr/>
        </p:nvSpPr>
        <p:spPr>
          <a:xfrm>
            <a:off x="6766560" y="5120640"/>
            <a:ext cx="4846320" cy="960120"/>
          </a:xfrm>
          <a:prstGeom prst="roundRect">
            <a:avLst>
              <a:gd name="adj" fmla="val 7619"/>
            </a:avLst>
          </a:prstGeom>
          <a:solidFill>
            <a:srgbClr val="F3F6FB"/>
          </a:solidFill>
          <a:ln w="12700">
            <a:solidFill>
              <a:srgbClr val="F3F6FB"/>
            </a:solidFill>
            <a:prstDash val="solid"/>
          </a:ln>
        </p:spPr>
      </p:sp>
      <p:sp>
        <p:nvSpPr>
          <p:cNvPr id="35" name="Text 31"/>
          <p:cNvSpPr txBox="1"/>
          <p:nvPr/>
        </p:nvSpPr>
        <p:spPr>
          <a:xfrm>
            <a:off x="6949440" y="5212080"/>
            <a:ext cx="4526280" cy="822960"/>
          </a:xfrm>
          <a:prstGeom prst="rect">
            <a:avLst/>
          </a:prstGeom>
          <a:noFill/>
          <a:ln/>
        </p:spPr>
        <p:txBody>
          <a:bodyPr wrap="square" lIns="0" tIns="0" rIns="0" bIns="0" rtlCol="0" anchor="t"/>
          <a:lstStyle/>
          <a:p>
            <a:pPr indent="0" marL="0">
              <a:buNone/>
            </a:pPr>
            <a:r>
              <a:rPr lang="en-US" sz="1150" dirty="0">
                <a:solidFill>
                  <a:srgbClr val="14213D"/>
                </a:solidFill>
                <a:latin typeface="Calibri" pitchFamily="34" charset="0"/>
                <a:ea typeface="Calibri" pitchFamily="34" charset="-122"/>
                <a:cs typeface="Calibri" pitchFamily="34" charset="-120"/>
              </a:rPr>
              <a:t>Also produced for every project: expected slip days (30 days on average) and the probability of missing the sanctioned target, with P50 / P80 completion dates — 136 projects have a median forecast more than 6 months beyond target.</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STAGE-WISE FORECAST</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Delay probability at every stage of the lifecycle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18</a:t>
            </a:r>
            <a:endParaRPr lang="en-US" sz="900" dirty="0"/>
          </a:p>
        </p:txBody>
      </p:sp>
      <p:sp>
        <p:nvSpPr>
          <p:cNvPr id="7" name="Shape 4"/>
          <p:cNvSpPr/>
          <p:nvPr/>
        </p:nvSpPr>
        <p:spPr>
          <a:xfrm>
            <a:off x="4709160" y="1371600"/>
            <a:ext cx="6949440" cy="4206240"/>
          </a:xfrm>
          <a:prstGeom prst="roundRect">
            <a:avLst>
              <a:gd name="adj" fmla="val 1087"/>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project-forecast.png">    </p:cNvPr>
          <p:cNvPicPr>
            <a:picLocks noChangeAspect="1"/>
          </p:cNvPicPr>
          <p:nvPr/>
        </p:nvPicPr>
        <p:blipFill>
          <a:blip r:embed="rId1"/>
          <a:stretch>
            <a:fillRect/>
          </a:stretch>
        </p:blipFill>
        <p:spPr>
          <a:xfrm>
            <a:off x="4754880" y="1417320"/>
            <a:ext cx="6858000" cy="4114800"/>
          </a:xfrm>
          <a:prstGeom prst="rect">
            <a:avLst/>
          </a:prstGeom>
        </p:spPr>
      </p:pic>
      <p:sp>
        <p:nvSpPr>
          <p:cNvPr id="9" name="Text 5"/>
          <p:cNvSpPr txBox="1"/>
          <p:nvPr/>
        </p:nvSpPr>
        <p:spPr>
          <a:xfrm>
            <a:off x="548640" y="1554480"/>
            <a:ext cx="3931920" cy="292608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rgbClr val="14213D"/>
                </a:solidFill>
                <a:latin typeface="Calibri" pitchFamily="34" charset="0"/>
                <a:ea typeface="Calibri" pitchFamily="34" charset="-122"/>
                <a:cs typeface="Calibri" pitchFamily="34" charset="-120"/>
              </a:rPr>
              <a:t>Current stage:</a:t>
            </a:r>
            <a:pPr indent="0" marL="0">
              <a:buNone/>
            </a:pPr>
            <a:r>
              <a:rPr lang="en-US" sz="1300" dirty="0">
                <a:solidFill>
                  <a:srgbClr val="14213D"/>
                </a:solidFill>
                <a:latin typeface="Calibri" pitchFamily="34" charset="0"/>
                <a:ea typeface="Calibri" pitchFamily="34" charset="-122"/>
                <a:cs typeface="Calibri" pitchFamily="34" charset="-120"/>
              </a:rPr>
              <a:t> the deployed model's risk for open parcels</a:t>
            </a:r>
            <a:endParaRPr lang="en-US" sz="1300" dirty="0"/>
          </a:p>
          <a:p>
            <a:pPr marL="342900" indent="-342900">
              <a:spcAft>
                <a:spcPts val="600"/>
              </a:spcAft>
              <a:buSzPct val="100000"/>
              <a:buChar char="•"/>
            </a:pPr>
            <a:r>
              <a:rPr lang="en-US" sz="1300" b="1" dirty="0">
                <a:solidFill>
                  <a:srgbClr val="14213D"/>
                </a:solidFill>
                <a:latin typeface="Calibri" pitchFamily="34" charset="0"/>
                <a:ea typeface="Calibri" pitchFamily="34" charset="-122"/>
                <a:cs typeface="Calibri" pitchFamily="34" charset="-120"/>
              </a:rPr>
              <a:t>Later stages:</a:t>
            </a:r>
            <a:pPr indent="0" marL="0">
              <a:buNone/>
            </a:pPr>
            <a:r>
              <a:rPr lang="en-US" sz="1300" dirty="0">
                <a:solidFill>
                  <a:srgbClr val="14213D"/>
                </a:solidFill>
                <a:latin typeface="Calibri" pitchFamily="34" charset="0"/>
                <a:ea typeface="Calibri" pitchFamily="34" charset="-122"/>
                <a:cs typeface="Calibri" pitchFamily="34" charset="-120"/>
              </a:rPr>
              <a:t> observed stage delay rate, shifted by this project's risk relative to a typical case, decaying ×0.8 per stage</a:t>
            </a:r>
            <a:endParaRPr lang="en-US" sz="1300" dirty="0"/>
          </a:p>
          <a:p>
            <a:pPr marL="342900" indent="-342900">
              <a:spcAft>
                <a:spcPts val="600"/>
              </a:spcAft>
              <a:buSzPct val="100000"/>
              <a:buChar char="•"/>
            </a:pPr>
            <a:r>
              <a:rPr lang="en-US" sz="1300" b="1" dirty="0">
                <a:solidFill>
                  <a:srgbClr val="14213D"/>
                </a:solidFill>
                <a:latin typeface="Calibri" pitchFamily="34" charset="0"/>
                <a:ea typeface="Calibri" pitchFamily="34" charset="-122"/>
                <a:cs typeface="Calibri" pitchFamily="34" charset="-120"/>
              </a:rPr>
              <a:t>Monte Carlo:</a:t>
            </a:r>
            <a:pPr indent="0" marL="0">
              <a:buNone/>
            </a:pPr>
            <a:r>
              <a:rPr lang="en-US" sz="1300" dirty="0">
                <a:solidFill>
                  <a:srgbClr val="14213D"/>
                </a:solidFill>
                <a:latin typeface="Calibri" pitchFamily="34" charset="0"/>
                <a:ea typeface="Calibri" pitchFamily="34" charset="-122"/>
                <a:cs typeface="Calibri" pitchFamily="34" charset="-120"/>
              </a:rPr>
              <a:t> 2,000 seeded runs draw late / on time and slip days per stage from the observed distributions</a:t>
            </a:r>
            <a:endParaRPr lang="en-US" sz="1300" dirty="0"/>
          </a:p>
          <a:p>
            <a:pPr marL="342900" indent="-342900">
              <a:spcAft>
                <a:spcPts val="600"/>
              </a:spcAft>
              <a:buSzPct val="100000"/>
              <a:buChar char="•"/>
            </a:pPr>
            <a:r>
              <a:rPr lang="en-US" sz="1300" b="1" dirty="0">
                <a:solidFill>
                  <a:srgbClr val="14213D"/>
                </a:solidFill>
                <a:latin typeface="Calibri" pitchFamily="34" charset="0"/>
                <a:ea typeface="Calibri" pitchFamily="34" charset="-122"/>
                <a:cs typeface="Calibri" pitchFamily="34" charset="-120"/>
              </a:rPr>
              <a:t>Outputs:</a:t>
            </a:r>
            <a:pPr indent="0" marL="0">
              <a:buNone/>
            </a:pPr>
            <a:r>
              <a:rPr lang="en-US" sz="1300" dirty="0">
                <a:solidFill>
                  <a:srgbClr val="14213D"/>
                </a:solidFill>
                <a:latin typeface="Calibri" pitchFamily="34" charset="0"/>
                <a:ea typeface="Calibri" pitchFamily="34" charset="-122"/>
                <a:cs typeface="Calibri" pitchFamily="34" charset="-120"/>
              </a:rPr>
              <a:t> P(late) per stage, expected slip, P50 / P80 dates, P(miss target)</a:t>
            </a:r>
            <a:endParaRPr lang="en-US" sz="1300" dirty="0"/>
          </a:p>
        </p:txBody>
      </p:sp>
      <p:sp>
        <p:nvSpPr>
          <p:cNvPr id="10" name="Shape 6"/>
          <p:cNvSpPr/>
          <p:nvPr/>
        </p:nvSpPr>
        <p:spPr>
          <a:xfrm>
            <a:off x="548640" y="4572000"/>
            <a:ext cx="3931920" cy="1463040"/>
          </a:xfrm>
          <a:prstGeom prst="roundRect">
            <a:avLst>
              <a:gd name="adj" fmla="val 5000"/>
            </a:avLst>
          </a:prstGeom>
          <a:solidFill>
            <a:srgbClr val="FDEDEF"/>
          </a:solidFill>
          <a:ln w="12700">
            <a:solidFill>
              <a:srgbClr val="FDEDEF"/>
            </a:solidFill>
            <a:prstDash val="solid"/>
          </a:ln>
        </p:spPr>
      </p:sp>
      <p:sp>
        <p:nvSpPr>
          <p:cNvPr id="11" name="Text 7"/>
          <p:cNvSpPr txBox="1"/>
          <p:nvPr/>
        </p:nvSpPr>
        <p:spPr>
          <a:xfrm>
            <a:off x="731520" y="4663440"/>
            <a:ext cx="3657600" cy="274320"/>
          </a:xfrm>
          <a:prstGeom prst="rect">
            <a:avLst/>
          </a:prstGeom>
          <a:noFill/>
          <a:ln/>
        </p:spPr>
        <p:txBody>
          <a:bodyPr wrap="square" lIns="0" tIns="0" rIns="0" bIns="0" rtlCol="0" anchor="ctr"/>
          <a:lstStyle/>
          <a:p>
            <a:pPr indent="0" marL="0">
              <a:buNone/>
            </a:pPr>
            <a:r>
              <a:rPr lang="en-US" sz="1150" b="1" dirty="0">
                <a:solidFill>
                  <a:srgbClr val="14213D"/>
                </a:solidFill>
                <a:latin typeface="Calibri" pitchFamily="34" charset="0"/>
                <a:ea typeface="Calibri" pitchFamily="34" charset="-122"/>
                <a:cs typeface="Calibri" pitchFamily="34" charset="-120"/>
              </a:rPr>
              <a:t>Example · NH-424 Bypass — Alirajpur</a:t>
            </a:r>
            <a:endParaRPr lang="en-US" sz="1150" dirty="0"/>
          </a:p>
        </p:txBody>
      </p:sp>
      <p:sp>
        <p:nvSpPr>
          <p:cNvPr id="12" name="Text 8"/>
          <p:cNvSpPr txBox="1"/>
          <p:nvPr/>
        </p:nvSpPr>
        <p:spPr>
          <a:xfrm>
            <a:off x="731520" y="4956048"/>
            <a:ext cx="3611880" cy="1051560"/>
          </a:xfrm>
          <a:prstGeom prst="rect">
            <a:avLst/>
          </a:prstGeom>
          <a:noFill/>
          <a:ln/>
        </p:spPr>
        <p:txBody>
          <a:bodyPr wrap="square" lIns="0" tIns="0" rIns="0" bIns="0" rtlCol="0" anchor="t"/>
          <a:lstStyle/>
          <a:p>
            <a:pPr indent="0" marL="0">
              <a:buNone/>
            </a:pPr>
            <a:r>
              <a:rPr lang="en-US" sz="1150" dirty="0">
                <a:solidFill>
                  <a:srgbClr val="14213D"/>
                </a:solidFill>
                <a:latin typeface="Calibri" pitchFamily="34" charset="0"/>
                <a:ea typeface="Calibri" pitchFamily="34" charset="-122"/>
                <a:cs typeface="Calibri" pitchFamily="34" charset="-120"/>
              </a:rPr>
              <a:t>Risk 81 (Critical) at Compensation. Chance of missing the 2027-11-24 target: 98%. P50 completion 2028-05-15, P80 2028-09-12.</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TREESHAP ON THE DEPLOYED MODEL</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Explainable AI: why is this project at risk?</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48640" y="14630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583680" y="1463040"/>
            <a:ext cx="5029200" cy="3566160"/>
          </a:xfrm>
          <a:prstGeom prst="roundRect">
            <a:avLst>
              <a:gd name="adj" fmla="val 2051"/>
            </a:avLst>
          </a:prstGeom>
          <a:solidFill>
            <a:srgbClr val="F3F6FB"/>
          </a:solidFill>
          <a:ln w="12700">
            <a:solidFill>
              <a:srgbClr val="F3F6FB"/>
            </a:solidFill>
            <a:prstDash val="solid"/>
          </a:ln>
        </p:spPr>
      </p:sp>
      <p:sp>
        <p:nvSpPr>
          <p:cNvPr id="9" name="Text 5"/>
          <p:cNvSpPr txBox="1"/>
          <p:nvPr/>
        </p:nvSpPr>
        <p:spPr>
          <a:xfrm>
            <a:off x="6812280" y="1600200"/>
            <a:ext cx="457200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How it works</a:t>
            </a:r>
            <a:endParaRPr lang="en-US" sz="1600" dirty="0"/>
          </a:p>
        </p:txBody>
      </p:sp>
      <p:sp>
        <p:nvSpPr>
          <p:cNvPr id="10" name="Text 6"/>
          <p:cNvSpPr txBox="1"/>
          <p:nvPr/>
        </p:nvSpPr>
        <p:spPr>
          <a:xfrm>
            <a:off x="6812280" y="2011680"/>
            <a:ext cx="4617720" cy="292608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Per case:</a:t>
            </a:r>
            <a:pPr indent="0" marL="0">
              <a:buNone/>
            </a:pPr>
            <a:r>
              <a:rPr lang="en-US" sz="1250" dirty="0">
                <a:solidFill>
                  <a:srgbClr val="14213D"/>
                </a:solidFill>
                <a:latin typeface="Calibri" pitchFamily="34" charset="0"/>
                <a:ea typeface="Calibri" pitchFamily="34" charset="-122"/>
                <a:cs typeface="Calibri" pitchFamily="34" charset="-120"/>
              </a:rPr>
              <a:t> exact TreeSHAP for all 3,50,000 cases (top 6 stored), in log-odds</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Per project:</a:t>
            </a:r>
            <a:pPr indent="0" marL="0">
              <a:buNone/>
            </a:pPr>
            <a:r>
              <a:rPr lang="en-US" sz="1250" dirty="0">
                <a:solidFill>
                  <a:srgbClr val="14213D"/>
                </a:solidFill>
                <a:latin typeface="Calibri" pitchFamily="34" charset="0"/>
                <a:ea typeface="Calibri" pitchFamily="34" charset="-122"/>
                <a:cs typeface="Calibri" pitchFamily="34" charset="-120"/>
              </a:rPr>
              <a:t> risk-increasing contributions summed over open cases, grouped into operational factors</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New records:</a:t>
            </a:r>
            <a:pPr indent="0" marL="0">
              <a:buNone/>
            </a:pPr>
            <a:r>
              <a:rPr lang="en-US" sz="1250" dirty="0">
                <a:solidFill>
                  <a:srgbClr val="14213D"/>
                </a:solidFill>
                <a:latin typeface="Calibri" pitchFamily="34" charset="0"/>
                <a:ea typeface="Calibri" pitchFamily="34" charset="-122"/>
                <a:cs typeface="Calibri" pitchFamily="34" charset="-120"/>
              </a:rPr>
              <a:t> the API runs exact TreeSHAP on the exported trees — matches the SHAP library to 1e-7</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Global:</a:t>
            </a:r>
            <a:pPr indent="0" marL="0">
              <a:buNone/>
            </a:pPr>
            <a:r>
              <a:rPr lang="en-US" sz="1250" dirty="0">
                <a:solidFill>
                  <a:srgbClr val="14213D"/>
                </a:solidFill>
                <a:latin typeface="Calibri" pitchFamily="34" charset="0"/>
                <a:ea typeface="Calibri" pitchFamily="34" charset="-122"/>
                <a:cs typeface="Calibri" pitchFamily="34" charset="-120"/>
              </a:rPr>
              <a:t> mean |SHAP| and permutation importance in the model card</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Caveat shown everywhere:</a:t>
            </a:r>
            <a:pPr indent="0" marL="0">
              <a:buNone/>
            </a:pPr>
            <a:r>
              <a:rPr lang="en-US" sz="1250" dirty="0">
                <a:solidFill>
                  <a:srgbClr val="14213D"/>
                </a:solidFill>
                <a:latin typeface="Calibri" pitchFamily="34" charset="0"/>
                <a:ea typeface="Calibri" pitchFamily="34" charset="-122"/>
                <a:cs typeface="Calibri" pitchFamily="34" charset="-120"/>
              </a:rPr>
              <a:t> a contribution explains the prediction; it is not proof of cause</a:t>
            </a:r>
            <a:endParaRPr lang="en-US" sz="1250" dirty="0"/>
          </a:p>
        </p:txBody>
      </p:sp>
      <p:sp>
        <p:nvSpPr>
          <p:cNvPr id="11" name="Shape 7"/>
          <p:cNvSpPr/>
          <p:nvPr/>
        </p:nvSpPr>
        <p:spPr>
          <a:xfrm>
            <a:off x="548640" y="5212080"/>
            <a:ext cx="11064240" cy="868680"/>
          </a:xfrm>
          <a:prstGeom prst="roundRect">
            <a:avLst>
              <a:gd name="adj" fmla="val 8421"/>
            </a:avLst>
          </a:prstGeom>
          <a:solidFill>
            <a:srgbClr val="E3ECFF"/>
          </a:solidFill>
          <a:ln w="12700">
            <a:solidFill>
              <a:srgbClr val="E3ECFF"/>
            </a:solidFill>
            <a:prstDash val="solid"/>
          </a:ln>
        </p:spPr>
      </p:sp>
      <p:sp>
        <p:nvSpPr>
          <p:cNvPr id="12" name="Text 8"/>
          <p:cNvSpPr txBox="1"/>
          <p:nvPr/>
        </p:nvSpPr>
        <p:spPr>
          <a:xfrm>
            <a:off x="777240" y="5321808"/>
            <a:ext cx="10607040" cy="685800"/>
          </a:xfrm>
          <a:prstGeom prst="rect">
            <a:avLst/>
          </a:prstGeom>
          <a:noFill/>
          <a:ln/>
        </p:spPr>
        <p:txBody>
          <a:bodyPr wrap="square" lIns="0" tIns="0" rIns="0" bIns="0" rtlCol="0" anchor="ctr"/>
          <a:lstStyle/>
          <a:p>
            <a:pPr indent="0" marL="0">
              <a:buNone/>
            </a:pPr>
            <a:r>
              <a:rPr lang="en-US" sz="1300" dirty="0">
                <a:solidFill>
                  <a:srgbClr val="14213D"/>
                </a:solidFill>
                <a:latin typeface="Calibri" pitchFamily="34" charset="0"/>
                <a:ea typeface="Calibri" pitchFamily="34" charset="-122"/>
                <a:cs typeface="Calibri" pitchFamily="34" charset="-120"/>
              </a:rPr>
              <a:t>Case LAC-848274 (Compensation, risk 99%): Legal disputes +1.53 · Pending department actions +0.75 · Approval delay +0.62 · Documentation &amp; verification +0.49 log-odds.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WHERE RISK COMES FROM, NATIONALLY</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Key delay drivers across the portfolio</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48640" y="14173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7589520" y="1463040"/>
            <a:ext cx="402336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SIH driver → model factor groups</a:t>
            </a:r>
            <a:endParaRPr lang="en-US" sz="1500" dirty="0"/>
          </a:p>
        </p:txBody>
      </p:sp>
      <p:sp>
        <p:nvSpPr>
          <p:cNvPr id="9" name="Shape 5"/>
          <p:cNvSpPr/>
          <p:nvPr/>
        </p:nvSpPr>
        <p:spPr>
          <a:xfrm>
            <a:off x="7589520" y="1874520"/>
            <a:ext cx="4023360" cy="594360"/>
          </a:xfrm>
          <a:prstGeom prst="roundRect">
            <a:avLst>
              <a:gd name="adj" fmla="val 12308"/>
            </a:avLst>
          </a:prstGeom>
          <a:solidFill>
            <a:srgbClr val="F3F6FB"/>
          </a:solidFill>
          <a:ln w="12700">
            <a:solidFill>
              <a:srgbClr val="F3F6FB"/>
            </a:solidFill>
            <a:prstDash val="solid"/>
          </a:ln>
        </p:spPr>
      </p:sp>
      <p:sp>
        <p:nvSpPr>
          <p:cNvPr id="10" name="Text 6"/>
          <p:cNvSpPr txBox="1"/>
          <p:nvPr/>
        </p:nvSpPr>
        <p:spPr>
          <a:xfrm>
            <a:off x="7726680" y="1920240"/>
            <a:ext cx="3749040" cy="2560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Pending approvals</a:t>
            </a:r>
            <a:endParaRPr lang="en-US" sz="1200" dirty="0"/>
          </a:p>
        </p:txBody>
      </p:sp>
      <p:sp>
        <p:nvSpPr>
          <p:cNvPr id="11" name="Text 7"/>
          <p:cNvSpPr txBox="1"/>
          <p:nvPr/>
        </p:nvSpPr>
        <p:spPr>
          <a:xfrm>
            <a:off x="7726680" y="2167128"/>
            <a:ext cx="3749040" cy="274320"/>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Approval delay · Pending department actions · Administrative response</a:t>
            </a:r>
            <a:endParaRPr lang="en-US" sz="950" dirty="0"/>
          </a:p>
        </p:txBody>
      </p:sp>
      <p:sp>
        <p:nvSpPr>
          <p:cNvPr id="12" name="Shape 8"/>
          <p:cNvSpPr/>
          <p:nvPr/>
        </p:nvSpPr>
        <p:spPr>
          <a:xfrm>
            <a:off x="7589520" y="2560320"/>
            <a:ext cx="4023360" cy="594360"/>
          </a:xfrm>
          <a:prstGeom prst="roundRect">
            <a:avLst>
              <a:gd name="adj" fmla="val 12308"/>
            </a:avLst>
          </a:prstGeom>
          <a:solidFill>
            <a:srgbClr val="F3F6FB"/>
          </a:solidFill>
          <a:ln w="12700">
            <a:solidFill>
              <a:srgbClr val="F3F6FB"/>
            </a:solidFill>
            <a:prstDash val="solid"/>
          </a:ln>
        </p:spPr>
      </p:sp>
      <p:sp>
        <p:nvSpPr>
          <p:cNvPr id="13" name="Text 9"/>
          <p:cNvSpPr txBox="1"/>
          <p:nvPr/>
        </p:nvSpPr>
        <p:spPr>
          <a:xfrm>
            <a:off x="7726680" y="2606040"/>
            <a:ext cx="3749040" cy="2560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Compensation delays</a:t>
            </a:r>
            <a:endParaRPr lang="en-US" sz="1200" dirty="0"/>
          </a:p>
        </p:txBody>
      </p:sp>
      <p:sp>
        <p:nvSpPr>
          <p:cNvPr id="14" name="Text 10"/>
          <p:cNvSpPr txBox="1"/>
          <p:nvPr/>
        </p:nvSpPr>
        <p:spPr>
          <a:xfrm>
            <a:off x="7726680" y="2852928"/>
            <a:ext cx="3749040" cy="274320"/>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Compensation (completion, days pending, status)</a:t>
            </a:r>
            <a:endParaRPr lang="en-US" sz="950" dirty="0"/>
          </a:p>
        </p:txBody>
      </p:sp>
      <p:sp>
        <p:nvSpPr>
          <p:cNvPr id="15" name="Shape 11"/>
          <p:cNvSpPr/>
          <p:nvPr/>
        </p:nvSpPr>
        <p:spPr>
          <a:xfrm>
            <a:off x="7589520" y="3246120"/>
            <a:ext cx="4023360" cy="594360"/>
          </a:xfrm>
          <a:prstGeom prst="roundRect">
            <a:avLst>
              <a:gd name="adj" fmla="val 12308"/>
            </a:avLst>
          </a:prstGeom>
          <a:solidFill>
            <a:srgbClr val="F3F6FB"/>
          </a:solidFill>
          <a:ln w="12700">
            <a:solidFill>
              <a:srgbClr val="F3F6FB"/>
            </a:solidFill>
            <a:prstDash val="solid"/>
          </a:ln>
        </p:spPr>
      </p:sp>
      <p:sp>
        <p:nvSpPr>
          <p:cNvPr id="16" name="Text 12"/>
          <p:cNvSpPr txBox="1"/>
          <p:nvPr/>
        </p:nvSpPr>
        <p:spPr>
          <a:xfrm>
            <a:off x="7726680" y="3291840"/>
            <a:ext cx="3749040" cy="2560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Legal disputes</a:t>
            </a:r>
            <a:endParaRPr lang="en-US" sz="1200" dirty="0"/>
          </a:p>
        </p:txBody>
      </p:sp>
      <p:sp>
        <p:nvSpPr>
          <p:cNvPr id="17" name="Text 13"/>
          <p:cNvSpPr txBox="1"/>
          <p:nvPr/>
        </p:nvSpPr>
        <p:spPr>
          <a:xfrm>
            <a:off x="7726680" y="3538728"/>
            <a:ext cx="3749040" cy="274320"/>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Legal disputes · Ownership complexity</a:t>
            </a:r>
            <a:endParaRPr lang="en-US" sz="950" dirty="0"/>
          </a:p>
        </p:txBody>
      </p:sp>
      <p:sp>
        <p:nvSpPr>
          <p:cNvPr id="18" name="Shape 14"/>
          <p:cNvSpPr/>
          <p:nvPr/>
        </p:nvSpPr>
        <p:spPr>
          <a:xfrm>
            <a:off x="7589520" y="3931920"/>
            <a:ext cx="4023360" cy="594360"/>
          </a:xfrm>
          <a:prstGeom prst="roundRect">
            <a:avLst>
              <a:gd name="adj" fmla="val 12308"/>
            </a:avLst>
          </a:prstGeom>
          <a:solidFill>
            <a:srgbClr val="F3F6FB"/>
          </a:solidFill>
          <a:ln w="12700">
            <a:solidFill>
              <a:srgbClr val="F3F6FB"/>
            </a:solidFill>
            <a:prstDash val="solid"/>
          </a:ln>
        </p:spPr>
      </p:sp>
      <p:sp>
        <p:nvSpPr>
          <p:cNvPr id="19" name="Text 15"/>
          <p:cNvSpPr txBox="1"/>
          <p:nvPr/>
        </p:nvSpPr>
        <p:spPr>
          <a:xfrm>
            <a:off x="7726680" y="3977640"/>
            <a:ext cx="3749040" cy="2560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Incomplete documentation</a:t>
            </a:r>
            <a:endParaRPr lang="en-US" sz="1200" dirty="0"/>
          </a:p>
        </p:txBody>
      </p:sp>
      <p:sp>
        <p:nvSpPr>
          <p:cNvPr id="20" name="Text 16"/>
          <p:cNvSpPr txBox="1"/>
          <p:nvPr/>
        </p:nvSpPr>
        <p:spPr>
          <a:xfrm>
            <a:off x="7726680" y="4224528"/>
            <a:ext cx="3749040" cy="274320"/>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Documentation &amp; verification · Inactivity</a:t>
            </a:r>
            <a:endParaRPr lang="en-US" sz="950" dirty="0"/>
          </a:p>
        </p:txBody>
      </p:sp>
      <p:sp>
        <p:nvSpPr>
          <p:cNvPr id="21" name="Shape 17"/>
          <p:cNvSpPr/>
          <p:nvPr/>
        </p:nvSpPr>
        <p:spPr>
          <a:xfrm>
            <a:off x="7589520" y="4617720"/>
            <a:ext cx="4023360" cy="594360"/>
          </a:xfrm>
          <a:prstGeom prst="roundRect">
            <a:avLst>
              <a:gd name="adj" fmla="val 12308"/>
            </a:avLst>
          </a:prstGeom>
          <a:solidFill>
            <a:srgbClr val="F3F6FB"/>
          </a:solidFill>
          <a:ln w="12700">
            <a:solidFill>
              <a:srgbClr val="F3F6FB"/>
            </a:solidFill>
            <a:prstDash val="solid"/>
          </a:ln>
        </p:spPr>
      </p:sp>
      <p:sp>
        <p:nvSpPr>
          <p:cNvPr id="22" name="Text 18"/>
          <p:cNvSpPr txBox="1"/>
          <p:nvPr/>
        </p:nvSpPr>
        <p:spPr>
          <a:xfrm>
            <a:off x="7726680" y="4663440"/>
            <a:ext cx="3749040" cy="2560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Rehabilitation status</a:t>
            </a:r>
            <a:endParaRPr lang="en-US" sz="1200" dirty="0"/>
          </a:p>
        </p:txBody>
      </p:sp>
      <p:sp>
        <p:nvSpPr>
          <p:cNvPr id="23" name="Text 19"/>
          <p:cNvSpPr txBox="1"/>
          <p:nvPr/>
        </p:nvSpPr>
        <p:spPr>
          <a:xfrm>
            <a:off x="7726680" y="4910328"/>
            <a:ext cx="3749040" cy="274320"/>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Rehabilitation &amp; resettlement · Affected families</a:t>
            </a:r>
            <a:endParaRPr lang="en-US" sz="950" dirty="0"/>
          </a:p>
        </p:txBody>
      </p:sp>
      <p:sp>
        <p:nvSpPr>
          <p:cNvPr id="24" name="Shape 20"/>
          <p:cNvSpPr/>
          <p:nvPr/>
        </p:nvSpPr>
        <p:spPr>
          <a:xfrm>
            <a:off x="7589520" y="5303520"/>
            <a:ext cx="4023360" cy="594360"/>
          </a:xfrm>
          <a:prstGeom prst="roundRect">
            <a:avLst>
              <a:gd name="adj" fmla="val 12308"/>
            </a:avLst>
          </a:prstGeom>
          <a:solidFill>
            <a:srgbClr val="F3F6FB"/>
          </a:solidFill>
          <a:ln w="12700">
            <a:solidFill>
              <a:srgbClr val="F3F6FB"/>
            </a:solidFill>
            <a:prstDash val="solid"/>
          </a:ln>
        </p:spPr>
      </p:sp>
      <p:sp>
        <p:nvSpPr>
          <p:cNvPr id="25" name="Text 21"/>
          <p:cNvSpPr txBox="1"/>
          <p:nvPr/>
        </p:nvSpPr>
        <p:spPr>
          <a:xfrm>
            <a:off x="7726680" y="5349240"/>
            <a:ext cx="3749040" cy="2560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Administrative bottlenecks</a:t>
            </a:r>
            <a:endParaRPr lang="en-US" sz="1200" dirty="0"/>
          </a:p>
        </p:txBody>
      </p:sp>
      <p:sp>
        <p:nvSpPr>
          <p:cNvPr id="26" name="Text 22"/>
          <p:cNvSpPr txBox="1"/>
          <p:nvPr/>
        </p:nvSpPr>
        <p:spPr>
          <a:xfrm>
            <a:off x="7726680" y="5596128"/>
            <a:ext cx="3749040" cy="274320"/>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Inter-department coordination · Authority dependencies · history</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04</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Decision support</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Turning a prediction into an owned, tracked, escalated action — and testing interventions before committing to them.</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WHAT SHOULD BE DONE, BY WHOM, AND HOW MUCH IT HELPS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Predictive recommendations with predicted impact</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22</a:t>
            </a:r>
            <a:endParaRPr lang="en-US" sz="900" dirty="0"/>
          </a:p>
        </p:txBody>
      </p:sp>
      <p:sp>
        <p:nvSpPr>
          <p:cNvPr id="7" name="Shape 4"/>
          <p:cNvSpPr/>
          <p:nvPr/>
        </p:nvSpPr>
        <p:spPr>
          <a:xfrm>
            <a:off x="502920" y="1417320"/>
            <a:ext cx="6766560" cy="4096512"/>
          </a:xfrm>
          <a:prstGeom prst="roundRect">
            <a:avLst>
              <a:gd name="adj" fmla="val 1116"/>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project-actions.png">    </p:cNvPr>
          <p:cNvPicPr>
            <a:picLocks noChangeAspect="1"/>
          </p:cNvPicPr>
          <p:nvPr/>
        </p:nvPicPr>
        <p:blipFill>
          <a:blip r:embed="rId1"/>
          <a:stretch>
            <a:fillRect/>
          </a:stretch>
        </p:blipFill>
        <p:spPr>
          <a:xfrm>
            <a:off x="548640" y="1463040"/>
            <a:ext cx="6675120" cy="4005072"/>
          </a:xfrm>
          <a:prstGeom prst="rect">
            <a:avLst/>
          </a:prstGeom>
        </p:spPr>
      </p:pic>
      <p:sp>
        <p:nvSpPr>
          <p:cNvPr id="9" name="Text 5"/>
          <p:cNvSpPr txBox="1"/>
          <p:nvPr/>
        </p:nvSpPr>
        <p:spPr>
          <a:xfrm>
            <a:off x="7498080" y="1508760"/>
            <a:ext cx="4114800" cy="3291840"/>
          </a:xfrm>
          <a:prstGeom prst="rect">
            <a:avLst/>
          </a:prstGeom>
          <a:noFill/>
          <a:ln/>
        </p:spPr>
        <p:txBody>
          <a:bodyPr wrap="square" lIns="0" tIns="0" rIns="0" bIns="0" rtlCol="0" anchor="t"/>
          <a:lstStyle/>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Triggers:</a:t>
            </a:r>
            <a:pPr indent="0" marL="0">
              <a:buNone/>
            </a:pPr>
            <a:r>
              <a:rPr lang="en-US" sz="1200" dirty="0">
                <a:solidFill>
                  <a:srgbClr val="14213D"/>
                </a:solidFill>
                <a:latin typeface="Calibri" pitchFamily="34" charset="0"/>
                <a:ea typeface="Calibri" pitchFamily="34" charset="-122"/>
                <a:cs typeface="Calibri" pitchFamily="34" charset="-120"/>
              </a:rPr>
              <a:t> 20+ rules on model risk, blocked or delayed stages, compensation, legal load, documentation, approvals, dependencies, coordination, R&amp;R, stakeholders, possession</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Owner:</a:t>
            </a:r>
            <a:pPr indent="0" marL="0">
              <a:buNone/>
            </a:pPr>
            <a:r>
              <a:rPr lang="en-US" sz="1200" dirty="0">
                <a:solidFill>
                  <a:srgbClr val="14213D"/>
                </a:solidFill>
                <a:latin typeface="Calibri" pitchFamily="34" charset="0"/>
                <a:ea typeface="Calibri" pitchFamily="34" charset="-122"/>
                <a:cs typeface="Calibri" pitchFamily="34" charset="-120"/>
              </a:rPr>
              <a:t> resolved from the project's own dependency network — e.g. SLAO Mandya vs ADM (LA) Kanpur Nagar</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Model driver → action:</a:t>
            </a:r>
            <a:pPr indent="0" marL="0">
              <a:buNone/>
            </a:pPr>
            <a:r>
              <a:rPr lang="en-US" sz="1200" dirty="0">
                <a:solidFill>
                  <a:srgbClr val="14213D"/>
                </a:solidFill>
                <a:latin typeface="Calibri" pitchFamily="34" charset="0"/>
                <a:ea typeface="Calibri" pitchFamily="34" charset="-122"/>
                <a:cs typeface="Calibri" pitchFamily="34" charset="-120"/>
              </a:rPr>
              <a:t> the leading SHAP driver of a High/Critical project becomes an intervention</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Predicted impact:</a:t>
            </a:r>
            <a:pPr indent="0" marL="0">
              <a:buNone/>
            </a:pPr>
            <a:r>
              <a:rPr lang="en-US" sz="1200" dirty="0">
                <a:solidFill>
                  <a:srgbClr val="14213D"/>
                </a:solidFill>
                <a:latin typeface="Calibri" pitchFamily="34" charset="0"/>
                <a:ea typeface="Calibri" pitchFamily="34" charset="-122"/>
                <a:cs typeface="Calibri" pitchFamily="34" charset="-120"/>
              </a:rPr>
              <a:t> each action is applied to the project inputs and re-scored with the deployed model</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Type-aware:</a:t>
            </a:r>
            <a:pPr indent="0" marL="0">
              <a:buNone/>
            </a:pPr>
            <a:r>
              <a:rPr lang="en-US" sz="1200" dirty="0">
                <a:solidFill>
                  <a:srgbClr val="14213D"/>
                </a:solidFill>
                <a:latin typeface="Calibri" pitchFamily="34" charset="0"/>
                <a:ea typeface="Calibri" pitchFamily="34" charset="-122"/>
                <a:cs typeface="Calibri" pitchFamily="34" charset="-120"/>
              </a:rPr>
              <a:t> 5 documented threshold overrides by framework and project type</a:t>
            </a:r>
            <a:endParaRPr lang="en-US" sz="1200" dirty="0"/>
          </a:p>
        </p:txBody>
      </p:sp>
      <p:sp>
        <p:nvSpPr>
          <p:cNvPr id="10" name="Shape 6"/>
          <p:cNvSpPr/>
          <p:nvPr/>
        </p:nvSpPr>
        <p:spPr>
          <a:xfrm>
            <a:off x="7498080" y="4754880"/>
            <a:ext cx="4114800" cy="1325880"/>
          </a:xfrm>
          <a:prstGeom prst="roundRect">
            <a:avLst>
              <a:gd name="adj" fmla="val 5517"/>
            </a:avLst>
          </a:prstGeom>
          <a:solidFill>
            <a:srgbClr val="E6F7F1"/>
          </a:solidFill>
          <a:ln w="12700">
            <a:solidFill>
              <a:srgbClr val="E6F7F1"/>
            </a:solidFill>
            <a:prstDash val="solid"/>
          </a:ln>
        </p:spPr>
      </p:sp>
      <p:sp>
        <p:nvSpPr>
          <p:cNvPr id="11" name="Text 7"/>
          <p:cNvSpPr txBox="1"/>
          <p:nvPr/>
        </p:nvSpPr>
        <p:spPr>
          <a:xfrm>
            <a:off x="7635240" y="4828032"/>
            <a:ext cx="3886200" cy="1188720"/>
          </a:xfrm>
          <a:prstGeom prst="rect">
            <a:avLst/>
          </a:prstGeom>
          <a:noFill/>
          <a:ln/>
        </p:spPr>
        <p:txBody>
          <a:bodyPr wrap="square" lIns="0" tIns="0" rIns="0" bIns="0" rtlCol="0" anchor="t"/>
          <a:lstStyle/>
          <a:p>
            <a:pPr marL="342900" indent="-342900">
              <a:buSzPct val="100000"/>
              <a:buChar char="•"/>
            </a:pPr>
            <a:r>
              <a:rPr lang="en-US" sz="1050" dirty="0">
                <a:solidFill>
                  <a:srgbClr val="14213D"/>
                </a:solidFill>
                <a:latin typeface="Calibri" pitchFamily="34" charset="0"/>
                <a:ea typeface="Calibri" pitchFamily="34" charset="-122"/>
                <a:cs typeface="Calibri" pitchFamily="34" charset="-120"/>
              </a:rPr>
              <a:t>−11.3 pts · Document completeness 63% → 85%, records verified</a:t>
            </a:r>
            <a:endParaRPr lang="en-US" sz="1050" dirty="0"/>
          </a:p>
          <a:p>
            <a:pPr marL="342900" indent="-342900">
              <a:buSzPct val="100000"/>
              <a:buChar char="•"/>
            </a:pPr>
            <a:r>
              <a:rPr lang="en-US" sz="1050" dirty="0">
                <a:solidFill>
                  <a:srgbClr val="14213D"/>
                </a:solidFill>
                <a:latin typeface="Calibri" pitchFamily="34" charset="0"/>
                <a:ea typeface="Calibri" pitchFamily="34" charset="-122"/>
                <a:cs typeface="Calibri" pitchFamily="34" charset="-120"/>
              </a:rPr>
              <a:t>−9.1 pts · Open legal cases halved through consolidated hearings</a:t>
            </a:r>
            <a:endParaRPr lang="en-US" sz="1050" dirty="0"/>
          </a:p>
          <a:p>
            <a:pPr marL="342900" indent="-342900">
              <a:buSzPct val="100000"/>
              <a:buChar char="•"/>
            </a:pPr>
            <a:r>
              <a:rPr lang="en-US" sz="1050" dirty="0">
                <a:solidFill>
                  <a:srgbClr val="14213D"/>
                </a:solidFill>
                <a:latin typeface="Calibri" pitchFamily="34" charset="0"/>
                <a:ea typeface="Calibri" pitchFamily="34" charset="-122"/>
                <a:cs typeface="Calibri" pitchFamily="34" charset="-120"/>
              </a:rPr>
              <a:t>−6.2 pts · Pending department actions halved, coordination score +10</a:t>
            </a:r>
            <a:endParaRPr lang="en-US" sz="1050" dirty="0"/>
          </a:p>
          <a:p>
            <a:pPr marL="342900" indent="-342900">
              <a:buSzPct val="100000"/>
              <a:buChar char="•"/>
            </a:pPr>
            <a:r>
              <a:rPr lang="en-US" sz="1050" dirty="0">
                <a:solidFill>
                  <a:srgbClr val="14213D"/>
                </a:solidFill>
                <a:latin typeface="Calibri" pitchFamily="34" charset="0"/>
                <a:ea typeface="Calibri" pitchFamily="34" charset="-122"/>
                <a:cs typeface="Calibri" pitchFamily="34" charset="-120"/>
              </a:rPr>
              <a:t>−11.6 pts · Document completeness 65% → 85%, records verified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OWNED, DUE-DATED, AUDITED WORKFLOW</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Intervention queue: from recommendation to resolution</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23</a:t>
            </a:r>
            <a:endParaRPr lang="en-US" sz="900" dirty="0"/>
          </a:p>
        </p:txBody>
      </p:sp>
      <p:sp>
        <p:nvSpPr>
          <p:cNvPr id="7" name="Shape 4"/>
          <p:cNvSpPr/>
          <p:nvPr/>
        </p:nvSpPr>
        <p:spPr>
          <a:xfrm>
            <a:off x="4526280" y="1417320"/>
            <a:ext cx="7132320" cy="4315968"/>
          </a:xfrm>
          <a:prstGeom prst="roundRect">
            <a:avLst>
              <a:gd name="adj" fmla="val 1059"/>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queue.png">    </p:cNvPr>
          <p:cNvPicPr>
            <a:picLocks noChangeAspect="1"/>
          </p:cNvPicPr>
          <p:nvPr/>
        </p:nvPicPr>
        <p:blipFill>
          <a:blip r:embed="rId1"/>
          <a:stretch>
            <a:fillRect/>
          </a:stretch>
        </p:blipFill>
        <p:spPr>
          <a:xfrm>
            <a:off x="4572000" y="1463040"/>
            <a:ext cx="7040880" cy="4224528"/>
          </a:xfrm>
          <a:prstGeom prst="rect">
            <a:avLst/>
          </a:prstGeom>
        </p:spPr>
      </p:pic>
      <p:sp>
        <p:nvSpPr>
          <p:cNvPr id="9" name="Shape 5"/>
          <p:cNvSpPr/>
          <p:nvPr/>
        </p:nvSpPr>
        <p:spPr>
          <a:xfrm>
            <a:off x="548640" y="1554480"/>
            <a:ext cx="3566160" cy="502920"/>
          </a:xfrm>
          <a:prstGeom prst="roundRect">
            <a:avLst>
              <a:gd name="adj" fmla="val 14545"/>
            </a:avLst>
          </a:prstGeom>
          <a:solidFill>
            <a:srgbClr val="3B72F0"/>
          </a:solidFill>
          <a:ln w="12700">
            <a:solidFill>
              <a:srgbClr val="3B72F0"/>
            </a:solidFill>
            <a:prstDash val="solid"/>
          </a:ln>
        </p:spPr>
      </p:sp>
      <p:sp>
        <p:nvSpPr>
          <p:cNvPr id="10" name="Text 6"/>
          <p:cNvSpPr txBox="1"/>
          <p:nvPr/>
        </p:nvSpPr>
        <p:spPr>
          <a:xfrm>
            <a:off x="548640" y="1554480"/>
            <a:ext cx="356616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a:t>
            </a:r>
            <a:endParaRPr lang="en-US" sz="1300" dirty="0"/>
          </a:p>
        </p:txBody>
      </p:sp>
      <p:sp>
        <p:nvSpPr>
          <p:cNvPr id="11" name="Shape 7"/>
          <p:cNvSpPr/>
          <p:nvPr/>
        </p:nvSpPr>
        <p:spPr>
          <a:xfrm>
            <a:off x="548640" y="2212848"/>
            <a:ext cx="3566160" cy="502920"/>
          </a:xfrm>
          <a:prstGeom prst="roundRect">
            <a:avLst>
              <a:gd name="adj" fmla="val 14545"/>
            </a:avLst>
          </a:prstGeom>
          <a:solidFill>
            <a:srgbClr val="0EA5A4"/>
          </a:solidFill>
          <a:ln w="12700">
            <a:solidFill>
              <a:srgbClr val="0EA5A4"/>
            </a:solidFill>
            <a:prstDash val="solid"/>
          </a:ln>
        </p:spPr>
      </p:sp>
      <p:sp>
        <p:nvSpPr>
          <p:cNvPr id="12" name="Text 8"/>
          <p:cNvSpPr txBox="1"/>
          <p:nvPr/>
        </p:nvSpPr>
        <p:spPr>
          <a:xfrm>
            <a:off x="548640" y="2212848"/>
            <a:ext cx="356616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ACKNOWLEDGED</a:t>
            </a:r>
            <a:endParaRPr lang="en-US" sz="1300" dirty="0"/>
          </a:p>
        </p:txBody>
      </p:sp>
      <p:sp>
        <p:nvSpPr>
          <p:cNvPr id="13" name="Shape 9"/>
          <p:cNvSpPr/>
          <p:nvPr/>
        </p:nvSpPr>
        <p:spPr>
          <a:xfrm>
            <a:off x="548640" y="2871216"/>
            <a:ext cx="3566160" cy="502920"/>
          </a:xfrm>
          <a:prstGeom prst="roundRect">
            <a:avLst>
              <a:gd name="adj" fmla="val 14545"/>
            </a:avLst>
          </a:prstGeom>
          <a:solidFill>
            <a:srgbClr val="F59E0B"/>
          </a:solidFill>
          <a:ln w="12700">
            <a:solidFill>
              <a:srgbClr val="F59E0B"/>
            </a:solidFill>
            <a:prstDash val="solid"/>
          </a:ln>
        </p:spPr>
      </p:sp>
      <p:sp>
        <p:nvSpPr>
          <p:cNvPr id="14" name="Text 10"/>
          <p:cNvSpPr txBox="1"/>
          <p:nvPr/>
        </p:nvSpPr>
        <p:spPr>
          <a:xfrm>
            <a:off x="548640" y="2871216"/>
            <a:ext cx="356616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 PROGRESS</a:t>
            </a:r>
            <a:endParaRPr lang="en-US" sz="1300" dirty="0"/>
          </a:p>
        </p:txBody>
      </p:sp>
      <p:sp>
        <p:nvSpPr>
          <p:cNvPr id="15" name="Shape 11"/>
          <p:cNvSpPr/>
          <p:nvPr/>
        </p:nvSpPr>
        <p:spPr>
          <a:xfrm>
            <a:off x="548640" y="3529584"/>
            <a:ext cx="3566160" cy="502920"/>
          </a:xfrm>
          <a:prstGeom prst="roundRect">
            <a:avLst>
              <a:gd name="adj" fmla="val 14545"/>
            </a:avLst>
          </a:prstGeom>
          <a:solidFill>
            <a:srgbClr val="10B981"/>
          </a:solidFill>
          <a:ln w="12700">
            <a:solidFill>
              <a:srgbClr val="10B981"/>
            </a:solidFill>
            <a:prstDash val="solid"/>
          </a:ln>
        </p:spPr>
      </p:sp>
      <p:sp>
        <p:nvSpPr>
          <p:cNvPr id="16" name="Text 12"/>
          <p:cNvSpPr txBox="1"/>
          <p:nvPr/>
        </p:nvSpPr>
        <p:spPr>
          <a:xfrm>
            <a:off x="548640" y="3529584"/>
            <a:ext cx="356616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RESOLVED</a:t>
            </a:r>
            <a:endParaRPr lang="en-US" sz="1300" dirty="0"/>
          </a:p>
        </p:txBody>
      </p:sp>
      <p:sp>
        <p:nvSpPr>
          <p:cNvPr id="17" name="Text 13"/>
          <p:cNvSpPr txBox="1"/>
          <p:nvPr/>
        </p:nvSpPr>
        <p:spPr>
          <a:xfrm>
            <a:off x="548640" y="4297680"/>
            <a:ext cx="3749040" cy="18288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Due in 7 / 14 / 30 days by severity</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Resolve or dismiss needs a note</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Overdue items escalate automatically one level up</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Every change: user, role, before, after — in the audit chain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NOBODY HAS TO REMEMBER TO CHECK</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Automated alerts, escalation and notifications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24</a:t>
            </a:r>
            <a:endParaRPr lang="en-US" sz="900" dirty="0"/>
          </a:p>
        </p:txBody>
      </p:sp>
      <p:sp>
        <p:nvSpPr>
          <p:cNvPr id="7" name="Shape 4"/>
          <p:cNvSpPr/>
          <p:nvPr/>
        </p:nvSpPr>
        <p:spPr>
          <a:xfrm>
            <a:off x="502920" y="1417320"/>
            <a:ext cx="6766560" cy="4096512"/>
          </a:xfrm>
          <a:prstGeom prst="roundRect">
            <a:avLst>
              <a:gd name="adj" fmla="val 1116"/>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notifications.png">    </p:cNvPr>
          <p:cNvPicPr>
            <a:picLocks noChangeAspect="1"/>
          </p:cNvPicPr>
          <p:nvPr/>
        </p:nvPicPr>
        <p:blipFill>
          <a:blip r:embed="rId1"/>
          <a:stretch>
            <a:fillRect/>
          </a:stretch>
        </p:blipFill>
        <p:spPr>
          <a:xfrm>
            <a:off x="548640" y="1463040"/>
            <a:ext cx="6675120" cy="4005072"/>
          </a:xfrm>
          <a:prstGeom prst="rect">
            <a:avLst/>
          </a:prstGeom>
        </p:spPr>
      </p:pic>
      <p:sp>
        <p:nvSpPr>
          <p:cNvPr id="9" name="Shape 5"/>
          <p:cNvSpPr/>
          <p:nvPr/>
        </p:nvSpPr>
        <p:spPr>
          <a:xfrm>
            <a:off x="7498080" y="1581912"/>
            <a:ext cx="502920" cy="502920"/>
          </a:xfrm>
          <a:prstGeom prst="ellipse">
            <a:avLst/>
          </a:prstGeom>
          <a:solidFill>
            <a:srgbClr val="10B981"/>
          </a:solidFill>
          <a:ln w="1270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7618781" y="1702613"/>
            <a:ext cx="261518" cy="261518"/>
          </a:xfrm>
          <a:prstGeom prst="rect">
            <a:avLst/>
          </a:prstGeom>
        </p:spPr>
      </p:pic>
      <p:sp>
        <p:nvSpPr>
          <p:cNvPr id="11" name="Text 6"/>
          <p:cNvSpPr txBox="1"/>
          <p:nvPr/>
        </p:nvSpPr>
        <p:spPr>
          <a:xfrm>
            <a:off x="8138160" y="1508760"/>
            <a:ext cx="347472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In-app</a:t>
            </a:r>
            <a:endParaRPr lang="en-US" sz="1400" dirty="0"/>
          </a:p>
        </p:txBody>
      </p:sp>
      <p:sp>
        <p:nvSpPr>
          <p:cNvPr id="12" name="Text 7"/>
          <p:cNvSpPr txBox="1"/>
          <p:nvPr/>
        </p:nvSpPr>
        <p:spPr>
          <a:xfrm>
            <a:off x="8138160" y="1819656"/>
            <a:ext cx="3474720" cy="5029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Bell, alert centre, “My notifications” — delivered</a:t>
            </a:r>
            <a:endParaRPr lang="en-US" sz="1100" dirty="0"/>
          </a:p>
        </p:txBody>
      </p:sp>
      <p:sp>
        <p:nvSpPr>
          <p:cNvPr id="13" name="Shape 8"/>
          <p:cNvSpPr/>
          <p:nvPr/>
        </p:nvSpPr>
        <p:spPr>
          <a:xfrm>
            <a:off x="7498080" y="2496312"/>
            <a:ext cx="502920" cy="502920"/>
          </a:xfrm>
          <a:prstGeom prst="ellipse">
            <a:avLst/>
          </a:prstGeom>
          <a:solidFill>
            <a:srgbClr val="F59E0B"/>
          </a:solidFill>
          <a:ln w="12700">
            <a:solidFill>
              <a:srgbClr val="F59E0B"/>
            </a:solidFill>
            <a:prstDash val="solid"/>
          </a:ln>
        </p:spPr>
      </p:sp>
      <p:pic>
        <p:nvPicPr>
          <p:cNvPr id="14" name="Image 2" descr="preencoded.png">    </p:cNvPr>
          <p:cNvPicPr>
            <a:picLocks noChangeAspect="1"/>
          </p:cNvPicPr>
          <p:nvPr/>
        </p:nvPicPr>
        <p:blipFill>
          <a:blip r:embed="rId3"/>
          <a:stretch>
            <a:fillRect/>
          </a:stretch>
        </p:blipFill>
        <p:spPr>
          <a:xfrm>
            <a:off x="7618781" y="2617013"/>
            <a:ext cx="261518" cy="261518"/>
          </a:xfrm>
          <a:prstGeom prst="rect">
            <a:avLst/>
          </a:prstGeom>
        </p:spPr>
      </p:pic>
      <p:sp>
        <p:nvSpPr>
          <p:cNvPr id="15" name="Text 9"/>
          <p:cNvSpPr txBox="1"/>
          <p:nvPr/>
        </p:nvSpPr>
        <p:spPr>
          <a:xfrm>
            <a:off x="8138160" y="2423160"/>
            <a:ext cx="347472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Email</a:t>
            </a:r>
            <a:endParaRPr lang="en-US" sz="1400" dirty="0"/>
          </a:p>
        </p:txBody>
      </p:sp>
      <p:sp>
        <p:nvSpPr>
          <p:cNvPr id="16" name="Text 10"/>
          <p:cNvSpPr txBox="1"/>
          <p:nvPr/>
        </p:nvSpPr>
        <p:spPr>
          <a:xfrm>
            <a:off x="8138160" y="2734056"/>
            <a:ext cx="3474720" cy="5029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Digest per officer — recorded in outbox (gateway not connected)</a:t>
            </a:r>
            <a:endParaRPr lang="en-US" sz="1100" dirty="0"/>
          </a:p>
        </p:txBody>
      </p:sp>
      <p:sp>
        <p:nvSpPr>
          <p:cNvPr id="17" name="Shape 11"/>
          <p:cNvSpPr/>
          <p:nvPr/>
        </p:nvSpPr>
        <p:spPr>
          <a:xfrm>
            <a:off x="7498080" y="3410712"/>
            <a:ext cx="502920" cy="502920"/>
          </a:xfrm>
          <a:prstGeom prst="ellipse">
            <a:avLst/>
          </a:prstGeom>
          <a:solidFill>
            <a:srgbClr val="F59E0B"/>
          </a:solidFill>
          <a:ln w="12700">
            <a:solidFill>
              <a:srgbClr val="F59E0B"/>
            </a:solidFill>
            <a:prstDash val="solid"/>
          </a:ln>
        </p:spPr>
      </p:sp>
      <p:pic>
        <p:nvPicPr>
          <p:cNvPr id="18" name="Image 3" descr="preencoded.png">    </p:cNvPr>
          <p:cNvPicPr>
            <a:picLocks noChangeAspect="1"/>
          </p:cNvPicPr>
          <p:nvPr/>
        </p:nvPicPr>
        <p:blipFill>
          <a:blip r:embed="rId4"/>
          <a:stretch>
            <a:fillRect/>
          </a:stretch>
        </p:blipFill>
        <p:spPr>
          <a:xfrm>
            <a:off x="7618781" y="3531413"/>
            <a:ext cx="261518" cy="261518"/>
          </a:xfrm>
          <a:prstGeom prst="rect">
            <a:avLst/>
          </a:prstGeom>
        </p:spPr>
      </p:pic>
      <p:sp>
        <p:nvSpPr>
          <p:cNvPr id="19" name="Text 12"/>
          <p:cNvSpPr txBox="1"/>
          <p:nvPr/>
        </p:nvSpPr>
        <p:spPr>
          <a:xfrm>
            <a:off x="8138160" y="3337560"/>
            <a:ext cx="347472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SMS</a:t>
            </a:r>
            <a:endParaRPr lang="en-US" sz="1400" dirty="0"/>
          </a:p>
        </p:txBody>
      </p:sp>
      <p:sp>
        <p:nvSpPr>
          <p:cNvPr id="20" name="Text 13"/>
          <p:cNvSpPr txBox="1"/>
          <p:nvPr/>
        </p:nvSpPr>
        <p:spPr>
          <a:xfrm>
            <a:off x="8138160" y="3648456"/>
            <a:ext cx="3474720" cy="5029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Critical items only, 160 characters — outbox</a:t>
            </a:r>
            <a:endParaRPr lang="en-US" sz="1100" dirty="0"/>
          </a:p>
        </p:txBody>
      </p:sp>
      <p:sp>
        <p:nvSpPr>
          <p:cNvPr id="21" name="Shape 14"/>
          <p:cNvSpPr/>
          <p:nvPr/>
        </p:nvSpPr>
        <p:spPr>
          <a:xfrm>
            <a:off x="7498080" y="4325112"/>
            <a:ext cx="502920" cy="502920"/>
          </a:xfrm>
          <a:prstGeom prst="ellipse">
            <a:avLst/>
          </a:prstGeom>
          <a:solidFill>
            <a:srgbClr val="3B72F0"/>
          </a:solidFill>
          <a:ln w="12700">
            <a:solidFill>
              <a:srgbClr val="3B72F0"/>
            </a:solidFill>
            <a:prstDash val="solid"/>
          </a:ln>
        </p:spPr>
      </p:sp>
      <p:pic>
        <p:nvPicPr>
          <p:cNvPr id="22" name="Image 4" descr="preencoded.png">    </p:cNvPr>
          <p:cNvPicPr>
            <a:picLocks noChangeAspect="1"/>
          </p:cNvPicPr>
          <p:nvPr/>
        </p:nvPicPr>
        <p:blipFill>
          <a:blip r:embed="rId5"/>
          <a:stretch>
            <a:fillRect/>
          </a:stretch>
        </p:blipFill>
        <p:spPr>
          <a:xfrm>
            <a:off x="7618781" y="4445813"/>
            <a:ext cx="261518" cy="261518"/>
          </a:xfrm>
          <a:prstGeom prst="rect">
            <a:avLst/>
          </a:prstGeom>
        </p:spPr>
      </p:pic>
      <p:sp>
        <p:nvSpPr>
          <p:cNvPr id="23" name="Text 15"/>
          <p:cNvSpPr txBox="1"/>
          <p:nvPr/>
        </p:nvSpPr>
        <p:spPr>
          <a:xfrm>
            <a:off x="8138160" y="4251960"/>
            <a:ext cx="347472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Webhook</a:t>
            </a:r>
            <a:endParaRPr lang="en-US" sz="1400" dirty="0"/>
          </a:p>
        </p:txBody>
      </p:sp>
      <p:sp>
        <p:nvSpPr>
          <p:cNvPr id="24" name="Text 16"/>
          <p:cNvSpPr txBox="1"/>
          <p:nvPr/>
        </p:nvSpPr>
        <p:spPr>
          <a:xfrm>
            <a:off x="8138160" y="4562856"/>
            <a:ext cx="3474720" cy="5029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Real HTTP POST to systems registered with an API key</a:t>
            </a:r>
            <a:endParaRPr lang="en-US" sz="1100" dirty="0"/>
          </a:p>
        </p:txBody>
      </p:sp>
      <p:sp>
        <p:nvSpPr>
          <p:cNvPr id="25" name="Shape 17"/>
          <p:cNvSpPr/>
          <p:nvPr/>
        </p:nvSpPr>
        <p:spPr>
          <a:xfrm>
            <a:off x="7498080" y="5239512"/>
            <a:ext cx="502920" cy="502920"/>
          </a:xfrm>
          <a:prstGeom prst="ellipse">
            <a:avLst/>
          </a:prstGeom>
          <a:solidFill>
            <a:srgbClr val="E11D48"/>
          </a:solidFill>
          <a:ln w="12700">
            <a:solidFill>
              <a:srgbClr val="E11D48"/>
            </a:solidFill>
            <a:prstDash val="solid"/>
          </a:ln>
        </p:spPr>
      </p:sp>
      <p:pic>
        <p:nvPicPr>
          <p:cNvPr id="26" name="Image 5" descr="preencoded.png">    </p:cNvPr>
          <p:cNvPicPr>
            <a:picLocks noChangeAspect="1"/>
          </p:cNvPicPr>
          <p:nvPr/>
        </p:nvPicPr>
        <p:blipFill>
          <a:blip r:embed="rId6"/>
          <a:stretch>
            <a:fillRect/>
          </a:stretch>
        </p:blipFill>
        <p:spPr>
          <a:xfrm>
            <a:off x="7618781" y="5360213"/>
            <a:ext cx="261518" cy="261518"/>
          </a:xfrm>
          <a:prstGeom prst="rect">
            <a:avLst/>
          </a:prstGeom>
        </p:spPr>
      </p:pic>
      <p:sp>
        <p:nvSpPr>
          <p:cNvPr id="27" name="Text 18"/>
          <p:cNvSpPr txBox="1"/>
          <p:nvPr/>
        </p:nvSpPr>
        <p:spPr>
          <a:xfrm>
            <a:off x="8138160" y="5166360"/>
            <a:ext cx="347472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Escalation</a:t>
            </a:r>
            <a:endParaRPr lang="en-US" sz="1400" dirty="0"/>
          </a:p>
        </p:txBody>
      </p:sp>
      <p:sp>
        <p:nvSpPr>
          <p:cNvPr id="28" name="Text 19"/>
          <p:cNvSpPr txBox="1"/>
          <p:nvPr/>
        </p:nvSpPr>
        <p:spPr>
          <a:xfrm>
            <a:off x="8138160" y="5477256"/>
            <a:ext cx="3474720" cy="50292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Overdue → supervising role (e.g. LAO → District Administrator → State)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WHAT-IF ON THE DEPLOYED MODEL</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Scenario scoring: test an intervention before committing</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25</a:t>
            </a:r>
            <a:endParaRPr lang="en-US" sz="900" dirty="0"/>
          </a:p>
        </p:txBody>
      </p:sp>
      <p:sp>
        <p:nvSpPr>
          <p:cNvPr id="7" name="Shape 4"/>
          <p:cNvSpPr/>
          <p:nvPr/>
        </p:nvSpPr>
        <p:spPr>
          <a:xfrm>
            <a:off x="4251960" y="1371600"/>
            <a:ext cx="7406640" cy="4480560"/>
          </a:xfrm>
          <a:prstGeom prst="roundRect">
            <a:avLst>
              <a:gd name="adj" fmla="val 1020"/>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predict.png">    </p:cNvPr>
          <p:cNvPicPr>
            <a:picLocks noChangeAspect="1"/>
          </p:cNvPicPr>
          <p:nvPr/>
        </p:nvPicPr>
        <p:blipFill>
          <a:blip r:embed="rId1"/>
          <a:stretch>
            <a:fillRect/>
          </a:stretch>
        </p:blipFill>
        <p:spPr>
          <a:xfrm>
            <a:off x="4297680" y="1417320"/>
            <a:ext cx="7315200" cy="4389120"/>
          </a:xfrm>
          <a:prstGeom prst="rect">
            <a:avLst/>
          </a:prstGeom>
        </p:spPr>
      </p:pic>
      <p:sp>
        <p:nvSpPr>
          <p:cNvPr id="9" name="Text 5"/>
          <p:cNvSpPr txBox="1"/>
          <p:nvPr/>
        </p:nvSpPr>
        <p:spPr>
          <a:xfrm>
            <a:off x="548640" y="1554480"/>
            <a:ext cx="3474720" cy="4572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Context drives the dependency network: an irrigation project never gets aviation clearances</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Ineligible acquiring bodies are rejected by the API</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Every slider change re-scored by the deployed ensemble, with exact TreeSHAP</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Effect of clearing one pending department action measured by re-scoring</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Baseline vs scenario: change in risk, slip days and dependencies</a:t>
            </a:r>
            <a:endParaRPr lang="en-US" sz="1250" dirty="0"/>
          </a:p>
          <a:p>
            <a:pPr marL="342900" indent="-342900">
              <a:spcAft>
                <a:spcPts val="600"/>
              </a:spcAft>
              <a:buSzPct val="100000"/>
              <a:buChar char="•"/>
            </a:pPr>
            <a:r>
              <a:rPr lang="en-US" sz="1250" dirty="0">
                <a:solidFill>
                  <a:srgbClr val="14213D"/>
                </a:solidFill>
                <a:latin typeface="Calibri" pitchFamily="34" charset="0"/>
                <a:ea typeface="Calibri" pitchFamily="34" charset="-122"/>
                <a:cs typeface="Calibri" pitchFamily="34" charset="-120"/>
              </a:rPr>
              <a:t>Seed from any real project in your jurisdiction</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05</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Dashboards &amp; GIS</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Interactive views for policymakers and administrators — from the national portfolio to a single parcel.</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DELAY PROBABILITY, RISK CATEGORIES, TIMELINE — SCOPED TO YOUR JURISDICTION</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Command Centre dashboard</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27</a:t>
            </a:r>
            <a:endParaRPr lang="en-US" sz="900" dirty="0"/>
          </a:p>
        </p:txBody>
      </p:sp>
      <p:sp>
        <p:nvSpPr>
          <p:cNvPr id="7" name="Shape 4"/>
          <p:cNvSpPr/>
          <p:nvPr/>
        </p:nvSpPr>
        <p:spPr>
          <a:xfrm>
            <a:off x="502920" y="1371600"/>
            <a:ext cx="7498080" cy="4535424"/>
          </a:xfrm>
          <a:prstGeom prst="roundRect">
            <a:avLst>
              <a:gd name="adj" fmla="val 1008"/>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dashboard.png">    </p:cNvPr>
          <p:cNvPicPr>
            <a:picLocks noChangeAspect="1"/>
          </p:cNvPicPr>
          <p:nvPr/>
        </p:nvPicPr>
        <p:blipFill>
          <a:blip r:embed="rId1"/>
          <a:stretch>
            <a:fillRect/>
          </a:stretch>
        </p:blipFill>
        <p:spPr>
          <a:xfrm>
            <a:off x="548640" y="1417320"/>
            <a:ext cx="7406640" cy="4443984"/>
          </a:xfrm>
          <a:prstGeom prst="rect">
            <a:avLst/>
          </a:prstGeom>
        </p:spPr>
      </p:pic>
      <p:sp>
        <p:nvSpPr>
          <p:cNvPr id="9" name="Text 5"/>
          <p:cNvSpPr txBox="1"/>
          <p:nvPr/>
        </p:nvSpPr>
        <p:spPr>
          <a:xfrm>
            <a:off x="8229600" y="1463040"/>
            <a:ext cx="3383280" cy="4663440"/>
          </a:xfrm>
          <a:prstGeom prst="rect">
            <a:avLst/>
          </a:prstGeom>
          <a:noFill/>
          <a:ln/>
        </p:spPr>
        <p:txBody>
          <a:bodyPr wrap="square" lIns="0" tIns="0" rIns="0" bIns="0" rtlCol="0" anchor="t"/>
          <a:lstStyle/>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KPIs:</a:t>
            </a:r>
            <a:pPr indent="0" marL="0">
              <a:buNone/>
            </a:pPr>
            <a:r>
              <a:rPr lang="en-US" sz="1150" dirty="0">
                <a:solidFill>
                  <a:srgbClr val="14213D"/>
                </a:solidFill>
                <a:latin typeface="Calibri" pitchFamily="34" charset="0"/>
                <a:ea typeface="Calibri" pitchFamily="34" charset="-122"/>
                <a:cs typeface="Calibri" pitchFamily="34" charset="-120"/>
              </a:rPr>
              <a:t> 312 projects · 69 High · 54 Critical · 144 delayed · 97 need immediate action</a:t>
            </a:r>
            <a:endParaRPr lang="en-US" sz="1150" dirty="0"/>
          </a:p>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Delay probability:</a:t>
            </a:r>
            <a:pPr indent="0" marL="0">
              <a:buNone/>
            </a:pPr>
            <a:r>
              <a:rPr lang="en-US" sz="1150" dirty="0">
                <a:solidFill>
                  <a:srgbClr val="14213D"/>
                </a:solidFill>
                <a:latin typeface="Calibri" pitchFamily="34" charset="0"/>
                <a:ea typeface="Calibri" pitchFamily="34" charset="-122"/>
                <a:cs typeface="Calibri" pitchFamily="34" charset="-120"/>
              </a:rPr>
              <a:t> average 40%; 136 projects forecast &gt; 6 months late</a:t>
            </a:r>
            <a:endParaRPr lang="en-US" sz="1150" dirty="0"/>
          </a:p>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Risk categorisation:</a:t>
            </a:r>
            <a:pPr indent="0" marL="0">
              <a:buNone/>
            </a:pPr>
            <a:r>
              <a:rPr lang="en-US" sz="1150" dirty="0">
                <a:solidFill>
                  <a:srgbClr val="14213D"/>
                </a:solidFill>
                <a:latin typeface="Calibri" pitchFamily="34" charset="0"/>
                <a:ea typeface="Calibri" pitchFamily="34" charset="-122"/>
                <a:cs typeface="Calibri" pitchFamily="34" charset="-120"/>
              </a:rPr>
              <a:t> project and case distributions</a:t>
            </a:r>
            <a:endParaRPr lang="en-US" sz="1150" dirty="0"/>
          </a:p>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Stage distribution</a:t>
            </a:r>
            <a:pPr indent="0" marL="0">
              <a:buNone/>
            </a:pPr>
            <a:r>
              <a:rPr lang="en-US" sz="1150" dirty="0">
                <a:solidFill>
                  <a:srgbClr val="14213D"/>
                </a:solidFill>
                <a:latin typeface="Calibri" pitchFamily="34" charset="0"/>
                <a:ea typeface="Calibri" pitchFamily="34" charset="-122"/>
                <a:cs typeface="Calibri" pitchFamily="34" charset="-120"/>
              </a:rPr>
              <a:t> with in-progress / delayed / blocked</a:t>
            </a:r>
            <a:endParaRPr lang="en-US" sz="1150" dirty="0"/>
          </a:p>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State and district risk,</a:t>
            </a:r>
            <a:pPr indent="0" marL="0">
              <a:buNone/>
            </a:pPr>
            <a:r>
              <a:rPr lang="en-US" sz="1150" dirty="0">
                <a:solidFill>
                  <a:srgbClr val="14213D"/>
                </a:solidFill>
                <a:latin typeface="Calibri" pitchFamily="34" charset="0"/>
                <a:ea typeface="Calibri" pitchFamily="34" charset="-122"/>
                <a:cs typeface="Calibri" pitchFamily="34" charset="-120"/>
              </a:rPr>
              <a:t> project-type risk, delay drivers, department bottlenecks</a:t>
            </a:r>
            <a:endParaRPr lang="en-US" sz="1150" dirty="0"/>
          </a:p>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Timeline:</a:t>
            </a:r>
            <a:pPr indent="0" marL="0">
              <a:buNone/>
            </a:pPr>
            <a:r>
              <a:rPr lang="en-US" sz="1150" dirty="0">
                <a:solidFill>
                  <a:srgbClr val="14213D"/>
                </a:solidFill>
                <a:latin typeface="Calibri" pitchFamily="34" charset="0"/>
                <a:ea typeface="Calibri" pitchFamily="34" charset="-122"/>
                <a:cs typeface="Calibri" pitchFamily="34" charset="-120"/>
              </a:rPr>
              <a:t> stage status and forecast overrun buckets</a:t>
            </a:r>
            <a:endParaRPr lang="en-US" sz="1150" dirty="0"/>
          </a:p>
          <a:p>
            <a:pPr marL="342900" indent="-342900">
              <a:spcAft>
                <a:spcPts val="600"/>
              </a:spcAft>
              <a:buSzPct val="100000"/>
              <a:buChar char="•"/>
            </a:pPr>
            <a:r>
              <a:rPr lang="en-US" sz="1150" b="1" dirty="0">
                <a:solidFill>
                  <a:srgbClr val="14213D"/>
                </a:solidFill>
                <a:latin typeface="Calibri" pitchFamily="34" charset="0"/>
                <a:ea typeface="Calibri" pitchFamily="34" charset="-122"/>
                <a:cs typeface="Calibri" pitchFamily="34" charset="-120"/>
              </a:rPr>
              <a:t>Delay trend:</a:t>
            </a:r>
            <a:pPr indent="0" marL="0">
              <a:buNone/>
            </a:pPr>
            <a:r>
              <a:rPr lang="en-US" sz="1150" dirty="0">
                <a:solidFill>
                  <a:srgbClr val="14213D"/>
                </a:solidFill>
                <a:latin typeface="Calibri" pitchFamily="34" charset="0"/>
                <a:ea typeface="Calibri" pitchFamily="34" charset="-122"/>
                <a:cs typeface="Calibri" pitchFamily="34" charset="-120"/>
              </a:rPr>
              <a:t> observed history then model forecast</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DELAY TRENDS, PERFORMANCE INDICATORS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District &amp; State delay trends and KPIs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28</a:t>
            </a:r>
            <a:endParaRPr lang="en-US" sz="900" dirty="0"/>
          </a:p>
        </p:txBody>
      </p:sp>
      <p:sp>
        <p:nvSpPr>
          <p:cNvPr id="7" name="Shape 4"/>
          <p:cNvSpPr/>
          <p:nvPr/>
        </p:nvSpPr>
        <p:spPr>
          <a:xfrm>
            <a:off x="502920" y="1371600"/>
            <a:ext cx="5623560" cy="3410712"/>
          </a:xfrm>
          <a:prstGeom prst="roundRect">
            <a:avLst>
              <a:gd name="adj" fmla="val 1340"/>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trends.png">    </p:cNvPr>
          <p:cNvPicPr>
            <a:picLocks noChangeAspect="1"/>
          </p:cNvPicPr>
          <p:nvPr/>
        </p:nvPicPr>
        <p:blipFill>
          <a:blip r:embed="rId1"/>
          <a:stretch>
            <a:fillRect/>
          </a:stretch>
        </p:blipFill>
        <p:spPr>
          <a:xfrm>
            <a:off x="548640" y="1417320"/>
            <a:ext cx="5532120" cy="3319272"/>
          </a:xfrm>
          <a:prstGeom prst="rect">
            <a:avLst/>
          </a:prstGeom>
        </p:spPr>
      </p:pic>
      <p:sp>
        <p:nvSpPr>
          <p:cNvPr id="9" name="Shape 5"/>
          <p:cNvSpPr/>
          <p:nvPr/>
        </p:nvSpPr>
        <p:spPr>
          <a:xfrm>
            <a:off x="6126480" y="1371600"/>
            <a:ext cx="5577840" cy="3383280"/>
          </a:xfrm>
          <a:prstGeom prst="roundRect">
            <a:avLst>
              <a:gd name="adj" fmla="val 1351"/>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10" name="Image 1" descr="C:\Users\byted\AppData\Local\Temp\claude\C--ClaudeCode\522fe311-e259-49a1-bdae-38a26cc91572\scratchpad\deck\shots\trends-league.png">    </p:cNvPr>
          <p:cNvPicPr>
            <a:picLocks noChangeAspect="1"/>
          </p:cNvPicPr>
          <p:nvPr/>
        </p:nvPicPr>
        <p:blipFill>
          <a:blip r:embed="rId2"/>
          <a:stretch>
            <a:fillRect/>
          </a:stretch>
        </p:blipFill>
        <p:spPr>
          <a:xfrm>
            <a:off x="6172200" y="1417320"/>
            <a:ext cx="5486400" cy="3291840"/>
          </a:xfrm>
          <a:prstGeom prst="rect">
            <a:avLst/>
          </a:prstGeom>
        </p:spPr>
      </p:pic>
      <p:sp>
        <p:nvSpPr>
          <p:cNvPr id="11" name="Text 6"/>
          <p:cNvSpPr txBox="1"/>
          <p:nvPr/>
        </p:nvSpPr>
        <p:spPr>
          <a:xfrm>
            <a:off x="548640" y="4892040"/>
            <a:ext cx="5532120" cy="640080"/>
          </a:xfrm>
          <a:prstGeom prst="rect">
            <a:avLst/>
          </a:prstGeom>
          <a:noFill/>
          <a:ln/>
        </p:spPr>
        <p:txBody>
          <a:bodyPr wrap="square" lIns="0" tIns="0" rIns="0" bIns="0" rtlCol="0" anchor="t"/>
          <a:lstStyle/>
          <a:p>
            <a:pPr indent="0" marL="0">
              <a:buNone/>
            </a:pPr>
            <a:r>
              <a:rPr lang="en-US" sz="1150" dirty="0">
                <a:solidFill>
                  <a:srgbClr val="14213D"/>
                </a:solidFill>
                <a:latin typeface="Calibri" pitchFamily="34" charset="0"/>
                <a:ea typeface="Calibri" pitchFamily="34" charset="-122"/>
                <a:cs typeface="Calibri" pitchFamily="34" charset="-120"/>
              </a:rPr>
              <a:t>Compare States, or the districts of one State · direction of travel (last 6 vs previous 6 months) · forecast share for the next 6 months</a:t>
            </a:r>
            <a:endParaRPr lang="en-US" sz="1150" dirty="0"/>
          </a:p>
        </p:txBody>
      </p:sp>
      <p:sp>
        <p:nvSpPr>
          <p:cNvPr id="12" name="Text 7"/>
          <p:cNvSpPr txBox="1"/>
          <p:nvPr/>
        </p:nvSpPr>
        <p:spPr>
          <a:xfrm>
            <a:off x="6172200" y="4892040"/>
            <a:ext cx="5486400" cy="731520"/>
          </a:xfrm>
          <a:prstGeom prst="rect">
            <a:avLst/>
          </a:prstGeom>
          <a:noFill/>
          <a:ln/>
        </p:spPr>
        <p:txBody>
          <a:bodyPr wrap="square" lIns="0" tIns="0" rIns="0" bIns="0" rtlCol="0" anchor="t"/>
          <a:lstStyle/>
          <a:p>
            <a:pPr indent="0" marL="0">
              <a:buNone/>
            </a:pPr>
            <a:r>
              <a:rPr lang="en-US" sz="1150" dirty="0">
                <a:solidFill>
                  <a:srgbClr val="14213D"/>
                </a:solidFill>
                <a:latin typeface="Calibri" pitchFamily="34" charset="0"/>
                <a:ea typeface="Calibri" pitchFamily="34" charset="-122"/>
                <a:cs typeface="Calibri" pitchFamily="34" charset="-120"/>
              </a:rPr>
              <a:t>League tables for acquiring authorities, offices, districts and States: observed delay, mean risk, approvals pending, expected slip, open / overdue actions, mean resolution time</a:t>
            </a:r>
            <a:endParaRPr lang="en-US" sz="1150" dirty="0"/>
          </a:p>
        </p:txBody>
      </p:sp>
      <p:sp>
        <p:nvSpPr>
          <p:cNvPr id="13" name="Text 8"/>
          <p:cNvSpPr txBox="1"/>
          <p:nvPr/>
        </p:nvSpPr>
        <p:spPr>
          <a:xfrm>
            <a:off x="548640" y="5715000"/>
            <a:ext cx="11064240" cy="320040"/>
          </a:xfrm>
          <a:prstGeom prst="rect">
            <a:avLst/>
          </a:prstGeom>
          <a:noFill/>
          <a:ln/>
        </p:spPr>
        <p:txBody>
          <a:bodyPr wrap="square" lIns="0" tIns="0" rIns="0" bIns="0" rtlCol="0" anchor="t"/>
          <a:lstStyle/>
          <a:p>
            <a:pPr indent="0" marL="0">
              <a:buNone/>
            </a:pPr>
            <a:r>
              <a:rPr lang="en-US" sz="1100" i="1" dirty="0">
                <a:solidFill>
                  <a:srgbClr val="5B6B82"/>
                </a:solidFill>
                <a:latin typeface="Calibri" pitchFamily="34" charset="0"/>
                <a:ea typeface="Calibri" pitchFamily="34" charset="-122"/>
                <a:cs typeface="Calibri" pitchFamily="34" charset="-120"/>
              </a:rPr>
              <a:t>Now: 54% of projects on track · observed delay rate 36% · 136 forecast &gt; 6 months late · 659 overdue and escalated after the demo clock moved 60 days · resolution times fill in as officers close items</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SLICE THE PORTFOLIO ANY WAY</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Comparative analytics and AI risk intelligence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29</a:t>
            </a:r>
            <a:endParaRPr lang="en-US" sz="900" dirty="0"/>
          </a:p>
        </p:txBody>
      </p:sp>
      <p:sp>
        <p:nvSpPr>
          <p:cNvPr id="7" name="Shape 4"/>
          <p:cNvSpPr/>
          <p:nvPr/>
        </p:nvSpPr>
        <p:spPr>
          <a:xfrm>
            <a:off x="502920" y="1371600"/>
            <a:ext cx="5623560" cy="3410712"/>
          </a:xfrm>
          <a:prstGeom prst="roundRect">
            <a:avLst>
              <a:gd name="adj" fmla="val 1340"/>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analytics.png">    </p:cNvPr>
          <p:cNvPicPr>
            <a:picLocks noChangeAspect="1"/>
          </p:cNvPicPr>
          <p:nvPr/>
        </p:nvPicPr>
        <p:blipFill>
          <a:blip r:embed="rId1"/>
          <a:stretch>
            <a:fillRect/>
          </a:stretch>
        </p:blipFill>
        <p:spPr>
          <a:xfrm>
            <a:off x="548640" y="1417320"/>
            <a:ext cx="5532120" cy="3319272"/>
          </a:xfrm>
          <a:prstGeom prst="rect">
            <a:avLst/>
          </a:prstGeom>
        </p:spPr>
      </p:pic>
      <p:sp>
        <p:nvSpPr>
          <p:cNvPr id="9" name="Text 5"/>
          <p:cNvSpPr txBox="1"/>
          <p:nvPr/>
        </p:nvSpPr>
        <p:spPr>
          <a:xfrm>
            <a:off x="548640" y="4828032"/>
            <a:ext cx="5532120" cy="274320"/>
          </a:xfrm>
          <a:prstGeom prst="rect">
            <a:avLst/>
          </a:prstGeom>
          <a:noFill/>
          <a:ln/>
        </p:spPr>
        <p:txBody>
          <a:bodyPr wrap="square" lIns="0" tIns="0" rIns="0" bIns="0" rtlCol="0" anchor="ctr"/>
          <a:lstStyle/>
          <a:p>
            <a:pPr indent="0" marL="0">
              <a:buNone/>
            </a:pPr>
            <a:r>
              <a:rPr lang="en-US" sz="1000" i="1" dirty="0">
                <a:solidFill>
                  <a:srgbClr val="8A97AB"/>
                </a:solidFill>
                <a:latin typeface="Calibri" pitchFamily="34" charset="0"/>
                <a:ea typeface="Calibri" pitchFamily="34" charset="-122"/>
                <a:cs typeface="Calibri" pitchFamily="34" charset="-120"/>
              </a:rPr>
              <a:t>Portfolio Analytics — 10 comparison dimensions, case-level</a:t>
            </a:r>
            <a:endParaRPr lang="en-US" sz="1000" dirty="0"/>
          </a:p>
        </p:txBody>
      </p:sp>
      <p:sp>
        <p:nvSpPr>
          <p:cNvPr id="10" name="Shape 6"/>
          <p:cNvSpPr/>
          <p:nvPr/>
        </p:nvSpPr>
        <p:spPr>
          <a:xfrm>
            <a:off x="6126480" y="1371600"/>
            <a:ext cx="5577840" cy="3383280"/>
          </a:xfrm>
          <a:prstGeom prst="roundRect">
            <a:avLst>
              <a:gd name="adj" fmla="val 1351"/>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11" name="Image 1" descr="C:\Users\byted\AppData\Local\Temp\claude\C--ClaudeCode\522fe311-e259-49a1-bdae-38a26cc91572\scratchpad\deck\shots\risk.png">    </p:cNvPr>
          <p:cNvPicPr>
            <a:picLocks noChangeAspect="1"/>
          </p:cNvPicPr>
          <p:nvPr/>
        </p:nvPicPr>
        <p:blipFill>
          <a:blip r:embed="rId2"/>
          <a:stretch>
            <a:fillRect/>
          </a:stretch>
        </p:blipFill>
        <p:spPr>
          <a:xfrm>
            <a:off x="6172200" y="1417320"/>
            <a:ext cx="5486400" cy="3291840"/>
          </a:xfrm>
          <a:prstGeom prst="rect">
            <a:avLst/>
          </a:prstGeom>
        </p:spPr>
      </p:pic>
      <p:sp>
        <p:nvSpPr>
          <p:cNvPr id="12" name="Text 7"/>
          <p:cNvSpPr txBox="1"/>
          <p:nvPr/>
        </p:nvSpPr>
        <p:spPr>
          <a:xfrm>
            <a:off x="6172200" y="4800600"/>
            <a:ext cx="5486400" cy="274320"/>
          </a:xfrm>
          <a:prstGeom prst="rect">
            <a:avLst/>
          </a:prstGeom>
          <a:noFill/>
          <a:ln/>
        </p:spPr>
        <p:txBody>
          <a:bodyPr wrap="square" lIns="0" tIns="0" rIns="0" bIns="0" rtlCol="0" anchor="ctr"/>
          <a:lstStyle/>
          <a:p>
            <a:pPr indent="0" marL="0">
              <a:buNone/>
            </a:pPr>
            <a:r>
              <a:rPr lang="en-US" sz="1000" i="1" dirty="0">
                <a:solidFill>
                  <a:srgbClr val="8A97AB"/>
                </a:solidFill>
                <a:latin typeface="Calibri" pitchFamily="34" charset="0"/>
                <a:ea typeface="Calibri" pitchFamily="34" charset="-122"/>
                <a:cs typeface="Calibri" pitchFamily="34" charset="-120"/>
              </a:rPr>
              <a:t>AI Risk — stage, district and factor decomposition</a:t>
            </a:r>
            <a:endParaRPr lang="en-US" sz="1000" dirty="0"/>
          </a:p>
        </p:txBody>
      </p:sp>
      <p:sp>
        <p:nvSpPr>
          <p:cNvPr id="13" name="Text 8"/>
          <p:cNvSpPr txBox="1"/>
          <p:nvPr/>
        </p:nvSpPr>
        <p:spPr>
          <a:xfrm>
            <a:off x="548640" y="5074920"/>
            <a:ext cx="11064240" cy="822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Reports: MIS review packs with project and case CSV exports (scoped, audited)</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Data &amp; Model: corpus composition, data quality, model card, calibration, feature importance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INDIA → STATE → DISTRICT → PROJECT, ON REAL BOUNDARIES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GIS-enabled visualisation of high-risk projects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30</a:t>
            </a:r>
            <a:endParaRPr lang="en-US" sz="900" dirty="0"/>
          </a:p>
        </p:txBody>
      </p:sp>
      <p:sp>
        <p:nvSpPr>
          <p:cNvPr id="7" name="Shape 4"/>
          <p:cNvSpPr/>
          <p:nvPr/>
        </p:nvSpPr>
        <p:spPr>
          <a:xfrm>
            <a:off x="502920" y="1371600"/>
            <a:ext cx="7498080" cy="4535424"/>
          </a:xfrm>
          <a:prstGeom prst="roundRect">
            <a:avLst>
              <a:gd name="adj" fmla="val 1008"/>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map.png">    </p:cNvPr>
          <p:cNvPicPr>
            <a:picLocks noChangeAspect="1"/>
          </p:cNvPicPr>
          <p:nvPr/>
        </p:nvPicPr>
        <p:blipFill>
          <a:blip r:embed="rId1"/>
          <a:stretch>
            <a:fillRect/>
          </a:stretch>
        </p:blipFill>
        <p:spPr>
          <a:xfrm>
            <a:off x="548640" y="1417320"/>
            <a:ext cx="7406640" cy="4443984"/>
          </a:xfrm>
          <a:prstGeom prst="rect">
            <a:avLst/>
          </a:prstGeom>
        </p:spPr>
      </p:pic>
      <p:sp>
        <p:nvSpPr>
          <p:cNvPr id="9" name="Text 5"/>
          <p:cNvSpPr txBox="1"/>
          <p:nvPr/>
        </p:nvSpPr>
        <p:spPr>
          <a:xfrm>
            <a:off x="8229600" y="1508760"/>
            <a:ext cx="3383280" cy="4572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National outline, State and district layers (Survey of India depiction, LGD / Census codes)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Choropleth by mean project risk; click a State to load its districts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Project markers clustered at low zoom; popups link to the project page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Filters: risk band, State, district, type, stage, search</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High-risk district clusters listed beside the map</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Same risk figures as every other screen</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Future: Bhuvan / PM Gati Shakti base layers, parcel polygons, forest overlays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WORKS ACROSS INDIA, NOT JUST ONE STATE</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National portfolio drill-down and position-based scope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31</a:t>
            </a:r>
            <a:endParaRPr lang="en-US" sz="900" dirty="0"/>
          </a:p>
        </p:txBody>
      </p:sp>
      <p:sp>
        <p:nvSpPr>
          <p:cNvPr id="7" name="Shape 4"/>
          <p:cNvSpPr/>
          <p:nvPr/>
        </p:nvSpPr>
        <p:spPr>
          <a:xfrm>
            <a:off x="4526280" y="1371600"/>
            <a:ext cx="7132320" cy="4315968"/>
          </a:xfrm>
          <a:prstGeom prst="roundRect">
            <a:avLst>
              <a:gd name="adj" fmla="val 1059"/>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hierarchy.png">    </p:cNvPr>
          <p:cNvPicPr>
            <a:picLocks noChangeAspect="1"/>
          </p:cNvPicPr>
          <p:nvPr/>
        </p:nvPicPr>
        <p:blipFill>
          <a:blip r:embed="rId1"/>
          <a:stretch>
            <a:fillRect/>
          </a:stretch>
        </p:blipFill>
        <p:spPr>
          <a:xfrm>
            <a:off x="4572000" y="1417320"/>
            <a:ext cx="7040880" cy="4224528"/>
          </a:xfrm>
          <a:prstGeom prst="rect">
            <a:avLst/>
          </a:prstGeom>
        </p:spPr>
      </p:pic>
      <p:sp>
        <p:nvSpPr>
          <p:cNvPr id="9" name="Text 5"/>
          <p:cNvSpPr txBox="1"/>
          <p:nvPr/>
        </p:nvSpPr>
        <p:spPr>
          <a:xfrm>
            <a:off x="548640" y="1554480"/>
            <a:ext cx="3749040" cy="4572000"/>
          </a:xfrm>
          <a:prstGeom prst="rect">
            <a:avLst/>
          </a:prstGeom>
          <a:noFill/>
          <a:ln/>
        </p:spPr>
        <p:txBody>
          <a:bodyPr wrap="square" lIns="0" tIns="0" rIns="0" bIns="0" rtlCol="0" anchor="t"/>
          <a:lstStyle/>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India → sector ministry → State / UT → district → project</a:t>
            </a:r>
            <a:pPr indent="0" marL="0">
              <a:buNone/>
            </a:pPr>
            <a:r>
              <a:rPr lang="en-US" sz="1250" dirty="0">
                <a:solidFill>
                  <a:srgbClr val="14213D"/>
                </a:solidFill>
                <a:latin typeface="Calibri" pitchFamily="34" charset="0"/>
                <a:ea typeface="Calibri" pitchFamily="34" charset="-122"/>
                <a:cs typeface="Calibri" pitchFamily="34" charset="-120"/>
              </a:rPr>
              <a:t> </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All 28 States + 8 UTs</a:t>
            </a:r>
            <a:pPr indent="0" marL="0">
              <a:buNone/>
            </a:pPr>
            <a:r>
              <a:rPr lang="en-US" sz="1250" dirty="0">
                <a:solidFill>
                  <a:srgbClr val="14213D"/>
                </a:solidFill>
                <a:latin typeface="Calibri" pitchFamily="34" charset="0"/>
                <a:ea typeface="Calibri" pitchFamily="34" charset="-122"/>
                <a:cs typeface="Calibri" pitchFamily="34" charset="-120"/>
              </a:rPr>
              <a:t> with their governments and departments</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14 central ministries</a:t>
            </a:r>
            <a:pPr indent="0" marL="0">
              <a:buNone/>
            </a:pPr>
            <a:r>
              <a:rPr lang="en-US" sz="1250" dirty="0">
                <a:solidFill>
                  <a:srgbClr val="14213D"/>
                </a:solidFill>
                <a:latin typeface="Calibri" pitchFamily="34" charset="0"/>
                <a:ea typeface="Calibri" pitchFamily="34" charset="-122"/>
                <a:cs typeface="Calibri" pitchFamily="34" charset="-120"/>
              </a:rPr>
              <a:t> and central organisations (NHAI, DFCCIL, POWERGRID, AAI…)</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Hierarchy templates:</a:t>
            </a:r>
            <a:pPr indent="0" marL="0">
              <a:buNone/>
            </a:pPr>
            <a:r>
              <a:rPr lang="en-US" sz="1250" dirty="0">
                <a:solidFill>
                  <a:srgbClr val="14213D"/>
                </a:solidFill>
                <a:latin typeface="Calibri" pitchFamily="34" charset="0"/>
                <a:ea typeface="Calibri" pitchFamily="34" charset="-122"/>
                <a:cs typeface="Calibri" pitchFamily="34" charset="-120"/>
              </a:rPr>
              <a:t> ministry with zones, organisation with regions, state department with divisions</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Portfolio matchers:</a:t>
            </a:r>
            <a:pPr indent="0" marL="0">
              <a:buNone/>
            </a:pPr>
            <a:r>
              <a:rPr lang="en-US" sz="1250" dirty="0">
                <a:solidFill>
                  <a:srgbClr val="14213D"/>
                </a:solidFill>
                <a:latin typeface="Calibri" pitchFamily="34" charset="0"/>
                <a:ea typeface="Calibri" pitchFamily="34" charset="-122"/>
                <a:cs typeface="Calibri" pitchFamily="34" charset="-120"/>
              </a:rPr>
              <a:t> sector types, frameworks (DoLR), named authorities, clearances (MoEFCC)</a:t>
            </a:r>
            <a:endParaRPr lang="en-US" sz="1250" dirty="0"/>
          </a:p>
          <a:p>
            <a:pPr marL="342900" indent="-342900">
              <a:spcAft>
                <a:spcPts val="600"/>
              </a:spcAft>
              <a:buSzPct val="100000"/>
              <a:buChar char="•"/>
            </a:pPr>
            <a:r>
              <a:rPr lang="en-US" sz="1250" b="1" dirty="0">
                <a:solidFill>
                  <a:srgbClr val="14213D"/>
                </a:solidFill>
                <a:latin typeface="Calibri" pitchFamily="34" charset="0"/>
                <a:ea typeface="Calibri" pitchFamily="34" charset="-122"/>
                <a:cs typeface="Calibri" pitchFamily="34" charset="-120"/>
              </a:rPr>
              <a:t>Enforced by the API</a:t>
            </a:r>
            <a:pPr indent="0" marL="0">
              <a:buNone/>
            </a:pPr>
            <a:r>
              <a:rPr lang="en-US" sz="1250" dirty="0">
                <a:solidFill>
                  <a:srgbClr val="14213D"/>
                </a:solidFill>
                <a:latin typeface="Calibri" pitchFamily="34" charset="0"/>
                <a:ea typeface="Calibri" pitchFamily="34" charset="-122"/>
                <a:cs typeface="Calibri" pitchFamily="34" charset="-120"/>
              </a:rPr>
              <a:t> on every read, export and API key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EVERYTHING ABOUT ONE PROJECT IN ONE PLACE</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Project intelligence page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32</a:t>
            </a:r>
            <a:endParaRPr lang="en-US" sz="900" dirty="0"/>
          </a:p>
        </p:txBody>
      </p:sp>
      <p:sp>
        <p:nvSpPr>
          <p:cNvPr id="7" name="Shape 4"/>
          <p:cNvSpPr/>
          <p:nvPr/>
        </p:nvSpPr>
        <p:spPr>
          <a:xfrm>
            <a:off x="502920" y="1371600"/>
            <a:ext cx="7040880" cy="4261104"/>
          </a:xfrm>
          <a:prstGeom prst="roundRect">
            <a:avLst>
              <a:gd name="adj" fmla="val 1073"/>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project.png">    </p:cNvPr>
          <p:cNvPicPr>
            <a:picLocks noChangeAspect="1"/>
          </p:cNvPicPr>
          <p:nvPr/>
        </p:nvPicPr>
        <p:blipFill>
          <a:blip r:embed="rId1"/>
          <a:stretch>
            <a:fillRect/>
          </a:stretch>
        </p:blipFill>
        <p:spPr>
          <a:xfrm>
            <a:off x="548640" y="1417320"/>
            <a:ext cx="6949440" cy="4169664"/>
          </a:xfrm>
          <a:prstGeom prst="rect">
            <a:avLst/>
          </a:prstGeom>
        </p:spPr>
      </p:pic>
      <p:sp>
        <p:nvSpPr>
          <p:cNvPr id="9" name="Text 5"/>
          <p:cNvSpPr txBox="1"/>
          <p:nvPr/>
        </p:nvSpPr>
        <p:spPr>
          <a:xfrm>
            <a:off x="7772400" y="1508760"/>
            <a:ext cx="3840480" cy="4663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Overview and statutory framework</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Authority &amp; dependency network with pending actions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AI risk gauge with the basis of the figure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TreeSHAP delay drivers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Land-acquisition issue profile (19 issues, type-aware)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Stage timeline: stage status ≠ case backlog</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Stage-wise forecast, next milestone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Recommendations, interventions, alerts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Location map, risk trend, riskiest cases, documents, audit history</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Edit, record milestone achieved, test in Scenario Scoring</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DOWN TO THE PARCEL</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Cases, parcels, documents and outcome recording</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33</a:t>
            </a:r>
            <a:endParaRPr lang="en-US" sz="900" dirty="0"/>
          </a:p>
        </p:txBody>
      </p:sp>
      <p:sp>
        <p:nvSpPr>
          <p:cNvPr id="7" name="Shape 4"/>
          <p:cNvSpPr/>
          <p:nvPr/>
        </p:nvSpPr>
        <p:spPr>
          <a:xfrm>
            <a:off x="4434840" y="1371600"/>
            <a:ext cx="7223760" cy="4370832"/>
          </a:xfrm>
          <a:prstGeom prst="roundRect">
            <a:avLst>
              <a:gd name="adj" fmla="val 1046"/>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case.png">    </p:cNvPr>
          <p:cNvPicPr>
            <a:picLocks noChangeAspect="1"/>
          </p:cNvPicPr>
          <p:nvPr/>
        </p:nvPicPr>
        <p:blipFill>
          <a:blip r:embed="rId1"/>
          <a:stretch>
            <a:fillRect/>
          </a:stretch>
        </p:blipFill>
        <p:spPr>
          <a:xfrm>
            <a:off x="4480560" y="1417320"/>
            <a:ext cx="7132320" cy="4279392"/>
          </a:xfrm>
          <a:prstGeom prst="rect">
            <a:avLst/>
          </a:prstGeom>
        </p:spPr>
      </p:pic>
      <p:sp>
        <p:nvSpPr>
          <p:cNvPr id="9" name="Text 5"/>
          <p:cNvSpPr txBox="1"/>
          <p:nvPr/>
        </p:nvSpPr>
        <p:spPr>
          <a:xfrm>
            <a:off x="548640" y="1554480"/>
            <a:ext cx="3657600" cy="4572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Case registry with server-side filters and exports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Predicted milestone risk and exact TreeSHAP drivers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What is holding this case: pending department actions with owners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Case status workflow (under review, escalated, on hold)</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Record milestone outcome — stored with the prediction made before it</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Document repository: upload by type and stage, versions, reviewer approval</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Integration view: land records, courts, compensation, GIS — each with provenance</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ONLY THE DEPENDENCIES THAT APPLY</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Project-type intelligence: the authority &amp; dependency registry</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34</a:t>
            </a:r>
            <a:endParaRPr lang="en-US" sz="900" dirty="0"/>
          </a:p>
        </p:txBody>
      </p:sp>
      <p:sp>
        <p:nvSpPr>
          <p:cNvPr id="7" name="Shape 4"/>
          <p:cNvSpPr/>
          <p:nvPr/>
        </p:nvSpPr>
        <p:spPr>
          <a:xfrm>
            <a:off x="502920" y="1371600"/>
            <a:ext cx="6766560" cy="4096512"/>
          </a:xfrm>
          <a:prstGeom prst="roundRect">
            <a:avLst>
              <a:gd name="adj" fmla="val 1116"/>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registry.png">    </p:cNvPr>
          <p:cNvPicPr>
            <a:picLocks noChangeAspect="1"/>
          </p:cNvPicPr>
          <p:nvPr/>
        </p:nvPicPr>
        <p:blipFill>
          <a:blip r:embed="rId1"/>
          <a:stretch>
            <a:fillRect/>
          </a:stretch>
        </p:blipFill>
        <p:spPr>
          <a:xfrm>
            <a:off x="548640" y="1417320"/>
            <a:ext cx="6675120" cy="4005072"/>
          </a:xfrm>
          <a:prstGeom prst="rect">
            <a:avLst/>
          </a:prstGeom>
        </p:spPr>
      </p:pic>
      <p:sp>
        <p:nvSpPr>
          <p:cNvPr id="9" name="Text 5"/>
          <p:cNvSpPr txBox="1"/>
          <p:nvPr/>
        </p:nvSpPr>
        <p:spPr>
          <a:xfrm>
            <a:off x="7498080" y="1508760"/>
            <a:ext cx="4114800" cy="4572000"/>
          </a:xfrm>
          <a:prstGeom prst="rect">
            <a:avLst/>
          </a:prstGeom>
          <a:noFill/>
          <a:ln/>
        </p:spPr>
        <p:txBody>
          <a:bodyPr wrap="square" lIns="0" tIns="0" rIns="0" bIns="0" rtlCol="0" anchor="t"/>
          <a:lstStyle/>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7 statutory frameworks</a:t>
            </a:r>
            <a:pPr indent="0" marL="0">
              <a:buNone/>
            </a:pPr>
            <a:r>
              <a:rPr lang="en-US" sz="1200" dirty="0">
                <a:solidFill>
                  <a:srgbClr val="14213D"/>
                </a:solidFill>
                <a:latin typeface="Calibri" pitchFamily="34" charset="0"/>
                <a:ea typeface="Calibri" pitchFamily="34" charset="-122"/>
                <a:cs typeface="Calibri" pitchFamily="34" charset="-120"/>
              </a:rPr>
              <a:t> decide milestones, dispute forum and SIA applicability</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Declarative dependency rules:</a:t>
            </a:r>
            <a:pPr indent="0" marL="0">
              <a:buNone/>
            </a:pPr>
            <a:r>
              <a:rPr lang="en-US" sz="1200" dirty="0">
                <a:solidFill>
                  <a:srgbClr val="14213D"/>
                </a:solidFill>
                <a:latin typeface="Calibri" pitchFamily="34" charset="0"/>
                <a:ea typeface="Calibri" pitchFamily="34" charset="-122"/>
                <a:cs typeface="Calibri" pitchFamily="34" charset="-120"/>
              </a:rPr>
              <a:t> always, linear, flag:forestLand, subtype, mode:ownership</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Irrelevant bodies never appear:</a:t>
            </a:r>
            <a:pPr indent="0" marL="0">
              <a:buNone/>
            </a:pPr>
            <a:r>
              <a:rPr lang="en-US" sz="1200" dirty="0">
                <a:solidFill>
                  <a:srgbClr val="14213D"/>
                </a:solidFill>
                <a:latin typeface="Calibri" pitchFamily="34" charset="0"/>
                <a:ea typeface="Calibri" pitchFamily="34" charset="-122"/>
                <a:cs typeface="Calibri" pitchFamily="34" charset="-120"/>
              </a:rPr>
              <a:t> aviation only on airports — checked by a live consistency test</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State profiles:</a:t>
            </a:r>
            <a:pPr indent="0" marL="0">
              <a:buNone/>
            </a:pPr>
            <a:r>
              <a:rPr lang="en-US" sz="1200" dirty="0">
                <a:solidFill>
                  <a:srgbClr val="14213D"/>
                </a:solidFill>
                <a:latin typeface="Calibri" pitchFamily="34" charset="0"/>
                <a:ea typeface="Calibri" pitchFamily="34" charset="-122"/>
                <a:cs typeface="Calibri" pitchFamily="34" charset="-120"/>
              </a:rPr>
              <a:t> Deputy Commissioner vs District Magistrate, Taluk vs Tehsil, land-records systems</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19-issue taxonomy:</a:t>
            </a:r>
            <a:pPr indent="0" marL="0">
              <a:buNone/>
            </a:pPr>
            <a:r>
              <a:rPr lang="en-US" sz="1200" dirty="0">
                <a:solidFill>
                  <a:srgbClr val="14213D"/>
                </a:solidFill>
                <a:latin typeface="Calibri" pitchFamily="34" charset="0"/>
                <a:ea typeface="Calibri" pitchFamily="34" charset="-122"/>
                <a:cs typeface="Calibri" pitchFamily="34" charset="-120"/>
              </a:rPr>
              <a:t> issues that cannot arise for a type are excluded with a reason</a:t>
            </a:r>
            <a:endParaRPr lang="en-US" sz="1200" dirty="0"/>
          </a:p>
          <a:p>
            <a:pPr marL="342900" indent="-342900">
              <a:spcAft>
                <a:spcPts val="600"/>
              </a:spcAft>
              <a:buSzPct val="100000"/>
              <a:buChar char="•"/>
            </a:pPr>
            <a:r>
              <a:rPr lang="en-US" sz="1200" b="1" dirty="0">
                <a:solidFill>
                  <a:srgbClr val="14213D"/>
                </a:solidFill>
                <a:latin typeface="Calibri" pitchFamily="34" charset="0"/>
                <a:ea typeface="Calibri" pitchFamily="34" charset="-122"/>
                <a:cs typeface="Calibri" pitchFamily="34" charset="-120"/>
              </a:rPr>
              <a:t>Rule thresholds</a:t>
            </a:r>
            <a:pPr indent="0" marL="0">
              <a:buNone/>
            </a:pPr>
            <a:r>
              <a:rPr lang="en-US" sz="1200" dirty="0">
                <a:solidFill>
                  <a:srgbClr val="14213D"/>
                </a:solidFill>
                <a:latin typeface="Calibri" pitchFamily="34" charset="0"/>
                <a:ea typeface="Calibri" pitchFamily="34" charset="-122"/>
                <a:cs typeface="Calibri" pitchFamily="34" charset="-120"/>
              </a:rPr>
              <a:t> overridden per framework and project type, each with its rationale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06</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Learning, integration &amp; security</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A model that improves with new outcomes, APIs that existing systems can use, and access that is scoped and audited.</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NEW DATA → BETTER MODEL, ONLY IF IT REALLY IS BETTER</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Continuous model learning — demonstrated end to end</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36</a:t>
            </a:r>
            <a:endParaRPr lang="en-US" sz="900" dirty="0"/>
          </a:p>
        </p:txBody>
      </p:sp>
      <p:sp>
        <p:nvSpPr>
          <p:cNvPr id="7" name="Shape 4"/>
          <p:cNvSpPr/>
          <p:nvPr/>
        </p:nvSpPr>
        <p:spPr>
          <a:xfrm>
            <a:off x="548640" y="1600200"/>
            <a:ext cx="1630680" cy="1600200"/>
          </a:xfrm>
          <a:prstGeom prst="roundRect">
            <a:avLst>
              <a:gd name="adj" fmla="val 4571"/>
            </a:avLst>
          </a:prstGeom>
          <a:solidFill>
            <a:srgbClr val="F3F6FB"/>
          </a:solidFill>
          <a:ln w="12700">
            <a:solidFill>
              <a:srgbClr val="F3F6FB"/>
            </a:solidFill>
            <a:prstDash val="solid"/>
          </a:ln>
        </p:spPr>
      </p:sp>
      <p:sp>
        <p:nvSpPr>
          <p:cNvPr id="8" name="Shape 5"/>
          <p:cNvSpPr/>
          <p:nvPr/>
        </p:nvSpPr>
        <p:spPr>
          <a:xfrm>
            <a:off x="676656" y="1728216"/>
            <a:ext cx="402336" cy="402336"/>
          </a:xfrm>
          <a:prstGeom prst="ellipse">
            <a:avLst/>
          </a:prstGeom>
          <a:solidFill>
            <a:srgbClr val="3B72F0"/>
          </a:solidFill>
          <a:ln w="12700">
            <a:solidFill>
              <a:srgbClr val="3B72F0"/>
            </a:solidFill>
            <a:prstDash val="solid"/>
          </a:ln>
        </p:spPr>
      </p:sp>
      <p:pic>
        <p:nvPicPr>
          <p:cNvPr id="9" name="Image 0" descr="preencoded.png">    </p:cNvPr>
          <p:cNvPicPr>
            <a:picLocks noChangeAspect="1"/>
          </p:cNvPicPr>
          <p:nvPr/>
        </p:nvPicPr>
        <p:blipFill>
          <a:blip r:embed="rId1"/>
          <a:stretch>
            <a:fillRect/>
          </a:stretch>
        </p:blipFill>
        <p:spPr>
          <a:xfrm>
            <a:off x="773217" y="1824777"/>
            <a:ext cx="209215" cy="209215"/>
          </a:xfrm>
          <a:prstGeom prst="rect">
            <a:avLst/>
          </a:prstGeom>
        </p:spPr>
      </p:pic>
      <p:sp>
        <p:nvSpPr>
          <p:cNvPr id="10" name="Text 6"/>
          <p:cNvSpPr txBox="1"/>
          <p:nvPr/>
        </p:nvSpPr>
        <p:spPr>
          <a:xfrm>
            <a:off x="676656" y="218541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New outcomes</a:t>
            </a:r>
            <a:endParaRPr lang="en-US" sz="1250" dirty="0"/>
          </a:p>
        </p:txBody>
      </p:sp>
      <p:sp>
        <p:nvSpPr>
          <p:cNvPr id="11" name="Text 7"/>
          <p:cNvSpPr txBox="1"/>
          <p:nvPr/>
        </p:nvSpPr>
        <p:spPr>
          <a:xfrm>
            <a:off x="676656" y="2450592"/>
            <a:ext cx="1429512" cy="7040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Officer entry · CSV · API · simulation release</a:t>
            </a:r>
            <a:endParaRPr lang="en-US" sz="950" dirty="0"/>
          </a:p>
        </p:txBody>
      </p:sp>
      <p:sp>
        <p:nvSpPr>
          <p:cNvPr id="12" name="Shape 8"/>
          <p:cNvSpPr/>
          <p:nvPr/>
        </p:nvSpPr>
        <p:spPr>
          <a:xfrm>
            <a:off x="2215896" y="2318004"/>
            <a:ext cx="182880" cy="164592"/>
          </a:xfrm>
          <a:prstGeom prst="rightArrow">
            <a:avLst/>
          </a:prstGeom>
          <a:solidFill>
            <a:srgbClr val="F59E0B"/>
          </a:solidFill>
          <a:ln w="12700">
            <a:solidFill>
              <a:srgbClr val="F59E0B"/>
            </a:solidFill>
            <a:prstDash val="solid"/>
          </a:ln>
        </p:spPr>
      </p:sp>
      <p:sp>
        <p:nvSpPr>
          <p:cNvPr id="13" name="Shape 9"/>
          <p:cNvSpPr/>
          <p:nvPr/>
        </p:nvSpPr>
        <p:spPr>
          <a:xfrm>
            <a:off x="2435352" y="1600200"/>
            <a:ext cx="1630680" cy="1600200"/>
          </a:xfrm>
          <a:prstGeom prst="roundRect">
            <a:avLst>
              <a:gd name="adj" fmla="val 4571"/>
            </a:avLst>
          </a:prstGeom>
          <a:solidFill>
            <a:srgbClr val="F3F6FB"/>
          </a:solidFill>
          <a:ln w="12700">
            <a:solidFill>
              <a:srgbClr val="F3F6FB"/>
            </a:solidFill>
            <a:prstDash val="solid"/>
          </a:ln>
        </p:spPr>
      </p:sp>
      <p:sp>
        <p:nvSpPr>
          <p:cNvPr id="14" name="Shape 10"/>
          <p:cNvSpPr/>
          <p:nvPr/>
        </p:nvSpPr>
        <p:spPr>
          <a:xfrm>
            <a:off x="2563368" y="1728216"/>
            <a:ext cx="402336" cy="402336"/>
          </a:xfrm>
          <a:prstGeom prst="ellipse">
            <a:avLst/>
          </a:prstGeom>
          <a:solidFill>
            <a:srgbClr val="0EA5A4"/>
          </a:solidFill>
          <a:ln w="12700">
            <a:solidFill>
              <a:srgbClr val="0EA5A4"/>
            </a:solidFill>
            <a:prstDash val="solid"/>
          </a:ln>
        </p:spPr>
      </p:sp>
      <p:pic>
        <p:nvPicPr>
          <p:cNvPr id="15" name="Image 1" descr="preencoded.png">    </p:cNvPr>
          <p:cNvPicPr>
            <a:picLocks noChangeAspect="1"/>
          </p:cNvPicPr>
          <p:nvPr/>
        </p:nvPicPr>
        <p:blipFill>
          <a:blip r:embed="rId2"/>
          <a:stretch>
            <a:fillRect/>
          </a:stretch>
        </p:blipFill>
        <p:spPr>
          <a:xfrm>
            <a:off x="2659929" y="1824777"/>
            <a:ext cx="209215" cy="209215"/>
          </a:xfrm>
          <a:prstGeom prst="rect">
            <a:avLst/>
          </a:prstGeom>
        </p:spPr>
      </p:pic>
      <p:sp>
        <p:nvSpPr>
          <p:cNvPr id="16" name="Text 11"/>
          <p:cNvSpPr txBox="1"/>
          <p:nvPr/>
        </p:nvSpPr>
        <p:spPr>
          <a:xfrm>
            <a:off x="2563368" y="218541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Monitor</a:t>
            </a:r>
            <a:endParaRPr lang="en-US" sz="1250" dirty="0"/>
          </a:p>
        </p:txBody>
      </p:sp>
      <p:sp>
        <p:nvSpPr>
          <p:cNvPr id="17" name="Text 12"/>
          <p:cNvSpPr txBox="1"/>
          <p:nvPr/>
        </p:nvSpPr>
        <p:spPr>
          <a:xfrm>
            <a:off x="2563368" y="2450592"/>
            <a:ext cx="1429512" cy="7040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Score predictions made before the outcome was known</a:t>
            </a:r>
            <a:endParaRPr lang="en-US" sz="950" dirty="0"/>
          </a:p>
        </p:txBody>
      </p:sp>
      <p:sp>
        <p:nvSpPr>
          <p:cNvPr id="18" name="Shape 13"/>
          <p:cNvSpPr/>
          <p:nvPr/>
        </p:nvSpPr>
        <p:spPr>
          <a:xfrm>
            <a:off x="4102608" y="2318004"/>
            <a:ext cx="182880" cy="164592"/>
          </a:xfrm>
          <a:prstGeom prst="rightArrow">
            <a:avLst/>
          </a:prstGeom>
          <a:solidFill>
            <a:srgbClr val="F59E0B"/>
          </a:solidFill>
          <a:ln w="12700">
            <a:solidFill>
              <a:srgbClr val="F59E0B"/>
            </a:solidFill>
            <a:prstDash val="solid"/>
          </a:ln>
        </p:spPr>
      </p:sp>
      <p:sp>
        <p:nvSpPr>
          <p:cNvPr id="19" name="Shape 14"/>
          <p:cNvSpPr/>
          <p:nvPr/>
        </p:nvSpPr>
        <p:spPr>
          <a:xfrm>
            <a:off x="4322064" y="1600200"/>
            <a:ext cx="1630680" cy="1600200"/>
          </a:xfrm>
          <a:prstGeom prst="roundRect">
            <a:avLst>
              <a:gd name="adj" fmla="val 4571"/>
            </a:avLst>
          </a:prstGeom>
          <a:solidFill>
            <a:srgbClr val="F3F6FB"/>
          </a:solidFill>
          <a:ln w="12700">
            <a:solidFill>
              <a:srgbClr val="F3F6FB"/>
            </a:solidFill>
            <a:prstDash val="solid"/>
          </a:ln>
        </p:spPr>
      </p:sp>
      <p:sp>
        <p:nvSpPr>
          <p:cNvPr id="20" name="Shape 15"/>
          <p:cNvSpPr/>
          <p:nvPr/>
        </p:nvSpPr>
        <p:spPr>
          <a:xfrm>
            <a:off x="4450080" y="1728216"/>
            <a:ext cx="402336" cy="402336"/>
          </a:xfrm>
          <a:prstGeom prst="ellipse">
            <a:avLst/>
          </a:prstGeom>
          <a:solidFill>
            <a:srgbClr val="0EA5A4"/>
          </a:solidFill>
          <a:ln w="12700">
            <a:solidFill>
              <a:srgbClr val="0EA5A4"/>
            </a:solidFill>
            <a:prstDash val="solid"/>
          </a:ln>
        </p:spPr>
      </p:sp>
      <p:pic>
        <p:nvPicPr>
          <p:cNvPr id="21" name="Image 2" descr="preencoded.png">    </p:cNvPr>
          <p:cNvPicPr>
            <a:picLocks noChangeAspect="1"/>
          </p:cNvPicPr>
          <p:nvPr/>
        </p:nvPicPr>
        <p:blipFill>
          <a:blip r:embed="rId3"/>
          <a:stretch>
            <a:fillRect/>
          </a:stretch>
        </p:blipFill>
        <p:spPr>
          <a:xfrm>
            <a:off x="4546641" y="1824777"/>
            <a:ext cx="209215" cy="209215"/>
          </a:xfrm>
          <a:prstGeom prst="rect">
            <a:avLst/>
          </a:prstGeom>
        </p:spPr>
      </p:pic>
      <p:sp>
        <p:nvSpPr>
          <p:cNvPr id="22" name="Text 16"/>
          <p:cNvSpPr txBox="1"/>
          <p:nvPr/>
        </p:nvSpPr>
        <p:spPr>
          <a:xfrm>
            <a:off x="4450080" y="218541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Drift</a:t>
            </a:r>
            <a:endParaRPr lang="en-US" sz="1250" dirty="0"/>
          </a:p>
        </p:txBody>
      </p:sp>
      <p:sp>
        <p:nvSpPr>
          <p:cNvPr id="23" name="Text 17"/>
          <p:cNvSpPr txBox="1"/>
          <p:nvPr/>
        </p:nvSpPr>
        <p:spPr>
          <a:xfrm>
            <a:off x="4450080" y="2450592"/>
            <a:ext cx="1429512" cy="7040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PSI per signal vs the training window</a:t>
            </a:r>
            <a:endParaRPr lang="en-US" sz="950" dirty="0"/>
          </a:p>
        </p:txBody>
      </p:sp>
      <p:sp>
        <p:nvSpPr>
          <p:cNvPr id="24" name="Shape 18"/>
          <p:cNvSpPr/>
          <p:nvPr/>
        </p:nvSpPr>
        <p:spPr>
          <a:xfrm>
            <a:off x="5989320" y="2318004"/>
            <a:ext cx="182880" cy="164592"/>
          </a:xfrm>
          <a:prstGeom prst="rightArrow">
            <a:avLst/>
          </a:prstGeom>
          <a:solidFill>
            <a:srgbClr val="F59E0B"/>
          </a:solidFill>
          <a:ln w="12700">
            <a:solidFill>
              <a:srgbClr val="F59E0B"/>
            </a:solidFill>
            <a:prstDash val="solid"/>
          </a:ln>
        </p:spPr>
      </p:sp>
      <p:sp>
        <p:nvSpPr>
          <p:cNvPr id="25" name="Shape 19"/>
          <p:cNvSpPr/>
          <p:nvPr/>
        </p:nvSpPr>
        <p:spPr>
          <a:xfrm>
            <a:off x="6208776" y="1600200"/>
            <a:ext cx="1630680" cy="1600200"/>
          </a:xfrm>
          <a:prstGeom prst="roundRect">
            <a:avLst>
              <a:gd name="adj" fmla="val 4571"/>
            </a:avLst>
          </a:prstGeom>
          <a:solidFill>
            <a:srgbClr val="F3F6FB"/>
          </a:solidFill>
          <a:ln w="12700">
            <a:solidFill>
              <a:srgbClr val="F3F6FB"/>
            </a:solidFill>
            <a:prstDash val="solid"/>
          </a:ln>
        </p:spPr>
      </p:sp>
      <p:sp>
        <p:nvSpPr>
          <p:cNvPr id="26" name="Shape 20"/>
          <p:cNvSpPr/>
          <p:nvPr/>
        </p:nvSpPr>
        <p:spPr>
          <a:xfrm>
            <a:off x="6336792" y="1728216"/>
            <a:ext cx="402336" cy="402336"/>
          </a:xfrm>
          <a:prstGeom prst="ellipse">
            <a:avLst/>
          </a:prstGeom>
          <a:solidFill>
            <a:srgbClr val="F59E0B"/>
          </a:solidFill>
          <a:ln w="12700">
            <a:solidFill>
              <a:srgbClr val="F59E0B"/>
            </a:solidFill>
            <a:prstDash val="solid"/>
          </a:ln>
        </p:spPr>
      </p:sp>
      <p:pic>
        <p:nvPicPr>
          <p:cNvPr id="27" name="Image 3" descr="preencoded.png">    </p:cNvPr>
          <p:cNvPicPr>
            <a:picLocks noChangeAspect="1"/>
          </p:cNvPicPr>
          <p:nvPr/>
        </p:nvPicPr>
        <p:blipFill>
          <a:blip r:embed="rId4"/>
          <a:stretch>
            <a:fillRect/>
          </a:stretch>
        </p:blipFill>
        <p:spPr>
          <a:xfrm>
            <a:off x="6433353" y="1824777"/>
            <a:ext cx="209215" cy="209215"/>
          </a:xfrm>
          <a:prstGeom prst="rect">
            <a:avLst/>
          </a:prstGeom>
        </p:spPr>
      </p:pic>
      <p:sp>
        <p:nvSpPr>
          <p:cNvPr id="28" name="Text 21"/>
          <p:cNvSpPr txBox="1"/>
          <p:nvPr/>
        </p:nvSpPr>
        <p:spPr>
          <a:xfrm>
            <a:off x="6336792" y="218541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Retrain</a:t>
            </a:r>
            <a:endParaRPr lang="en-US" sz="1250" dirty="0"/>
          </a:p>
        </p:txBody>
      </p:sp>
      <p:sp>
        <p:nvSpPr>
          <p:cNvPr id="29" name="Text 22"/>
          <p:cNvSpPr txBox="1"/>
          <p:nvPr/>
        </p:nvSpPr>
        <p:spPr>
          <a:xfrm>
            <a:off x="6336792" y="2450592"/>
            <a:ext cx="1429512" cy="7040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Manual or automatic past an outcome threshold</a:t>
            </a:r>
            <a:endParaRPr lang="en-US" sz="950" dirty="0"/>
          </a:p>
        </p:txBody>
      </p:sp>
      <p:sp>
        <p:nvSpPr>
          <p:cNvPr id="30" name="Shape 23"/>
          <p:cNvSpPr/>
          <p:nvPr/>
        </p:nvSpPr>
        <p:spPr>
          <a:xfrm>
            <a:off x="7876032" y="2318004"/>
            <a:ext cx="182880" cy="164592"/>
          </a:xfrm>
          <a:prstGeom prst="rightArrow">
            <a:avLst/>
          </a:prstGeom>
          <a:solidFill>
            <a:srgbClr val="F59E0B"/>
          </a:solidFill>
          <a:ln w="12700">
            <a:solidFill>
              <a:srgbClr val="F59E0B"/>
            </a:solidFill>
            <a:prstDash val="solid"/>
          </a:ln>
        </p:spPr>
      </p:sp>
      <p:sp>
        <p:nvSpPr>
          <p:cNvPr id="31" name="Shape 24"/>
          <p:cNvSpPr/>
          <p:nvPr/>
        </p:nvSpPr>
        <p:spPr>
          <a:xfrm>
            <a:off x="8095488" y="1600200"/>
            <a:ext cx="1630680" cy="1600200"/>
          </a:xfrm>
          <a:prstGeom prst="roundRect">
            <a:avLst>
              <a:gd name="adj" fmla="val 4571"/>
            </a:avLst>
          </a:prstGeom>
          <a:solidFill>
            <a:srgbClr val="F3F6FB"/>
          </a:solidFill>
          <a:ln w="12700">
            <a:solidFill>
              <a:srgbClr val="F3F6FB"/>
            </a:solidFill>
            <a:prstDash val="solid"/>
          </a:ln>
        </p:spPr>
      </p:sp>
      <p:sp>
        <p:nvSpPr>
          <p:cNvPr id="32" name="Shape 25"/>
          <p:cNvSpPr/>
          <p:nvPr/>
        </p:nvSpPr>
        <p:spPr>
          <a:xfrm>
            <a:off x="8223504" y="1728216"/>
            <a:ext cx="402336" cy="402336"/>
          </a:xfrm>
          <a:prstGeom prst="ellipse">
            <a:avLst/>
          </a:prstGeom>
          <a:solidFill>
            <a:srgbClr val="F59E0B"/>
          </a:solidFill>
          <a:ln w="12700">
            <a:solidFill>
              <a:srgbClr val="F59E0B"/>
            </a:solidFill>
            <a:prstDash val="solid"/>
          </a:ln>
        </p:spPr>
      </p:sp>
      <p:pic>
        <p:nvPicPr>
          <p:cNvPr id="33" name="Image 4" descr="preencoded.png">    </p:cNvPr>
          <p:cNvPicPr>
            <a:picLocks noChangeAspect="1"/>
          </p:cNvPicPr>
          <p:nvPr/>
        </p:nvPicPr>
        <p:blipFill>
          <a:blip r:embed="rId5"/>
          <a:stretch>
            <a:fillRect/>
          </a:stretch>
        </p:blipFill>
        <p:spPr>
          <a:xfrm>
            <a:off x="8320065" y="1824777"/>
            <a:ext cx="209215" cy="209215"/>
          </a:xfrm>
          <a:prstGeom prst="rect">
            <a:avLst/>
          </a:prstGeom>
        </p:spPr>
      </p:pic>
      <p:sp>
        <p:nvSpPr>
          <p:cNvPr id="34" name="Text 26"/>
          <p:cNvSpPr txBox="1"/>
          <p:nvPr/>
        </p:nvSpPr>
        <p:spPr>
          <a:xfrm>
            <a:off x="8223504" y="218541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Gate</a:t>
            </a:r>
            <a:endParaRPr lang="en-US" sz="1250" dirty="0"/>
          </a:p>
        </p:txBody>
      </p:sp>
      <p:sp>
        <p:nvSpPr>
          <p:cNvPr id="35" name="Text 27"/>
          <p:cNvSpPr txBox="1"/>
          <p:nvPr/>
        </p:nvSpPr>
        <p:spPr>
          <a:xfrm>
            <a:off x="8223504" y="2450592"/>
            <a:ext cx="1429512" cy="7040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Challenger vs champion on the same latest window</a:t>
            </a:r>
            <a:endParaRPr lang="en-US" sz="950" dirty="0"/>
          </a:p>
        </p:txBody>
      </p:sp>
      <p:sp>
        <p:nvSpPr>
          <p:cNvPr id="36" name="Shape 28"/>
          <p:cNvSpPr/>
          <p:nvPr/>
        </p:nvSpPr>
        <p:spPr>
          <a:xfrm>
            <a:off x="9762744" y="2318004"/>
            <a:ext cx="182880" cy="164592"/>
          </a:xfrm>
          <a:prstGeom prst="rightArrow">
            <a:avLst/>
          </a:prstGeom>
          <a:solidFill>
            <a:srgbClr val="F59E0B"/>
          </a:solidFill>
          <a:ln w="12700">
            <a:solidFill>
              <a:srgbClr val="F59E0B"/>
            </a:solidFill>
            <a:prstDash val="solid"/>
          </a:ln>
        </p:spPr>
      </p:sp>
      <p:sp>
        <p:nvSpPr>
          <p:cNvPr id="37" name="Shape 29"/>
          <p:cNvSpPr/>
          <p:nvPr/>
        </p:nvSpPr>
        <p:spPr>
          <a:xfrm>
            <a:off x="9982200" y="1600200"/>
            <a:ext cx="1630680" cy="1600200"/>
          </a:xfrm>
          <a:prstGeom prst="roundRect">
            <a:avLst>
              <a:gd name="adj" fmla="val 4571"/>
            </a:avLst>
          </a:prstGeom>
          <a:solidFill>
            <a:srgbClr val="F3F6FB"/>
          </a:solidFill>
          <a:ln w="12700">
            <a:solidFill>
              <a:srgbClr val="F3F6FB"/>
            </a:solidFill>
            <a:prstDash val="solid"/>
          </a:ln>
        </p:spPr>
      </p:sp>
      <p:sp>
        <p:nvSpPr>
          <p:cNvPr id="38" name="Shape 30"/>
          <p:cNvSpPr/>
          <p:nvPr/>
        </p:nvSpPr>
        <p:spPr>
          <a:xfrm>
            <a:off x="10110216" y="1728216"/>
            <a:ext cx="402336" cy="402336"/>
          </a:xfrm>
          <a:prstGeom prst="ellipse">
            <a:avLst/>
          </a:prstGeom>
          <a:solidFill>
            <a:srgbClr val="10B981"/>
          </a:solidFill>
          <a:ln w="12700">
            <a:solidFill>
              <a:srgbClr val="10B981"/>
            </a:solidFill>
            <a:prstDash val="solid"/>
          </a:ln>
        </p:spPr>
      </p:sp>
      <p:pic>
        <p:nvPicPr>
          <p:cNvPr id="39" name="Image 5" descr="preencoded.png">    </p:cNvPr>
          <p:cNvPicPr>
            <a:picLocks noChangeAspect="1"/>
          </p:cNvPicPr>
          <p:nvPr/>
        </p:nvPicPr>
        <p:blipFill>
          <a:blip r:embed="rId6"/>
          <a:stretch>
            <a:fillRect/>
          </a:stretch>
        </p:blipFill>
        <p:spPr>
          <a:xfrm>
            <a:off x="10206777" y="1824777"/>
            <a:ext cx="209215" cy="209215"/>
          </a:xfrm>
          <a:prstGeom prst="rect">
            <a:avLst/>
          </a:prstGeom>
        </p:spPr>
      </p:pic>
      <p:sp>
        <p:nvSpPr>
          <p:cNvPr id="40" name="Text 31"/>
          <p:cNvSpPr txBox="1"/>
          <p:nvPr/>
        </p:nvSpPr>
        <p:spPr>
          <a:xfrm>
            <a:off x="10110216" y="2185416"/>
            <a:ext cx="1429512" cy="27432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Registry</a:t>
            </a:r>
            <a:endParaRPr lang="en-US" sz="1250" dirty="0"/>
          </a:p>
        </p:txBody>
      </p:sp>
      <p:sp>
        <p:nvSpPr>
          <p:cNvPr id="41" name="Text 32"/>
          <p:cNvSpPr txBox="1"/>
          <p:nvPr/>
        </p:nvSpPr>
        <p:spPr>
          <a:xfrm>
            <a:off x="10110216" y="2450592"/>
            <a:ext cx="1429512" cy="704088"/>
          </a:xfrm>
          <a:prstGeom prst="rect">
            <a:avLst/>
          </a:prstGeom>
          <a:noFill/>
          <a:ln/>
        </p:spPr>
        <p:txBody>
          <a:bodyPr wrap="square" lIns="0" tIns="0" rIns="0" bIns="0" rtlCol="0" anchor="t"/>
          <a:lstStyle/>
          <a:p>
            <a:pPr indent="0" marL="0">
              <a:buNone/>
            </a:pPr>
            <a:r>
              <a:rPr lang="en-US" sz="950" dirty="0">
                <a:solidFill>
                  <a:srgbClr val="5B6B82"/>
                </a:solidFill>
                <a:latin typeface="Calibri" pitchFamily="34" charset="0"/>
                <a:ea typeface="Calibri" pitchFamily="34" charset="-122"/>
                <a:cs typeface="Calibri" pitchFamily="34" charset="-120"/>
              </a:rPr>
              <a:t>Versions, gate reasons, archived artefacts, rollback</a:t>
            </a:r>
            <a:endParaRPr lang="en-US" sz="950" dirty="0"/>
          </a:p>
        </p:txBody>
      </p:sp>
      <p:sp>
        <p:nvSpPr>
          <p:cNvPr id="42" name="Text 33"/>
          <p:cNvSpPr txBox="1"/>
          <p:nvPr/>
        </p:nvSpPr>
        <p:spPr>
          <a:xfrm>
            <a:off x="548640" y="3474720"/>
            <a:ext cx="2651760" cy="685800"/>
          </a:xfrm>
          <a:prstGeom prst="rect">
            <a:avLst/>
          </a:prstGeom>
          <a:noFill/>
          <a:ln/>
        </p:spPr>
        <p:txBody>
          <a:bodyPr wrap="square" lIns="0" tIns="0" rIns="0" bIns="0" rtlCol="0" anchor="ctr"/>
          <a:lstStyle/>
          <a:p>
            <a:pPr indent="0" marL="0">
              <a:buNone/>
            </a:pPr>
            <a:r>
              <a:rPr lang="en-US" sz="3400" b="1" dirty="0">
                <a:solidFill>
                  <a:srgbClr val="3B72F0"/>
                </a:solidFill>
                <a:latin typeface="Calibri" pitchFamily="34" charset="0"/>
                <a:ea typeface="Calibri" pitchFamily="34" charset="-122"/>
                <a:cs typeface="Calibri" pitchFamily="34" charset="-120"/>
              </a:rPr>
              <a:t>54,331</a:t>
            </a:r>
            <a:endParaRPr lang="en-US" sz="3400" dirty="0"/>
          </a:p>
        </p:txBody>
      </p:sp>
      <p:sp>
        <p:nvSpPr>
          <p:cNvPr id="43" name="Text 34"/>
          <p:cNvSpPr txBox="1"/>
          <p:nvPr/>
        </p:nvSpPr>
        <p:spPr>
          <a:xfrm>
            <a:off x="548640" y="4151376"/>
            <a:ext cx="265176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outcomes released by +60 days on the simulation clock</a:t>
            </a:r>
            <a:endParaRPr lang="en-US" sz="1150" dirty="0"/>
          </a:p>
        </p:txBody>
      </p:sp>
      <p:sp>
        <p:nvSpPr>
          <p:cNvPr id="44" name="Text 35"/>
          <p:cNvSpPr txBox="1"/>
          <p:nvPr/>
        </p:nvSpPr>
        <p:spPr>
          <a:xfrm>
            <a:off x="3337560" y="3474720"/>
            <a:ext cx="2651760" cy="685800"/>
          </a:xfrm>
          <a:prstGeom prst="rect">
            <a:avLst/>
          </a:prstGeom>
          <a:noFill/>
          <a:ln/>
        </p:spPr>
        <p:txBody>
          <a:bodyPr wrap="square" lIns="0" tIns="0" rIns="0" bIns="0" rtlCol="0" anchor="ctr"/>
          <a:lstStyle/>
          <a:p>
            <a:pPr indent="0" marL="0">
              <a:buNone/>
            </a:pPr>
            <a:r>
              <a:rPr lang="en-US" sz="3400" b="1" dirty="0">
                <a:solidFill>
                  <a:srgbClr val="0EA5A4"/>
                </a:solidFill>
                <a:latin typeface="Calibri" pitchFamily="34" charset="0"/>
                <a:ea typeface="Calibri" pitchFamily="34" charset="-122"/>
                <a:cs typeface="Calibri" pitchFamily="34" charset="-120"/>
              </a:rPr>
              <a:t>0.837</a:t>
            </a:r>
            <a:endParaRPr lang="en-US" sz="3400" dirty="0"/>
          </a:p>
        </p:txBody>
      </p:sp>
      <p:sp>
        <p:nvSpPr>
          <p:cNvPr id="45" name="Text 36"/>
          <p:cNvSpPr txBox="1"/>
          <p:nvPr/>
        </p:nvSpPr>
        <p:spPr>
          <a:xfrm>
            <a:off x="3337560" y="4151376"/>
            <a:ext cx="265176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live ROC-AUC of the serving model on outcomes it had not seen</a:t>
            </a:r>
            <a:endParaRPr lang="en-US" sz="1150" dirty="0"/>
          </a:p>
        </p:txBody>
      </p:sp>
      <p:sp>
        <p:nvSpPr>
          <p:cNvPr id="46" name="Text 37"/>
          <p:cNvSpPr txBox="1"/>
          <p:nvPr/>
        </p:nvSpPr>
        <p:spPr>
          <a:xfrm>
            <a:off x="6126480" y="3474720"/>
            <a:ext cx="2651760" cy="685800"/>
          </a:xfrm>
          <a:prstGeom prst="rect">
            <a:avLst/>
          </a:prstGeom>
          <a:noFill/>
          <a:ln/>
        </p:spPr>
        <p:txBody>
          <a:bodyPr wrap="square" lIns="0" tIns="0" rIns="0" bIns="0" rtlCol="0" anchor="ctr"/>
          <a:lstStyle/>
          <a:p>
            <a:pPr indent="0" marL="0">
              <a:buNone/>
            </a:pPr>
            <a:r>
              <a:rPr lang="en-US" sz="3400" b="1" dirty="0">
                <a:solidFill>
                  <a:srgbClr val="F59E0B"/>
                </a:solidFill>
                <a:latin typeface="Calibri" pitchFamily="34" charset="0"/>
                <a:ea typeface="Calibri" pitchFamily="34" charset="-122"/>
                <a:cs typeface="Calibri" pitchFamily="34" charset="-120"/>
              </a:rPr>
              <a:t>2,92,077</a:t>
            </a:r>
            <a:endParaRPr lang="en-US" sz="3400" dirty="0"/>
          </a:p>
        </p:txBody>
      </p:sp>
      <p:sp>
        <p:nvSpPr>
          <p:cNvPr id="47" name="Text 38"/>
          <p:cNvSpPr txBox="1"/>
          <p:nvPr/>
        </p:nvSpPr>
        <p:spPr>
          <a:xfrm>
            <a:off x="6126480" y="4151376"/>
            <a:ext cx="265176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labelled rows in the retrained model (was 2,37,746)</a:t>
            </a:r>
            <a:endParaRPr lang="en-US" sz="1150" dirty="0"/>
          </a:p>
        </p:txBody>
      </p:sp>
      <p:sp>
        <p:nvSpPr>
          <p:cNvPr id="48" name="Text 39"/>
          <p:cNvSpPr txBox="1"/>
          <p:nvPr/>
        </p:nvSpPr>
        <p:spPr>
          <a:xfrm>
            <a:off x="8915400" y="3474720"/>
            <a:ext cx="2651760" cy="685800"/>
          </a:xfrm>
          <a:prstGeom prst="rect">
            <a:avLst/>
          </a:prstGeom>
          <a:noFill/>
          <a:ln/>
        </p:spPr>
        <p:txBody>
          <a:bodyPr wrap="square" lIns="0" tIns="0" rIns="0" bIns="0" rtlCol="0" anchor="ctr"/>
          <a:lstStyle/>
          <a:p>
            <a:pPr indent="0" marL="0">
              <a:buNone/>
            </a:pPr>
            <a:r>
              <a:rPr lang="en-US" sz="3400" b="1" dirty="0">
                <a:solidFill>
                  <a:srgbClr val="10B981"/>
                </a:solidFill>
                <a:latin typeface="Calibri" pitchFamily="34" charset="0"/>
                <a:ea typeface="Calibri" pitchFamily="34" charset="-122"/>
                <a:cs typeface="Calibri" pitchFamily="34" charset="-120"/>
              </a:rPr>
              <a:t>2</a:t>
            </a:r>
            <a:endParaRPr lang="en-US" sz="3400" dirty="0"/>
          </a:p>
        </p:txBody>
      </p:sp>
      <p:sp>
        <p:nvSpPr>
          <p:cNvPr id="49" name="Text 40"/>
          <p:cNvSpPr txBox="1"/>
          <p:nvPr/>
        </p:nvSpPr>
        <p:spPr>
          <a:xfrm>
            <a:off x="8915400" y="4151376"/>
            <a:ext cx="2651760" cy="45720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model versions in the registry</a:t>
            </a:r>
            <a:endParaRPr lang="en-US" sz="1150" dirty="0"/>
          </a:p>
        </p:txBody>
      </p:sp>
      <p:sp>
        <p:nvSpPr>
          <p:cNvPr id="50" name="Shape 41"/>
          <p:cNvSpPr/>
          <p:nvPr/>
        </p:nvSpPr>
        <p:spPr>
          <a:xfrm>
            <a:off x="548640" y="4709160"/>
            <a:ext cx="11064240" cy="1371600"/>
          </a:xfrm>
          <a:prstGeom prst="roundRect">
            <a:avLst>
              <a:gd name="adj" fmla="val 5333"/>
            </a:avLst>
          </a:prstGeom>
          <a:solidFill>
            <a:srgbClr val="E3ECFF"/>
          </a:solidFill>
          <a:ln w="12700">
            <a:solidFill>
              <a:srgbClr val="E3ECFF"/>
            </a:solidFill>
            <a:prstDash val="solid"/>
          </a:ln>
        </p:spPr>
      </p:sp>
      <p:sp>
        <p:nvSpPr>
          <p:cNvPr id="51" name="Text 42"/>
          <p:cNvSpPr txBox="1"/>
          <p:nvPr/>
        </p:nvSpPr>
        <p:spPr>
          <a:xfrm>
            <a:off x="777240" y="4800600"/>
            <a:ext cx="3657600" cy="320040"/>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Gate decision (real)</a:t>
            </a:r>
            <a:endParaRPr lang="en-US" sz="1400" dirty="0"/>
          </a:p>
        </p:txBody>
      </p:sp>
      <p:sp>
        <p:nvSpPr>
          <p:cNvPr id="52" name="Text 43"/>
          <p:cNvSpPr txBox="1"/>
          <p:nvPr/>
        </p:nvSpPr>
        <p:spPr>
          <a:xfrm>
            <a:off x="777240" y="5138928"/>
            <a:ext cx="10607040" cy="868680"/>
          </a:xfrm>
          <a:prstGeom prst="rect">
            <a:avLst/>
          </a:prstGeom>
          <a:noFill/>
          <a:ln/>
        </p:spPr>
        <p:txBody>
          <a:bodyPr wrap="square" lIns="0" tIns="0" rIns="0" bIns="0" rtlCol="0" anchor="t"/>
          <a:lstStyle/>
          <a:p>
            <a:pPr indent="0" marL="0">
              <a:buNone/>
            </a:pPr>
            <a:r>
              <a:rPr lang="en-US" sz="1250" dirty="0">
                <a:solidFill>
                  <a:srgbClr val="14213D"/>
                </a:solidFill>
                <a:latin typeface="Calibri" pitchFamily="34" charset="0"/>
                <a:ea typeface="Calibri" pitchFamily="34" charset="-122"/>
                <a:cs typeface="Calibri" pitchFamily="34" charset="-120"/>
              </a:rPr>
              <a:t>Challenger PR-AUC 0.7155 vs champion 0.7204; Brier 0.1462 vs 0.1449. Within tolerance — promoted.</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WHERE ADMINISTRATORS RUN CONTINUOUS LEARNING</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Model Lifecycle screen</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37</a:t>
            </a:r>
            <a:endParaRPr lang="en-US" sz="900" dirty="0"/>
          </a:p>
        </p:txBody>
      </p:sp>
      <p:sp>
        <p:nvSpPr>
          <p:cNvPr id="7" name="Shape 4"/>
          <p:cNvSpPr/>
          <p:nvPr/>
        </p:nvSpPr>
        <p:spPr>
          <a:xfrm>
            <a:off x="502920" y="1371600"/>
            <a:ext cx="5623560" cy="3410712"/>
          </a:xfrm>
          <a:prstGeom prst="roundRect">
            <a:avLst>
              <a:gd name="adj" fmla="val 1340"/>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learning.png">    </p:cNvPr>
          <p:cNvPicPr>
            <a:picLocks noChangeAspect="1"/>
          </p:cNvPicPr>
          <p:nvPr/>
        </p:nvPicPr>
        <p:blipFill>
          <a:blip r:embed="rId1"/>
          <a:stretch>
            <a:fillRect/>
          </a:stretch>
        </p:blipFill>
        <p:spPr>
          <a:xfrm>
            <a:off x="548640" y="1417320"/>
            <a:ext cx="5532120" cy="3319272"/>
          </a:xfrm>
          <a:prstGeom prst="rect">
            <a:avLst/>
          </a:prstGeom>
        </p:spPr>
      </p:pic>
      <p:sp>
        <p:nvSpPr>
          <p:cNvPr id="9" name="Text 5"/>
          <p:cNvSpPr txBox="1"/>
          <p:nvPr/>
        </p:nvSpPr>
        <p:spPr>
          <a:xfrm>
            <a:off x="548640" y="4828032"/>
            <a:ext cx="5532120" cy="274320"/>
          </a:xfrm>
          <a:prstGeom prst="rect">
            <a:avLst/>
          </a:prstGeom>
          <a:noFill/>
          <a:ln/>
        </p:spPr>
        <p:txBody>
          <a:bodyPr wrap="square" lIns="0" tIns="0" rIns="0" bIns="0" rtlCol="0" anchor="ctr"/>
          <a:lstStyle/>
          <a:p>
            <a:pPr indent="0" marL="0">
              <a:buNone/>
            </a:pPr>
            <a:r>
              <a:rPr lang="en-US" sz="1000" i="1" dirty="0">
                <a:solidFill>
                  <a:srgbClr val="8A97AB"/>
                </a:solidFill>
                <a:latin typeface="Calibri" pitchFamily="34" charset="0"/>
                <a:ea typeface="Calibri" pitchFamily="34" charset="-122"/>
                <a:cs typeface="Calibri" pitchFamily="34" charset="-120"/>
              </a:rPr>
              <a:t>Monitoring, drift and new data</a:t>
            </a:r>
            <a:endParaRPr lang="en-US" sz="1000" dirty="0"/>
          </a:p>
        </p:txBody>
      </p:sp>
      <p:sp>
        <p:nvSpPr>
          <p:cNvPr id="10" name="Shape 6"/>
          <p:cNvSpPr/>
          <p:nvPr/>
        </p:nvSpPr>
        <p:spPr>
          <a:xfrm>
            <a:off x="6126480" y="1371600"/>
            <a:ext cx="5577840" cy="3383280"/>
          </a:xfrm>
          <a:prstGeom prst="roundRect">
            <a:avLst>
              <a:gd name="adj" fmla="val 1351"/>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11" name="Image 1" descr="C:\Users\byted\AppData\Local\Temp\claude\C--ClaudeCode\522fe311-e259-49a1-bdae-38a26cc91572\scratchpad\deck\shots\learning-registry.png">    </p:cNvPr>
          <p:cNvPicPr>
            <a:picLocks noChangeAspect="1"/>
          </p:cNvPicPr>
          <p:nvPr/>
        </p:nvPicPr>
        <p:blipFill>
          <a:blip r:embed="rId2"/>
          <a:stretch>
            <a:fillRect/>
          </a:stretch>
        </p:blipFill>
        <p:spPr>
          <a:xfrm>
            <a:off x="6172200" y="1417320"/>
            <a:ext cx="5486400" cy="3291840"/>
          </a:xfrm>
          <a:prstGeom prst="rect">
            <a:avLst/>
          </a:prstGeom>
        </p:spPr>
      </p:pic>
      <p:sp>
        <p:nvSpPr>
          <p:cNvPr id="12" name="Text 7"/>
          <p:cNvSpPr txBox="1"/>
          <p:nvPr/>
        </p:nvSpPr>
        <p:spPr>
          <a:xfrm>
            <a:off x="6172200" y="4800600"/>
            <a:ext cx="5486400" cy="274320"/>
          </a:xfrm>
          <a:prstGeom prst="rect">
            <a:avLst/>
          </a:prstGeom>
          <a:noFill/>
          <a:ln/>
        </p:spPr>
        <p:txBody>
          <a:bodyPr wrap="square" lIns="0" tIns="0" rIns="0" bIns="0" rtlCol="0" anchor="ctr"/>
          <a:lstStyle/>
          <a:p>
            <a:pPr indent="0" marL="0">
              <a:buNone/>
            </a:pPr>
            <a:r>
              <a:rPr lang="en-US" sz="1000" i="1" dirty="0">
                <a:solidFill>
                  <a:srgbClr val="8A97AB"/>
                </a:solidFill>
                <a:latin typeface="Calibri" pitchFamily="34" charset="0"/>
                <a:ea typeface="Calibri" pitchFamily="34" charset="-122"/>
                <a:cs typeface="Calibri" pitchFamily="34" charset="-120"/>
              </a:rPr>
              <a:t>Retraining and the model registry</a:t>
            </a:r>
            <a:endParaRPr lang="en-US" sz="1000" dirty="0"/>
          </a:p>
        </p:txBody>
      </p:sp>
      <p:sp>
        <p:nvSpPr>
          <p:cNvPr id="13" name="Text 8"/>
          <p:cNvSpPr txBox="1"/>
          <p:nvPr/>
        </p:nvSpPr>
        <p:spPr>
          <a:xfrm>
            <a:off x="548640" y="5074920"/>
            <a:ext cx="11064240" cy="914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Outcomes keep the prediction made before them, so live metrics are prospective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A rejected challenger leaves the champion serving; the reason is recorded</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Rollback restores an archived version without retraining</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INTEGRATION-READY — HONESTLY NOT INTEGRATED</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Integration with land acquisition systems and government databases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737360"/>
                <a:gridCol w="3291840"/>
                <a:gridCol w="164592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Provider contract</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Future official source</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Today</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Land records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State record-of-rights systems digitised under the Digital India Lan…</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Registration &amp; encumbrance</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National Generic Document Registration System (NGDRS) and state regi…</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Court &amp; dispute records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eCourts Services / National Judicial Data Grid (NJDG)</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Compensation &amp; payments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Public Financial Management System (PFMS)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Acquisition notifications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e-Gazette of India and State Gazettes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Project progress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PM Gati Shakti National Master Plan</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Forest &amp; environment clearances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PARIVESH (MoEFCC clearance portal)</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GIS &amp; geospatial</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PM Gati Shakti National Master Plan layers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Administrative units</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dirty="0">
                          <a:solidFill>
                            <a:srgbClr val="14213D"/>
                          </a:solidFill>
                          <a:latin typeface="Calibri" pitchFamily="34" charset="0"/>
                          <a:ea typeface="Calibri" pitchFamily="34" charset="-122"/>
                          <a:cs typeface="Calibri" pitchFamily="34" charset="-120"/>
                        </a:rPr>
                        <a:t>Local Government Directory (LGD)</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950" b="1" dirty="0">
                          <a:solidFill>
                            <a:srgbClr val="1F4FC4"/>
                          </a:solidFill>
                          <a:latin typeface="Calibri" pitchFamily="34" charset="0"/>
                          <a:ea typeface="Calibri" pitchFamily="34" charset="-122"/>
                          <a:cs typeface="Calibri" pitchFamily="34" charset="-120"/>
                        </a:rPr>
                        <a:t>Integration-ready — synthetic adapter</a:t>
                      </a:r>
                      <a:endParaRPr lang="en-US" sz="9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bl>
          </a:graphicData>
        </a:graphic>
      </p:graphicFrame>
      <p:sp>
        <p:nvSpPr>
          <p:cNvPr id="8" name="Shape 4"/>
          <p:cNvSpPr/>
          <p:nvPr/>
        </p:nvSpPr>
        <p:spPr>
          <a:xfrm>
            <a:off x="7498080" y="1463040"/>
            <a:ext cx="4114800" cy="4617720"/>
          </a:xfrm>
          <a:prstGeom prst="roundRect">
            <a:avLst>
              <a:gd name="adj" fmla="val 1778"/>
            </a:avLst>
          </a:prstGeom>
          <a:solidFill>
            <a:srgbClr val="0B1B34"/>
          </a:solidFill>
          <a:ln w="12700">
            <a:solidFill>
              <a:srgbClr val="0B1B34"/>
            </a:solidFill>
            <a:prstDash val="solid"/>
          </a:ln>
        </p:spPr>
      </p:sp>
      <p:sp>
        <p:nvSpPr>
          <p:cNvPr id="9" name="Text 5"/>
          <p:cNvSpPr txBox="1"/>
          <p:nvPr/>
        </p:nvSpPr>
        <p:spPr>
          <a:xfrm>
            <a:off x="7726680" y="1600200"/>
            <a:ext cx="365760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Integration API v1</a:t>
            </a:r>
            <a:endParaRPr lang="en-US" sz="1700" dirty="0"/>
          </a:p>
        </p:txBody>
      </p:sp>
      <p:sp>
        <p:nvSpPr>
          <p:cNvPr id="10" name="Text 6"/>
          <p:cNvSpPr txBox="1"/>
          <p:nvPr/>
        </p:nvSpPr>
        <p:spPr>
          <a:xfrm>
            <a:off x="7726680" y="2011680"/>
            <a:ext cx="3749040" cy="2194560"/>
          </a:xfrm>
          <a:prstGeom prst="rect">
            <a:avLst/>
          </a:prstGeom>
          <a:noFill/>
          <a:ln/>
        </p:spPr>
        <p:txBody>
          <a:bodyPr wrap="square" lIns="0" tIns="0" rIns="0" bIns="0" rtlCol="0" anchor="t"/>
          <a:lstStyle/>
          <a:p>
            <a:pPr indent="0" marL="0">
              <a:buNone/>
            </a:pPr>
            <a:r>
              <a:rPr lang="en-US" sz="1150" dirty="0">
                <a:solidFill>
                  <a:srgbClr val="E6ECF5"/>
                </a:solidFill>
                <a:latin typeface="Courier New" pitchFamily="34" charset="0"/>
                <a:ea typeface="Courier New" pitchFamily="34" charset="-122"/>
                <a:cs typeface="Courier New" pitchFamily="34" charset="-120"/>
              </a:rPr>
              <a:t>GET    /v1/projects</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GET    /v1/projects/{id}/risk</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PATCH  /v1/projects/{id}</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POST   /v1/projects</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POST   /v1/score</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POST   /v1/outcomes</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GET    /v1/alerts</a:t>
            </a:r>
            <a:endParaRPr lang="en-US" sz="1150" dirty="0"/>
          </a:p>
          <a:p>
            <a:pPr indent="0" marL="0">
              <a:buNone/>
            </a:pPr>
            <a:r>
              <a:rPr lang="en-US" sz="1150" dirty="0">
                <a:solidFill>
                  <a:srgbClr val="E6ECF5"/>
                </a:solidFill>
                <a:latin typeface="Courier New" pitchFamily="34" charset="0"/>
                <a:ea typeface="Courier New" pitchFamily="34" charset="-122"/>
                <a:cs typeface="Courier New" pitchFamily="34" charset="-120"/>
              </a:rPr>
              <a:t>GET    /v1/openapi.json</a:t>
            </a:r>
            <a:endParaRPr lang="en-US" sz="1150" dirty="0"/>
          </a:p>
        </p:txBody>
      </p:sp>
      <p:sp>
        <p:nvSpPr>
          <p:cNvPr id="11" name="Text 7"/>
          <p:cNvSpPr txBox="1"/>
          <p:nvPr/>
        </p:nvSpPr>
        <p:spPr>
          <a:xfrm>
            <a:off x="7726680" y="4343400"/>
            <a:ext cx="3749040" cy="164592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C9D3E4"/>
                </a:solidFill>
                <a:latin typeface="Calibri" pitchFamily="34" charset="0"/>
                <a:ea typeface="Calibri" pitchFamily="34" charset="-122"/>
                <a:cs typeface="Calibri" pitchFamily="34" charset="-120"/>
              </a:rPr>
              <a:t>X-API-Key, hashed, shown once</a:t>
            </a:r>
            <a:endParaRPr lang="en-US" sz="1150" dirty="0"/>
          </a:p>
          <a:p>
            <a:pPr marL="342900" indent="-342900">
              <a:spcAft>
                <a:spcPts val="600"/>
              </a:spcAft>
              <a:buSzPct val="100000"/>
              <a:buChar char="•"/>
            </a:pPr>
            <a:r>
              <a:rPr lang="en-US" sz="1150" dirty="0">
                <a:solidFill>
                  <a:srgbClr val="C9D3E4"/>
                </a:solidFill>
                <a:latin typeface="Calibri" pitchFamily="34" charset="0"/>
                <a:ea typeface="Calibri" pitchFamily="34" charset="-122"/>
                <a:cs typeface="Calibri" pitchFamily="34" charset="-120"/>
              </a:rPr>
              <a:t>Scopes + jurisdiction + rate limit per key</a:t>
            </a:r>
            <a:endParaRPr lang="en-US" sz="1150" dirty="0"/>
          </a:p>
          <a:p>
            <a:pPr marL="342900" indent="-342900">
              <a:spcAft>
                <a:spcPts val="600"/>
              </a:spcAft>
              <a:buSzPct val="100000"/>
              <a:buChar char="•"/>
            </a:pPr>
            <a:r>
              <a:rPr lang="en-US" sz="1150" dirty="0">
                <a:solidFill>
                  <a:srgbClr val="C9D3E4"/>
                </a:solidFill>
                <a:latin typeface="Calibri" pitchFamily="34" charset="0"/>
                <a:ea typeface="Calibri" pitchFamily="34" charset="-122"/>
                <a:cs typeface="Calibri" pitchFamily="34" charset="-120"/>
              </a:rPr>
              <a:t>Status pushes re-score instantly</a:t>
            </a:r>
            <a:endParaRPr lang="en-US" sz="1150" dirty="0"/>
          </a:p>
          <a:p>
            <a:pPr marL="342900" indent="-342900">
              <a:spcAft>
                <a:spcPts val="600"/>
              </a:spcAft>
              <a:buSzPct val="100000"/>
              <a:buChar char="•"/>
            </a:pPr>
            <a:r>
              <a:rPr lang="en-US" sz="1150" dirty="0">
                <a:solidFill>
                  <a:srgbClr val="C9D3E4"/>
                </a:solidFill>
                <a:latin typeface="Calibri" pitchFamily="34" charset="0"/>
                <a:ea typeface="Calibri" pitchFamily="34" charset="-122"/>
                <a:cs typeface="Calibri" pitchFamily="34" charset="-120"/>
              </a:rPr>
              <a:t>Webhooks deliver alerts to the system</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ISSUE KEYS, READ THE CONTRACT, VERIFY THE AUDIT CHAIN</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APIs &amp; Security screen</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39</a:t>
            </a:r>
            <a:endParaRPr lang="en-US" sz="900" dirty="0"/>
          </a:p>
        </p:txBody>
      </p:sp>
      <p:sp>
        <p:nvSpPr>
          <p:cNvPr id="7" name="Shape 4"/>
          <p:cNvSpPr/>
          <p:nvPr/>
        </p:nvSpPr>
        <p:spPr>
          <a:xfrm>
            <a:off x="502920" y="1371600"/>
            <a:ext cx="7498080" cy="4535424"/>
          </a:xfrm>
          <a:prstGeom prst="roundRect">
            <a:avLst>
              <a:gd name="adj" fmla="val 1008"/>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integrations.png">    </p:cNvPr>
          <p:cNvPicPr>
            <a:picLocks noChangeAspect="1"/>
          </p:cNvPicPr>
          <p:nvPr/>
        </p:nvPicPr>
        <p:blipFill>
          <a:blip r:embed="rId1"/>
          <a:stretch>
            <a:fillRect/>
          </a:stretch>
        </p:blipFill>
        <p:spPr>
          <a:xfrm>
            <a:off x="548640" y="1417320"/>
            <a:ext cx="7406640" cy="4443984"/>
          </a:xfrm>
          <a:prstGeom prst="rect">
            <a:avLst/>
          </a:prstGeom>
        </p:spPr>
      </p:pic>
      <p:sp>
        <p:nvSpPr>
          <p:cNvPr id="9" name="Text 5"/>
          <p:cNvSpPr txBox="1"/>
          <p:nvPr/>
        </p:nvSpPr>
        <p:spPr>
          <a:xfrm>
            <a:off x="8229600" y="1508760"/>
            <a:ext cx="3383280" cy="4572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Create an API client: name, scopes, rate limit, optional webhook — key shown once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Revoke instantly; revoked keys are refused</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Security posture stated plainly, including what production adds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Audit chain verification: every entry carries the SHA-256 of the previous one</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Data Sources screen: provenance modes and every provider contract</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WHO CAN DO WHAT, WHERE — AND A RECORD OF IT</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Secure, role-based access with comprehensive audit trails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40</a:t>
            </a:r>
            <a:endParaRPr lang="en-US" sz="9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468880"/>
                <a:gridCol w="1920240"/>
                <a:gridCol w="256032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Typical scope</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Can</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National Administrator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All India</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Everything incl. retraining, API keys, deletion</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Ministry / Organisation Nodal Officer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Sector nationally, zone or State</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Assign &amp; update interventions, review, audit</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State Administrator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State</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Create/edit projects, CSV, API keys, notifications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District Administrator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District</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Edit, advance stages, assign, record outcomes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Land Acquisition Officer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District</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Advance stages, cases, awards, record outcomes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Project Implementing Agency</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Own authority's projects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Update interventions, survey documents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Legal Officer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State / district</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Legal interventions and documents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Revenue / Land Records Officer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District</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Documentation, land records, reviews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Field Verification Officer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District</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Field interventions, possession, R&amp;R documents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Policy Viewer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Any tier</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00" dirty="0">
                          <a:solidFill>
                            <a:srgbClr val="14213D"/>
                          </a:solidFill>
                          <a:latin typeface="Calibri" pitchFamily="34" charset="0"/>
                          <a:ea typeface="Calibri" pitchFamily="34" charset="-122"/>
                          <a:cs typeface="Calibri" pitchFamily="34" charset="-120"/>
                        </a:rPr>
                        <a:t>Read-only analytics and reports</a:t>
                      </a:r>
                      <a:endParaRPr lang="en-US" sz="100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r>
            </a:tbl>
          </a:graphicData>
        </a:graphic>
      </p:graphicFrame>
      <p:sp>
        <p:nvSpPr>
          <p:cNvPr id="8" name="Shape 4"/>
          <p:cNvSpPr/>
          <p:nvPr/>
        </p:nvSpPr>
        <p:spPr>
          <a:xfrm>
            <a:off x="7772400" y="1508760"/>
            <a:ext cx="3840480" cy="1005840"/>
          </a:xfrm>
          <a:prstGeom prst="roundRect">
            <a:avLst>
              <a:gd name="adj" fmla="val 7273"/>
            </a:avLst>
          </a:prstGeom>
          <a:solidFill>
            <a:srgbClr val="F3F6FB"/>
          </a:solidFill>
          <a:ln w="12700">
            <a:solidFill>
              <a:srgbClr val="F3F6FB"/>
            </a:solidFill>
            <a:prstDash val="solid"/>
          </a:ln>
        </p:spPr>
      </p:sp>
      <p:sp>
        <p:nvSpPr>
          <p:cNvPr id="9" name="Shape 5"/>
          <p:cNvSpPr/>
          <p:nvPr/>
        </p:nvSpPr>
        <p:spPr>
          <a:xfrm>
            <a:off x="7909560" y="1737360"/>
            <a:ext cx="502920" cy="502920"/>
          </a:xfrm>
          <a:prstGeom prst="ellipse">
            <a:avLst/>
          </a:prstGeom>
          <a:solidFill>
            <a:srgbClr val="3B72F0"/>
          </a:solidFill>
          <a:ln w="12700">
            <a:solidFill>
              <a:srgbClr val="3B72F0"/>
            </a:solidFill>
            <a:prstDash val="solid"/>
          </a:ln>
        </p:spPr>
      </p:sp>
      <p:pic>
        <p:nvPicPr>
          <p:cNvPr id="10" name="Image 0" descr="preencoded.png">    </p:cNvPr>
          <p:cNvPicPr>
            <a:picLocks noChangeAspect="1"/>
          </p:cNvPicPr>
          <p:nvPr/>
        </p:nvPicPr>
        <p:blipFill>
          <a:blip r:embed="rId1"/>
          <a:stretch>
            <a:fillRect/>
          </a:stretch>
        </p:blipFill>
        <p:spPr>
          <a:xfrm>
            <a:off x="8030261" y="1858061"/>
            <a:ext cx="261518" cy="261518"/>
          </a:xfrm>
          <a:prstGeom prst="rect">
            <a:avLst/>
          </a:prstGeom>
        </p:spPr>
      </p:pic>
      <p:sp>
        <p:nvSpPr>
          <p:cNvPr id="11" name="Text 6"/>
          <p:cNvSpPr txBox="1"/>
          <p:nvPr/>
        </p:nvSpPr>
        <p:spPr>
          <a:xfrm>
            <a:off x="8549640" y="1600200"/>
            <a:ext cx="2971800"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Authentication</a:t>
            </a:r>
            <a:endParaRPr lang="en-US" sz="1300" dirty="0"/>
          </a:p>
        </p:txBody>
      </p:sp>
      <p:sp>
        <p:nvSpPr>
          <p:cNvPr id="12" name="Text 7"/>
          <p:cNvSpPr txBox="1"/>
          <p:nvPr/>
        </p:nvSpPr>
        <p:spPr>
          <a:xfrm>
            <a:off x="8549640" y="1874520"/>
            <a:ext cx="2971800" cy="62179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scrypt passwords, 5-attempt lockout; SSO + MFA in production</a:t>
            </a:r>
            <a:endParaRPr lang="en-US" sz="1000" dirty="0"/>
          </a:p>
        </p:txBody>
      </p:sp>
      <p:sp>
        <p:nvSpPr>
          <p:cNvPr id="13" name="Shape 8"/>
          <p:cNvSpPr/>
          <p:nvPr/>
        </p:nvSpPr>
        <p:spPr>
          <a:xfrm>
            <a:off x="7772400" y="2651760"/>
            <a:ext cx="3840480" cy="1005840"/>
          </a:xfrm>
          <a:prstGeom prst="roundRect">
            <a:avLst>
              <a:gd name="adj" fmla="val 7273"/>
            </a:avLst>
          </a:prstGeom>
          <a:solidFill>
            <a:srgbClr val="F3F6FB"/>
          </a:solidFill>
          <a:ln w="12700">
            <a:solidFill>
              <a:srgbClr val="F3F6FB"/>
            </a:solidFill>
            <a:prstDash val="solid"/>
          </a:ln>
        </p:spPr>
      </p:sp>
      <p:sp>
        <p:nvSpPr>
          <p:cNvPr id="14" name="Shape 9"/>
          <p:cNvSpPr/>
          <p:nvPr/>
        </p:nvSpPr>
        <p:spPr>
          <a:xfrm>
            <a:off x="7909560" y="2880360"/>
            <a:ext cx="502920" cy="502920"/>
          </a:xfrm>
          <a:prstGeom prst="ellipse">
            <a:avLst/>
          </a:prstGeom>
          <a:solidFill>
            <a:srgbClr val="0EA5A4"/>
          </a:solidFill>
          <a:ln w="12700">
            <a:solidFill>
              <a:srgbClr val="0EA5A4"/>
            </a:solidFill>
            <a:prstDash val="solid"/>
          </a:ln>
        </p:spPr>
      </p:sp>
      <p:pic>
        <p:nvPicPr>
          <p:cNvPr id="15" name="Image 1" descr="preencoded.png">    </p:cNvPr>
          <p:cNvPicPr>
            <a:picLocks noChangeAspect="1"/>
          </p:cNvPicPr>
          <p:nvPr/>
        </p:nvPicPr>
        <p:blipFill>
          <a:blip r:embed="rId2"/>
          <a:stretch>
            <a:fillRect/>
          </a:stretch>
        </p:blipFill>
        <p:spPr>
          <a:xfrm>
            <a:off x="8030261" y="3001061"/>
            <a:ext cx="261518" cy="261518"/>
          </a:xfrm>
          <a:prstGeom prst="rect">
            <a:avLst/>
          </a:prstGeom>
        </p:spPr>
      </p:pic>
      <p:sp>
        <p:nvSpPr>
          <p:cNvPr id="16" name="Text 10"/>
          <p:cNvSpPr txBox="1"/>
          <p:nvPr/>
        </p:nvSpPr>
        <p:spPr>
          <a:xfrm>
            <a:off x="8549640" y="2743200"/>
            <a:ext cx="2971800"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Sessions</a:t>
            </a:r>
            <a:endParaRPr lang="en-US" sz="1300" dirty="0"/>
          </a:p>
        </p:txBody>
      </p:sp>
      <p:sp>
        <p:nvSpPr>
          <p:cNvPr id="17" name="Text 11"/>
          <p:cNvSpPr txBox="1"/>
          <p:nvPr/>
        </p:nvSpPr>
        <p:spPr>
          <a:xfrm>
            <a:off x="8549640" y="3017520"/>
            <a:ext cx="2971800" cy="62179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256-bit hashed tokens, 60-min idle, 8-hour lifetime, header only</a:t>
            </a:r>
            <a:endParaRPr lang="en-US" sz="1000" dirty="0"/>
          </a:p>
        </p:txBody>
      </p:sp>
      <p:sp>
        <p:nvSpPr>
          <p:cNvPr id="18" name="Shape 12"/>
          <p:cNvSpPr/>
          <p:nvPr/>
        </p:nvSpPr>
        <p:spPr>
          <a:xfrm>
            <a:off x="7772400" y="3794760"/>
            <a:ext cx="3840480" cy="1005840"/>
          </a:xfrm>
          <a:prstGeom prst="roundRect">
            <a:avLst>
              <a:gd name="adj" fmla="val 7273"/>
            </a:avLst>
          </a:prstGeom>
          <a:solidFill>
            <a:srgbClr val="F3F6FB"/>
          </a:solidFill>
          <a:ln w="12700">
            <a:solidFill>
              <a:srgbClr val="F3F6FB"/>
            </a:solidFill>
            <a:prstDash val="solid"/>
          </a:ln>
        </p:spPr>
      </p:sp>
      <p:sp>
        <p:nvSpPr>
          <p:cNvPr id="19" name="Shape 13"/>
          <p:cNvSpPr/>
          <p:nvPr/>
        </p:nvSpPr>
        <p:spPr>
          <a:xfrm>
            <a:off x="7909560" y="4023360"/>
            <a:ext cx="502920" cy="502920"/>
          </a:xfrm>
          <a:prstGeom prst="ellipse">
            <a:avLst/>
          </a:prstGeom>
          <a:solidFill>
            <a:srgbClr val="F59E0B"/>
          </a:solidFill>
          <a:ln w="12700">
            <a:solidFill>
              <a:srgbClr val="F59E0B"/>
            </a:solidFill>
            <a:prstDash val="solid"/>
          </a:ln>
        </p:spPr>
      </p:sp>
      <p:pic>
        <p:nvPicPr>
          <p:cNvPr id="20" name="Image 2" descr="preencoded.png">    </p:cNvPr>
          <p:cNvPicPr>
            <a:picLocks noChangeAspect="1"/>
          </p:cNvPicPr>
          <p:nvPr/>
        </p:nvPicPr>
        <p:blipFill>
          <a:blip r:embed="rId3"/>
          <a:stretch>
            <a:fillRect/>
          </a:stretch>
        </p:blipFill>
        <p:spPr>
          <a:xfrm>
            <a:off x="8030261" y="4144061"/>
            <a:ext cx="261518" cy="261518"/>
          </a:xfrm>
          <a:prstGeom prst="rect">
            <a:avLst/>
          </a:prstGeom>
        </p:spPr>
      </p:pic>
      <p:sp>
        <p:nvSpPr>
          <p:cNvPr id="21" name="Text 14"/>
          <p:cNvSpPr txBox="1"/>
          <p:nvPr/>
        </p:nvSpPr>
        <p:spPr>
          <a:xfrm>
            <a:off x="8549640" y="3886200"/>
            <a:ext cx="2971800"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API protection</a:t>
            </a:r>
            <a:endParaRPr lang="en-US" sz="1300" dirty="0"/>
          </a:p>
        </p:txBody>
      </p:sp>
      <p:sp>
        <p:nvSpPr>
          <p:cNvPr id="22" name="Text 15"/>
          <p:cNvSpPr txBox="1"/>
          <p:nvPr/>
        </p:nvSpPr>
        <p:spPr>
          <a:xfrm>
            <a:off x="8549640" y="4160520"/>
            <a:ext cx="2971800" cy="62179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Jurisdiction on every read, CORS allowlist, security headers, rate limits</a:t>
            </a:r>
            <a:endParaRPr lang="en-US" sz="1000" dirty="0"/>
          </a:p>
        </p:txBody>
      </p:sp>
      <p:sp>
        <p:nvSpPr>
          <p:cNvPr id="23" name="Shape 16"/>
          <p:cNvSpPr/>
          <p:nvPr/>
        </p:nvSpPr>
        <p:spPr>
          <a:xfrm>
            <a:off x="7772400" y="4937760"/>
            <a:ext cx="3840480" cy="1005840"/>
          </a:xfrm>
          <a:prstGeom prst="roundRect">
            <a:avLst>
              <a:gd name="adj" fmla="val 7273"/>
            </a:avLst>
          </a:prstGeom>
          <a:solidFill>
            <a:srgbClr val="F3F6FB"/>
          </a:solidFill>
          <a:ln w="12700">
            <a:solidFill>
              <a:srgbClr val="F3F6FB"/>
            </a:solidFill>
            <a:prstDash val="solid"/>
          </a:ln>
        </p:spPr>
      </p:sp>
      <p:sp>
        <p:nvSpPr>
          <p:cNvPr id="24" name="Shape 17"/>
          <p:cNvSpPr/>
          <p:nvPr/>
        </p:nvSpPr>
        <p:spPr>
          <a:xfrm>
            <a:off x="7909560" y="5166360"/>
            <a:ext cx="502920" cy="502920"/>
          </a:xfrm>
          <a:prstGeom prst="ellipse">
            <a:avLst/>
          </a:prstGeom>
          <a:solidFill>
            <a:srgbClr val="10B981"/>
          </a:solidFill>
          <a:ln w="12700">
            <a:solidFill>
              <a:srgbClr val="10B981"/>
            </a:solidFill>
            <a:prstDash val="solid"/>
          </a:ln>
        </p:spPr>
      </p:sp>
      <p:pic>
        <p:nvPicPr>
          <p:cNvPr id="25" name="Image 3" descr="preencoded.png">    </p:cNvPr>
          <p:cNvPicPr>
            <a:picLocks noChangeAspect="1"/>
          </p:cNvPicPr>
          <p:nvPr/>
        </p:nvPicPr>
        <p:blipFill>
          <a:blip r:embed="rId4"/>
          <a:stretch>
            <a:fillRect/>
          </a:stretch>
        </p:blipFill>
        <p:spPr>
          <a:xfrm>
            <a:off x="8030261" y="5287061"/>
            <a:ext cx="261518" cy="261518"/>
          </a:xfrm>
          <a:prstGeom prst="rect">
            <a:avLst/>
          </a:prstGeom>
        </p:spPr>
      </p:pic>
      <p:sp>
        <p:nvSpPr>
          <p:cNvPr id="26" name="Text 18"/>
          <p:cNvSpPr txBox="1"/>
          <p:nvPr/>
        </p:nvSpPr>
        <p:spPr>
          <a:xfrm>
            <a:off x="8549640" y="5029200"/>
            <a:ext cx="2971800" cy="27432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Audit</a:t>
            </a:r>
            <a:endParaRPr lang="en-US" sz="1300" dirty="0"/>
          </a:p>
        </p:txBody>
      </p:sp>
      <p:sp>
        <p:nvSpPr>
          <p:cNvPr id="27" name="Text 19"/>
          <p:cNvSpPr txBox="1"/>
          <p:nvPr/>
        </p:nvSpPr>
        <p:spPr>
          <a:xfrm>
            <a:off x="8549640" y="5303520"/>
            <a:ext cx="2971800" cy="621792"/>
          </a:xfrm>
          <a:prstGeom prst="rect">
            <a:avLst/>
          </a:prstGeom>
          <a:noFill/>
          <a:ln/>
        </p:spPr>
        <p:txBody>
          <a:bodyPr wrap="square" lIns="0" tIns="0" rIns="0" bIns="0" rtlCol="0" anchor="t"/>
          <a:lstStyle/>
          <a:p>
            <a:pPr indent="0" marL="0">
              <a:buNone/>
            </a:pPr>
            <a:r>
              <a:rPr lang="en-US" sz="1000" dirty="0">
                <a:solidFill>
                  <a:srgbClr val="5B6B82"/>
                </a:solidFill>
                <a:latin typeface="Calibri" pitchFamily="34" charset="0"/>
                <a:ea typeface="Calibri" pitchFamily="34" charset="-122"/>
                <a:cs typeface="Calibri" pitchFamily="34" charset="-120"/>
              </a:rPr>
              <a:t>SHA-256 hash chain · 816 chained entries verify · failed sign-ins, exports, downloads, API writes</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OPERATING THE PLATFORM</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Administration and audit trail</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41</a:t>
            </a:r>
            <a:endParaRPr lang="en-US" sz="900" dirty="0"/>
          </a:p>
        </p:txBody>
      </p:sp>
      <p:sp>
        <p:nvSpPr>
          <p:cNvPr id="7" name="Shape 4"/>
          <p:cNvSpPr/>
          <p:nvPr/>
        </p:nvSpPr>
        <p:spPr>
          <a:xfrm>
            <a:off x="502920" y="1371600"/>
            <a:ext cx="5623560" cy="3410712"/>
          </a:xfrm>
          <a:prstGeom prst="roundRect">
            <a:avLst>
              <a:gd name="adj" fmla="val 1340"/>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8" name="Image 0" descr="C:\Users\byted\AppData\Local\Temp\claude\C--ClaudeCode\522fe311-e259-49a1-bdae-38a26cc91572\scratchpad\deck\shots\admin.png">    </p:cNvPr>
          <p:cNvPicPr>
            <a:picLocks noChangeAspect="1"/>
          </p:cNvPicPr>
          <p:nvPr/>
        </p:nvPicPr>
        <p:blipFill>
          <a:blip r:embed="rId1"/>
          <a:stretch>
            <a:fillRect/>
          </a:stretch>
        </p:blipFill>
        <p:spPr>
          <a:xfrm>
            <a:off x="548640" y="1417320"/>
            <a:ext cx="5532120" cy="3319272"/>
          </a:xfrm>
          <a:prstGeom prst="rect">
            <a:avLst/>
          </a:prstGeom>
        </p:spPr>
      </p:pic>
      <p:sp>
        <p:nvSpPr>
          <p:cNvPr id="9" name="Text 5"/>
          <p:cNvSpPr txBox="1"/>
          <p:nvPr/>
        </p:nvSpPr>
        <p:spPr>
          <a:xfrm>
            <a:off x="548640" y="4828032"/>
            <a:ext cx="5532120" cy="274320"/>
          </a:xfrm>
          <a:prstGeom prst="rect">
            <a:avLst/>
          </a:prstGeom>
          <a:noFill/>
          <a:ln/>
        </p:spPr>
        <p:txBody>
          <a:bodyPr wrap="square" lIns="0" tIns="0" rIns="0" bIns="0" rtlCol="0" anchor="ctr"/>
          <a:lstStyle/>
          <a:p>
            <a:pPr indent="0" marL="0">
              <a:buNone/>
            </a:pPr>
            <a:r>
              <a:rPr lang="en-US" sz="1000" i="1" dirty="0">
                <a:solidFill>
                  <a:srgbClr val="8A97AB"/>
                </a:solidFill>
                <a:latin typeface="Calibri" pitchFamily="34" charset="0"/>
                <a:ea typeface="Calibri" pitchFamily="34" charset="-122"/>
                <a:cs typeface="Calibri" pitchFamily="34" charset="-120"/>
              </a:rPr>
              <a:t>Administration — CSV validation, retraining, consistency checks</a:t>
            </a:r>
            <a:endParaRPr lang="en-US" sz="1000" dirty="0"/>
          </a:p>
        </p:txBody>
      </p:sp>
      <p:sp>
        <p:nvSpPr>
          <p:cNvPr id="10" name="Shape 6"/>
          <p:cNvSpPr/>
          <p:nvPr/>
        </p:nvSpPr>
        <p:spPr>
          <a:xfrm>
            <a:off x="6126480" y="1371600"/>
            <a:ext cx="5577840" cy="3383280"/>
          </a:xfrm>
          <a:prstGeom prst="roundRect">
            <a:avLst>
              <a:gd name="adj" fmla="val 1351"/>
            </a:avLst>
          </a:prstGeom>
          <a:solidFill>
            <a:srgbClr val="FFFFFF"/>
          </a:solidFill>
          <a:ln w="12700">
            <a:solidFill>
              <a:srgbClr val="DDE3EE"/>
            </a:solidFill>
            <a:prstDash val="solid"/>
          </a:ln>
          <a:effectLst>
            <a:outerShdw sx="100000" sy="100000" kx="0" ky="0" algn="bl" rotWithShape="0" blurRad="127000" dist="38100" dir="5400000">
              <a:srgbClr val="000000">
                <a:alpha val="18000"/>
              </a:srgbClr>
            </a:outerShdw>
          </a:effectLst>
        </p:spPr>
      </p:sp>
      <p:pic>
        <p:nvPicPr>
          <p:cNvPr id="11" name="Image 1" descr="C:\Users\byted\AppData\Local\Temp\claude\C--ClaudeCode\522fe311-e259-49a1-bdae-38a26cc91572\scratchpad\deck\shots\audit.png">    </p:cNvPr>
          <p:cNvPicPr>
            <a:picLocks noChangeAspect="1"/>
          </p:cNvPicPr>
          <p:nvPr/>
        </p:nvPicPr>
        <p:blipFill>
          <a:blip r:embed="rId2"/>
          <a:stretch>
            <a:fillRect/>
          </a:stretch>
        </p:blipFill>
        <p:spPr>
          <a:xfrm>
            <a:off x="6172200" y="1417320"/>
            <a:ext cx="5486400" cy="3291840"/>
          </a:xfrm>
          <a:prstGeom prst="rect">
            <a:avLst/>
          </a:prstGeom>
        </p:spPr>
      </p:pic>
      <p:sp>
        <p:nvSpPr>
          <p:cNvPr id="12" name="Text 7"/>
          <p:cNvSpPr txBox="1"/>
          <p:nvPr/>
        </p:nvSpPr>
        <p:spPr>
          <a:xfrm>
            <a:off x="6172200" y="4800600"/>
            <a:ext cx="5486400" cy="274320"/>
          </a:xfrm>
          <a:prstGeom prst="rect">
            <a:avLst/>
          </a:prstGeom>
          <a:noFill/>
          <a:ln/>
        </p:spPr>
        <p:txBody>
          <a:bodyPr wrap="square" lIns="0" tIns="0" rIns="0" bIns="0" rtlCol="0" anchor="ctr"/>
          <a:lstStyle/>
          <a:p>
            <a:pPr indent="0" marL="0">
              <a:buNone/>
            </a:pPr>
            <a:r>
              <a:rPr lang="en-US" sz="1000" i="1" dirty="0">
                <a:solidFill>
                  <a:srgbClr val="8A97AB"/>
                </a:solidFill>
                <a:latin typeface="Calibri" pitchFamily="34" charset="0"/>
                <a:ea typeface="Calibri" pitchFamily="34" charset="-122"/>
                <a:cs typeface="Calibri" pitchFamily="34" charset="-120"/>
              </a:rPr>
              <a:t>Audit trail — user, role, action, before and after</a:t>
            </a:r>
            <a:endParaRPr lang="en-US" sz="1000" dirty="0"/>
          </a:p>
        </p:txBody>
      </p:sp>
      <p:sp>
        <p:nvSpPr>
          <p:cNvPr id="13" name="Text 8"/>
          <p:cNvSpPr txBox="1"/>
          <p:nvPr/>
        </p:nvSpPr>
        <p:spPr>
          <a:xfrm>
            <a:off x="548640" y="5074920"/>
            <a:ext cx="11064240" cy="8229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CSV rows validated field by field with readable errors; committed only when all pass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Consistency checks prove that dashboard, registry, GIS, workflow and store agree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8503920" y="1097280"/>
            <a:ext cx="4937760" cy="4937760"/>
          </a:xfrm>
          <a:prstGeom prst="ellipse">
            <a:avLst/>
          </a:prstGeom>
          <a:solidFill>
            <a:srgbClr val="132A4E"/>
          </a:solidFill>
          <a:ln w="12700">
            <a:solidFill>
              <a:srgbClr val="132A4E"/>
            </a:solidFill>
            <a:prstDash val="solid"/>
          </a:ln>
        </p:spPr>
      </p:sp>
      <p:pic>
        <p:nvPicPr>
          <p:cNvPr id="3" name="Image 0" descr="preencoded.png">    </p:cNvPr>
          <p:cNvPicPr>
            <a:picLocks noChangeAspect="1"/>
          </p:cNvPicPr>
          <p:nvPr/>
        </p:nvPicPr>
        <p:blipFill>
          <a:blip r:embed="rId1"/>
          <a:stretch>
            <a:fillRect/>
          </a:stretch>
        </p:blipFill>
        <p:spPr>
          <a:xfrm>
            <a:off x="10058400" y="2651760"/>
            <a:ext cx="1828800" cy="1828800"/>
          </a:xfrm>
          <a:prstGeom prst="rect">
            <a:avLst/>
          </a:prstGeom>
        </p:spPr>
      </p:pic>
      <p:sp>
        <p:nvSpPr>
          <p:cNvPr id="4" name="Text 1"/>
          <p:cNvSpPr txBox="1"/>
          <p:nvPr/>
        </p:nvSpPr>
        <p:spPr>
          <a:xfrm>
            <a:off x="731520" y="1828800"/>
            <a:ext cx="2743200" cy="914400"/>
          </a:xfrm>
          <a:prstGeom prst="rect">
            <a:avLst/>
          </a:prstGeom>
          <a:noFill/>
          <a:ln/>
        </p:spPr>
        <p:txBody>
          <a:bodyPr wrap="square" lIns="0" tIns="0" rIns="0" bIns="0" rtlCol="0" anchor="ctr"/>
          <a:lstStyle/>
          <a:p>
            <a:pPr indent="0" marL="0">
              <a:buNone/>
            </a:pPr>
            <a:r>
              <a:rPr lang="en-US" sz="5400" b="1" dirty="0">
                <a:solidFill>
                  <a:srgbClr val="F59E0B"/>
                </a:solidFill>
                <a:latin typeface="Calibri" pitchFamily="34" charset="0"/>
                <a:ea typeface="Calibri" pitchFamily="34" charset="-122"/>
                <a:cs typeface="Calibri" pitchFamily="34" charset="-120"/>
              </a:rPr>
              <a:t>07</a:t>
            </a:r>
            <a:endParaRPr lang="en-US" sz="5400" dirty="0"/>
          </a:p>
        </p:txBody>
      </p:sp>
      <p:sp>
        <p:nvSpPr>
          <p:cNvPr id="5" name="Text 2"/>
          <p:cNvSpPr txBox="1"/>
          <p:nvPr/>
        </p:nvSpPr>
        <p:spPr>
          <a:xfrm>
            <a:off x="731520" y="2743200"/>
            <a:ext cx="7498080" cy="10058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SIH compliance &amp; validation</a:t>
            </a:r>
            <a:endParaRPr lang="en-US" sz="4000" dirty="0"/>
          </a:p>
        </p:txBody>
      </p:sp>
      <p:sp>
        <p:nvSpPr>
          <p:cNvPr id="6" name="Text 3"/>
          <p:cNvSpPr txBox="1"/>
          <p:nvPr/>
        </p:nvSpPr>
        <p:spPr>
          <a:xfrm>
            <a:off x="731520" y="3794760"/>
            <a:ext cx="7315200" cy="1097280"/>
          </a:xfrm>
          <a:prstGeom prst="rect">
            <a:avLst/>
          </a:prstGeom>
          <a:noFill/>
          <a:ln/>
        </p:spPr>
        <p:txBody>
          <a:bodyPr wrap="square" lIns="0" tIns="0" rIns="0" bIns="0" rtlCol="0" anchor="t"/>
          <a:lstStyle/>
          <a:p>
            <a:pPr indent="0" marL="0">
              <a:buNone/>
            </a:pPr>
            <a:r>
              <a:rPr lang="en-US" sz="1800" dirty="0">
                <a:solidFill>
                  <a:srgbClr val="B8C4D9"/>
                </a:solidFill>
                <a:latin typeface="Calibri" pitchFamily="34" charset="0"/>
                <a:ea typeface="Calibri" pitchFamily="34" charset="-122"/>
                <a:cs typeface="Calibri" pitchFamily="34" charset="-120"/>
              </a:rPr>
              <a:t>Every requirement in the problem statement, mapped to what exists — with the gaps stated.</a:t>
            </a:r>
            <a:endParaRPr lang="en-US" sz="1800" dirty="0"/>
          </a:p>
        </p:txBody>
      </p:sp>
      <p:sp>
        <p:nvSpPr>
          <p:cNvPr id="7" name="Text 4"/>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8" name="Text 5"/>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EXPECTED SOLUTION, ITEMS 1–6</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SIH requirement matrix (1 of 2)</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43</a:t>
            </a:r>
            <a:endParaRPr lang="en-US" sz="9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5943600"/>
                <a:gridCol w="210312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SIH requirement</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How LandPulse AI delivers it</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 AI/ML predictive models for forecasting delays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Gradient boosting vs LR and RF, time-aware split, test ROC-AUC 0.834; exported trees serve every prediction</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 — synthetic data</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2. Automated identification of high-delay projects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Project bands (Critical ≥ 60% of open parcels expected to slip); Critical/High raise alerts and interventions automatically</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3. Project-wise risk scoring &amp; prioritisation</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Risk score, band, expected slip, P(miss target); queue ranked by severity and risk</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4. Key delay drivers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TreeSHAP factor groups: approvals, compensation, legal, documentation, R&amp;R, administrative bottlenecks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5. Explainable AI techniques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Exact TreeSHAP per case and per new record; global SHAP and permutation importance; cause caveat</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6a. Dashboard: delay probability</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Per case, project, State; KPI tiles; stage-wise probabilities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6b. Dashboard: risk categorisation</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Case and project band distributions, filters, drill-through</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6c. District- and State-wise delay trends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Observed trend by due month + model forecast, States or districts, direction of travel</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6d. Timeline analysis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Stage status timeline, forecast overrun, P50/P80 completion per stage</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6e. Performance indicators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League tables: authorities, offices, districts, States; resolution time, overdue, escalated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6f. Comparative analytics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10-dimension analytics, AI risk decomposition, MIS reports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EXPECTED SOLUTION ITEMS 7–12 AND THE STUDY DESCRIPTION</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SIH requirement matrix (2 of 2)</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44</a:t>
            </a:r>
            <a:endParaRPr lang="en-US" sz="9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5852160"/>
                <a:gridCol w="219456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SIH requirement</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How LandPulse AI delivers it</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Status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0B1B34"/>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7. GIS-enabled visualisation of high-risk projects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India → State → district → project on real boundaries, risk choropleth, clustering, filters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 — synthetic locations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8. Automated alerts &amp; notifications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Scheduled scans, in-app delivery, escalation of overdue items, webhooks; email/SMS rendered to outbox</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9A5B00"/>
                          </a:solidFill>
                          <a:latin typeface="Calibri" pitchFamily="34" charset="0"/>
                          <a:ea typeface="Calibri" pitchFamily="34" charset="-122"/>
                          <a:cs typeface="Calibri" pitchFamily="34" charset="-120"/>
                        </a:rPr>
                        <a:t>Partial — no SMS/email gateway</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1D6"/>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9. Predictive recommendations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Owned actions ranked by risk reduction predicted by the deployed model</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10. Continuous model learning</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Outcome ingestion, prospective monitoring, drift, gated retraining, registry, rollback — run with 54,331 outcomes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 — simulated new data</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11. APIs for integration with LA systems &amp; databases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REST API v1 + OpenAPI, scoped keys, webhooks; 9 provider contracts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1F4FC4"/>
                          </a:solidFill>
                          <a:latin typeface="Calibri" pitchFamily="34" charset="0"/>
                          <a:ea typeface="Calibri" pitchFamily="34" charset="-122"/>
                          <a:cs typeface="Calibri" pitchFamily="34" charset="-120"/>
                        </a:rPr>
                        <a:t>Integration-ready — none connected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E3ECFF"/>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12. Secure role-based access &amp; audit trails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10 roles + jurisdiction, hashed sessions, lockout, API scopes, SHA-256 hash-chained audit</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 — SSO in production</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Analyse historical and real-time project data</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Synthetic history; status updates via UI, CSV and API re-score immediately</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B0133A"/>
                          </a:solidFill>
                          <a:latin typeface="Calibri" pitchFamily="34" charset="0"/>
                          <a:ea typeface="Calibri" pitchFamily="34" charset="-122"/>
                          <a:cs typeface="Calibri" pitchFamily="34" charset="-120"/>
                        </a:rPr>
                        <a:t>Simulated — no real records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DE3E7"/>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Learn from completed and ongoing cases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Trains on resolved milestones, scores open ones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10 listed parameters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8 fully represented; responsiveness coarse, historical rates synthetic</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9A5B00"/>
                          </a:solidFill>
                          <a:latin typeface="Calibri" pitchFamily="34" charset="0"/>
                          <a:ea typeface="Calibri" pitchFamily="34" charset="-122"/>
                          <a:cs typeface="Calibri" pitchFamily="34" charset="-120"/>
                        </a:rPr>
                        <a:t>Partial</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1D6"/>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Delay probability at different lifecycle stages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Current stage from the model; later stages via Monte Carlo on stage history</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7F9FC"/>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r h="0">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Prioritise interventions (policymakers)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dirty="0">
                          <a:solidFill>
                            <a:srgbClr val="14213D"/>
                          </a:solidFill>
                          <a:latin typeface="Calibri" pitchFamily="34" charset="0"/>
                          <a:ea typeface="Calibri" pitchFamily="34" charset="-122"/>
                          <a:cs typeface="Calibri" pitchFamily="34" charset="-120"/>
                        </a:rPr>
                        <a:t>Intervention queue, immediate-action KPI, league tables</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050" b="1" dirty="0">
                          <a:solidFill>
                            <a:srgbClr val="0B7A52"/>
                          </a:solidFill>
                          <a:latin typeface="Calibri" pitchFamily="34" charset="0"/>
                          <a:ea typeface="Calibri" pitchFamily="34" charset="-122"/>
                          <a:cs typeface="Calibri" pitchFamily="34" charset="-120"/>
                        </a:rPr>
                        <a:t>Implemented</a:t>
                      </a:r>
                      <a:endParaRPr lang="en-US" sz="1050" dirty="0">
                        <a:latin typeface="Calibri" charset="0"/>
                        <a:ea typeface="Calibri" charset="0"/>
                        <a:cs typeface="Calibri" charset="0"/>
                      </a:endParaRPr>
                    </a:p>
                  </a:txBody>
                  <a:tcPr marL="63500" marR="63500" marT="38100" marB="3810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DCF5EA"/>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VERIFICATION, NOT JUST A DEMO</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How we know it works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45</a:t>
            </a:r>
            <a:endParaRPr lang="en-US" sz="900" dirty="0"/>
          </a:p>
        </p:txBody>
      </p:sp>
      <p:sp>
        <p:nvSpPr>
          <p:cNvPr id="7" name="Shape 4"/>
          <p:cNvSpPr/>
          <p:nvPr/>
        </p:nvSpPr>
        <p:spPr>
          <a:xfrm>
            <a:off x="548640" y="1554480"/>
            <a:ext cx="3520440" cy="1828800"/>
          </a:xfrm>
          <a:prstGeom prst="roundRect">
            <a:avLst>
              <a:gd name="adj" fmla="val 4000"/>
            </a:avLst>
          </a:prstGeom>
          <a:solidFill>
            <a:srgbClr val="F3F6FB"/>
          </a:solidFill>
          <a:ln w="12700">
            <a:solidFill>
              <a:srgbClr val="F3F6FB"/>
            </a:solidFill>
            <a:prstDash val="solid"/>
          </a:ln>
        </p:spPr>
      </p:sp>
      <p:sp>
        <p:nvSpPr>
          <p:cNvPr id="8" name="Text 5"/>
          <p:cNvSpPr txBox="1"/>
          <p:nvPr/>
        </p:nvSpPr>
        <p:spPr>
          <a:xfrm>
            <a:off x="777240" y="1783080"/>
            <a:ext cx="3108960" cy="731520"/>
          </a:xfrm>
          <a:prstGeom prst="rect">
            <a:avLst/>
          </a:prstGeom>
          <a:noFill/>
          <a:ln/>
        </p:spPr>
        <p:txBody>
          <a:bodyPr wrap="square" lIns="0" tIns="0" rIns="0" bIns="0" rtlCol="0" anchor="ctr"/>
          <a:lstStyle/>
          <a:p>
            <a:pPr indent="0" marL="0">
              <a:buNone/>
            </a:pPr>
            <a:r>
              <a:rPr lang="en-US" sz="3600" b="1" dirty="0">
                <a:solidFill>
                  <a:srgbClr val="10B981"/>
                </a:solidFill>
                <a:latin typeface="Calibri" pitchFamily="34" charset="0"/>
                <a:ea typeface="Calibri" pitchFamily="34" charset="-122"/>
                <a:cs typeface="Calibri" pitchFamily="34" charset="-120"/>
              </a:rPr>
              <a:t>211</a:t>
            </a:r>
            <a:endParaRPr lang="en-US" sz="3600" dirty="0"/>
          </a:p>
        </p:txBody>
      </p:sp>
      <p:sp>
        <p:nvSpPr>
          <p:cNvPr id="9" name="Text 6"/>
          <p:cNvSpPr txBox="1"/>
          <p:nvPr/>
        </p:nvSpPr>
        <p:spPr>
          <a:xfrm>
            <a:off x="777240" y="2514600"/>
            <a:ext cx="3108960" cy="77724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end-to-end functional tests against an isolated API (roles, CRUD, security, learning, APIs)</a:t>
            </a:r>
            <a:endParaRPr lang="en-US" sz="1200" dirty="0"/>
          </a:p>
        </p:txBody>
      </p:sp>
      <p:sp>
        <p:nvSpPr>
          <p:cNvPr id="10" name="Shape 7"/>
          <p:cNvSpPr/>
          <p:nvPr/>
        </p:nvSpPr>
        <p:spPr>
          <a:xfrm>
            <a:off x="4297680" y="1554480"/>
            <a:ext cx="3520440" cy="1828800"/>
          </a:xfrm>
          <a:prstGeom prst="roundRect">
            <a:avLst>
              <a:gd name="adj" fmla="val 4000"/>
            </a:avLst>
          </a:prstGeom>
          <a:solidFill>
            <a:srgbClr val="F3F6FB"/>
          </a:solidFill>
          <a:ln w="12700">
            <a:solidFill>
              <a:srgbClr val="F3F6FB"/>
            </a:solidFill>
            <a:prstDash val="solid"/>
          </a:ln>
        </p:spPr>
      </p:sp>
      <p:sp>
        <p:nvSpPr>
          <p:cNvPr id="11" name="Text 8"/>
          <p:cNvSpPr txBox="1"/>
          <p:nvPr/>
        </p:nvSpPr>
        <p:spPr>
          <a:xfrm>
            <a:off x="4526280" y="1783080"/>
            <a:ext cx="3108960" cy="731520"/>
          </a:xfrm>
          <a:prstGeom prst="rect">
            <a:avLst/>
          </a:prstGeom>
          <a:noFill/>
          <a:ln/>
        </p:spPr>
        <p:txBody>
          <a:bodyPr wrap="square" lIns="0" tIns="0" rIns="0" bIns="0" rtlCol="0" anchor="ctr"/>
          <a:lstStyle/>
          <a:p>
            <a:pPr indent="0" marL="0">
              <a:buNone/>
            </a:pPr>
            <a:r>
              <a:rPr lang="en-US" sz="3600" b="1" dirty="0">
                <a:solidFill>
                  <a:srgbClr val="3B72F0"/>
                </a:solidFill>
                <a:latin typeface="Calibri" pitchFamily="34" charset="0"/>
                <a:ea typeface="Calibri" pitchFamily="34" charset="-122"/>
                <a:cs typeface="Calibri" pitchFamily="34" charset="-120"/>
              </a:rPr>
              <a:t>56</a:t>
            </a:r>
            <a:endParaRPr lang="en-US" sz="3600" dirty="0"/>
          </a:p>
        </p:txBody>
      </p:sp>
      <p:sp>
        <p:nvSpPr>
          <p:cNvPr id="12" name="Text 9"/>
          <p:cNvSpPr txBox="1"/>
          <p:nvPr/>
        </p:nvSpPr>
        <p:spPr>
          <a:xfrm>
            <a:off x="4526280" y="2514600"/>
            <a:ext cx="3108960" cy="77724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corpus, model, registry, store and deliverable checks</a:t>
            </a:r>
            <a:endParaRPr lang="en-US" sz="1200" dirty="0"/>
          </a:p>
        </p:txBody>
      </p:sp>
      <p:sp>
        <p:nvSpPr>
          <p:cNvPr id="13" name="Shape 10"/>
          <p:cNvSpPr/>
          <p:nvPr/>
        </p:nvSpPr>
        <p:spPr>
          <a:xfrm>
            <a:off x="8046720" y="1554480"/>
            <a:ext cx="3520440" cy="1828800"/>
          </a:xfrm>
          <a:prstGeom prst="roundRect">
            <a:avLst>
              <a:gd name="adj" fmla="val 4000"/>
            </a:avLst>
          </a:prstGeom>
          <a:solidFill>
            <a:srgbClr val="F3F6FB"/>
          </a:solidFill>
          <a:ln w="12700">
            <a:solidFill>
              <a:srgbClr val="F3F6FB"/>
            </a:solidFill>
            <a:prstDash val="solid"/>
          </a:ln>
        </p:spPr>
      </p:sp>
      <p:sp>
        <p:nvSpPr>
          <p:cNvPr id="14" name="Text 11"/>
          <p:cNvSpPr txBox="1"/>
          <p:nvPr/>
        </p:nvSpPr>
        <p:spPr>
          <a:xfrm>
            <a:off x="8275320" y="1783080"/>
            <a:ext cx="3108960" cy="731520"/>
          </a:xfrm>
          <a:prstGeom prst="rect">
            <a:avLst/>
          </a:prstGeom>
          <a:noFill/>
          <a:ln/>
        </p:spPr>
        <p:txBody>
          <a:bodyPr wrap="square" lIns="0" tIns="0" rIns="0" bIns="0" rtlCol="0" anchor="ctr"/>
          <a:lstStyle/>
          <a:p>
            <a:pPr indent="0" marL="0">
              <a:buNone/>
            </a:pPr>
            <a:r>
              <a:rPr lang="en-US" sz="3600" b="1" dirty="0">
                <a:solidFill>
                  <a:srgbClr val="0EA5A4"/>
                </a:solidFill>
                <a:latin typeface="Calibri" pitchFamily="34" charset="0"/>
                <a:ea typeface="Calibri" pitchFamily="34" charset="-122"/>
                <a:cs typeface="Calibri" pitchFamily="34" charset="-120"/>
              </a:rPr>
              <a:t>16</a:t>
            </a:r>
            <a:endParaRPr lang="en-US" sz="3600" dirty="0"/>
          </a:p>
        </p:txBody>
      </p:sp>
      <p:sp>
        <p:nvSpPr>
          <p:cNvPr id="15" name="Text 12"/>
          <p:cNvSpPr txBox="1"/>
          <p:nvPr/>
        </p:nvSpPr>
        <p:spPr>
          <a:xfrm>
            <a:off x="8275320" y="2514600"/>
            <a:ext cx="3108960" cy="77724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live data-consistency checks on the Administration screen</a:t>
            </a:r>
            <a:endParaRPr lang="en-US" sz="1200" dirty="0"/>
          </a:p>
        </p:txBody>
      </p:sp>
      <p:sp>
        <p:nvSpPr>
          <p:cNvPr id="16" name="Shape 13"/>
          <p:cNvSpPr/>
          <p:nvPr/>
        </p:nvSpPr>
        <p:spPr>
          <a:xfrm>
            <a:off x="548640" y="3611880"/>
            <a:ext cx="3520440" cy="1828800"/>
          </a:xfrm>
          <a:prstGeom prst="roundRect">
            <a:avLst>
              <a:gd name="adj" fmla="val 4000"/>
            </a:avLst>
          </a:prstGeom>
          <a:solidFill>
            <a:srgbClr val="F3F6FB"/>
          </a:solidFill>
          <a:ln w="12700">
            <a:solidFill>
              <a:srgbClr val="F3F6FB"/>
            </a:solidFill>
            <a:prstDash val="solid"/>
          </a:ln>
        </p:spPr>
      </p:sp>
      <p:sp>
        <p:nvSpPr>
          <p:cNvPr id="17" name="Text 14"/>
          <p:cNvSpPr txBox="1"/>
          <p:nvPr/>
        </p:nvSpPr>
        <p:spPr>
          <a:xfrm>
            <a:off x="777240" y="3840480"/>
            <a:ext cx="3108960" cy="731520"/>
          </a:xfrm>
          <a:prstGeom prst="rect">
            <a:avLst/>
          </a:prstGeom>
          <a:noFill/>
          <a:ln/>
        </p:spPr>
        <p:txBody>
          <a:bodyPr wrap="square" lIns="0" tIns="0" rIns="0" bIns="0" rtlCol="0" anchor="ctr"/>
          <a:lstStyle/>
          <a:p>
            <a:pPr indent="0" marL="0">
              <a:buNone/>
            </a:pPr>
            <a:r>
              <a:rPr lang="en-US" sz="3600" b="1" dirty="0">
                <a:solidFill>
                  <a:srgbClr val="F59E0B"/>
                </a:solidFill>
                <a:latin typeface="Calibri" pitchFamily="34" charset="0"/>
                <a:ea typeface="Calibri" pitchFamily="34" charset="-122"/>
                <a:cs typeface="Calibri" pitchFamily="34" charset="-120"/>
              </a:rPr>
              <a:t>0.0</a:t>
            </a:r>
            <a:endParaRPr lang="en-US" sz="3600" dirty="0"/>
          </a:p>
        </p:txBody>
      </p:sp>
      <p:sp>
        <p:nvSpPr>
          <p:cNvPr id="18" name="Text 15"/>
          <p:cNvSpPr txBox="1"/>
          <p:nvPr/>
        </p:nvSpPr>
        <p:spPr>
          <a:xfrm>
            <a:off x="777240" y="4572000"/>
            <a:ext cx="3108960" cy="77724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max probability difference: exported trees vs scikit-learn</a:t>
            </a:r>
            <a:endParaRPr lang="en-US" sz="1200" dirty="0"/>
          </a:p>
        </p:txBody>
      </p:sp>
      <p:sp>
        <p:nvSpPr>
          <p:cNvPr id="19" name="Shape 16"/>
          <p:cNvSpPr/>
          <p:nvPr/>
        </p:nvSpPr>
        <p:spPr>
          <a:xfrm>
            <a:off x="4297680" y="3611880"/>
            <a:ext cx="3520440" cy="1828800"/>
          </a:xfrm>
          <a:prstGeom prst="roundRect">
            <a:avLst>
              <a:gd name="adj" fmla="val 4000"/>
            </a:avLst>
          </a:prstGeom>
          <a:solidFill>
            <a:srgbClr val="F3F6FB"/>
          </a:solidFill>
          <a:ln w="12700">
            <a:solidFill>
              <a:srgbClr val="F3F6FB"/>
            </a:solidFill>
            <a:prstDash val="solid"/>
          </a:ln>
        </p:spPr>
      </p:sp>
      <p:sp>
        <p:nvSpPr>
          <p:cNvPr id="20" name="Text 17"/>
          <p:cNvSpPr txBox="1"/>
          <p:nvPr/>
        </p:nvSpPr>
        <p:spPr>
          <a:xfrm>
            <a:off x="4526280" y="3840480"/>
            <a:ext cx="3108960" cy="731520"/>
          </a:xfrm>
          <a:prstGeom prst="rect">
            <a:avLst/>
          </a:prstGeom>
          <a:noFill/>
          <a:ln/>
        </p:spPr>
        <p:txBody>
          <a:bodyPr wrap="square" lIns="0" tIns="0" rIns="0" bIns="0" rtlCol="0" anchor="ctr"/>
          <a:lstStyle/>
          <a:p>
            <a:pPr indent="0" marL="0">
              <a:buNone/>
            </a:pPr>
            <a:r>
              <a:rPr lang="en-US" sz="3600" b="1" dirty="0">
                <a:solidFill>
                  <a:srgbClr val="F59E0B"/>
                </a:solidFill>
                <a:latin typeface="Calibri" pitchFamily="34" charset="0"/>
                <a:ea typeface="Calibri" pitchFamily="34" charset="-122"/>
                <a:cs typeface="Calibri" pitchFamily="34" charset="-120"/>
              </a:rPr>
              <a:t>1e-7</a:t>
            </a:r>
            <a:endParaRPr lang="en-US" sz="3600" dirty="0"/>
          </a:p>
        </p:txBody>
      </p:sp>
      <p:sp>
        <p:nvSpPr>
          <p:cNvPr id="21" name="Text 18"/>
          <p:cNvSpPr txBox="1"/>
          <p:nvPr/>
        </p:nvSpPr>
        <p:spPr>
          <a:xfrm>
            <a:off x="4526280" y="4572000"/>
            <a:ext cx="3108960" cy="77724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max TreeSHAP difference: API port vs the SHAP library</a:t>
            </a:r>
            <a:endParaRPr lang="en-US" sz="1200" dirty="0"/>
          </a:p>
        </p:txBody>
      </p:sp>
      <p:sp>
        <p:nvSpPr>
          <p:cNvPr id="22" name="Shape 19"/>
          <p:cNvSpPr/>
          <p:nvPr/>
        </p:nvSpPr>
        <p:spPr>
          <a:xfrm>
            <a:off x="8046720" y="3611880"/>
            <a:ext cx="3520440" cy="1828800"/>
          </a:xfrm>
          <a:prstGeom prst="roundRect">
            <a:avLst>
              <a:gd name="adj" fmla="val 4000"/>
            </a:avLst>
          </a:prstGeom>
          <a:solidFill>
            <a:srgbClr val="F3F6FB"/>
          </a:solidFill>
          <a:ln w="12700">
            <a:solidFill>
              <a:srgbClr val="F3F6FB"/>
            </a:solidFill>
            <a:prstDash val="solid"/>
          </a:ln>
        </p:spPr>
      </p:sp>
      <p:sp>
        <p:nvSpPr>
          <p:cNvPr id="23" name="Text 20"/>
          <p:cNvSpPr txBox="1"/>
          <p:nvPr/>
        </p:nvSpPr>
        <p:spPr>
          <a:xfrm>
            <a:off x="8275320" y="3840480"/>
            <a:ext cx="3108960" cy="731520"/>
          </a:xfrm>
          <a:prstGeom prst="rect">
            <a:avLst/>
          </a:prstGeom>
          <a:noFill/>
          <a:ln/>
        </p:spPr>
        <p:txBody>
          <a:bodyPr wrap="square" lIns="0" tIns="0" rIns="0" bIns="0" rtlCol="0" anchor="ctr"/>
          <a:lstStyle/>
          <a:p>
            <a:pPr indent="0" marL="0">
              <a:buNone/>
            </a:pPr>
            <a:r>
              <a:rPr lang="en-US" sz="3600" b="1" dirty="0">
                <a:solidFill>
                  <a:srgbClr val="3B72F0"/>
                </a:solidFill>
                <a:latin typeface="Calibri" pitchFamily="34" charset="0"/>
                <a:ea typeface="Calibri" pitchFamily="34" charset="-122"/>
                <a:cs typeface="Calibri" pitchFamily="34" charset="-120"/>
              </a:rPr>
              <a:t>Byte-identical</a:t>
            </a:r>
            <a:endParaRPr lang="en-US" sz="3600" dirty="0"/>
          </a:p>
        </p:txBody>
      </p:sp>
      <p:sp>
        <p:nvSpPr>
          <p:cNvPr id="24" name="Text 21"/>
          <p:cNvSpPr txBox="1"/>
          <p:nvPr/>
        </p:nvSpPr>
        <p:spPr>
          <a:xfrm>
            <a:off x="8275320" y="4572000"/>
            <a:ext cx="3108960" cy="777240"/>
          </a:xfrm>
          <a:prstGeom prst="rect">
            <a:avLst/>
          </a:prstGeom>
          <a:noFill/>
          <a:ln/>
        </p:spPr>
        <p:txBody>
          <a:bodyPr wrap="square" lIns="0" tIns="0" rIns="0" bIns="0" rtlCol="0" anchor="t"/>
          <a:lstStyle/>
          <a:p>
            <a:pPr indent="0" marL="0">
              <a:buNone/>
            </a:pPr>
            <a:r>
              <a:rPr lang="en-US" sz="1200" dirty="0">
                <a:solidFill>
                  <a:srgbClr val="5B6B82"/>
                </a:solidFill>
                <a:latin typeface="Calibri" pitchFamily="34" charset="0"/>
                <a:ea typeface="Calibri" pitchFamily="34" charset="-122"/>
                <a:cs typeface="Calibri" pitchFamily="34" charset="-120"/>
              </a:rPr>
              <a:t>corpus on every regeneration (seeded)</a:t>
            </a:r>
            <a:endParaRPr lang="en-US" sz="1200" dirty="0"/>
          </a:p>
        </p:txBody>
      </p:sp>
      <p:sp>
        <p:nvSpPr>
          <p:cNvPr id="25" name="Text 22"/>
          <p:cNvSpPr txBox="1"/>
          <p:nvPr/>
        </p:nvSpPr>
        <p:spPr>
          <a:xfrm>
            <a:off x="548640" y="5715000"/>
            <a:ext cx="11064240" cy="457200"/>
          </a:xfrm>
          <a:prstGeom prst="rect">
            <a:avLst/>
          </a:prstGeom>
          <a:noFill/>
          <a:ln/>
        </p:spPr>
        <p:txBody>
          <a:bodyPr wrap="square" lIns="0" tIns="0" rIns="0" bIns="0" rtlCol="0" anchor="t"/>
          <a:lstStyle/>
          <a:p>
            <a:pPr indent="0" marL="0">
              <a:buNone/>
            </a:pPr>
            <a:r>
              <a:rPr lang="en-US" sz="1150" i="1" dirty="0">
                <a:solidFill>
                  <a:srgbClr val="5B6B82"/>
                </a:solidFill>
                <a:latin typeface="Calibri" pitchFamily="34" charset="0"/>
                <a:ea typeface="Calibri" pitchFamily="34" charset="-122"/>
                <a:cs typeface="Calibri" pitchFamily="34" charset="-120"/>
              </a:rPr>
              <a:t>Examples of what the tests prove: a Mandya DC cannot open a UP project · an irrigation scenario never shows aviation · wrong passwords lock a profile · a revoked API key is refused · outcomes cannot be recorded twice · the audit chain verifies.</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HONEST LIMITATIONS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What is not real yet — stated plainly</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46</a:t>
            </a:r>
            <a:endParaRPr lang="en-US" sz="900" dirty="0"/>
          </a:p>
        </p:txBody>
      </p:sp>
      <p:sp>
        <p:nvSpPr>
          <p:cNvPr id="7" name="Shape 4"/>
          <p:cNvSpPr/>
          <p:nvPr/>
        </p:nvSpPr>
        <p:spPr>
          <a:xfrm>
            <a:off x="548640" y="1508760"/>
            <a:ext cx="5394960" cy="1371600"/>
          </a:xfrm>
          <a:prstGeom prst="roundRect">
            <a:avLst>
              <a:gd name="adj" fmla="val 5333"/>
            </a:avLst>
          </a:prstGeom>
          <a:solidFill>
            <a:srgbClr val="F3F6FB"/>
          </a:solidFill>
          <a:ln w="12700">
            <a:solidFill>
              <a:srgbClr val="F3F6FB"/>
            </a:solidFill>
            <a:prstDash val="solid"/>
          </a:ln>
        </p:spPr>
      </p:sp>
      <p:sp>
        <p:nvSpPr>
          <p:cNvPr id="8" name="Shape 5"/>
          <p:cNvSpPr/>
          <p:nvPr/>
        </p:nvSpPr>
        <p:spPr>
          <a:xfrm>
            <a:off x="731520" y="1709928"/>
            <a:ext cx="457200" cy="457200"/>
          </a:xfrm>
          <a:prstGeom prst="ellipse">
            <a:avLst/>
          </a:prstGeom>
          <a:solidFill>
            <a:srgbClr val="E11D48"/>
          </a:solidFill>
          <a:ln w="12700">
            <a:solidFill>
              <a:srgbClr val="E11D48"/>
            </a:solidFill>
            <a:prstDash val="solid"/>
          </a:ln>
        </p:spPr>
      </p:sp>
      <p:pic>
        <p:nvPicPr>
          <p:cNvPr id="9" name="Image 0" descr="preencoded.png">    </p:cNvPr>
          <p:cNvPicPr>
            <a:picLocks noChangeAspect="1"/>
          </p:cNvPicPr>
          <p:nvPr/>
        </p:nvPicPr>
        <p:blipFill>
          <a:blip r:embed="rId1"/>
          <a:stretch>
            <a:fillRect/>
          </a:stretch>
        </p:blipFill>
        <p:spPr>
          <a:xfrm>
            <a:off x="841248" y="1819656"/>
            <a:ext cx="237744" cy="237744"/>
          </a:xfrm>
          <a:prstGeom prst="rect">
            <a:avLst/>
          </a:prstGeom>
        </p:spPr>
      </p:pic>
      <p:sp>
        <p:nvSpPr>
          <p:cNvPr id="10" name="Text 6"/>
          <p:cNvSpPr txBox="1"/>
          <p:nvPr/>
        </p:nvSpPr>
        <p:spPr>
          <a:xfrm>
            <a:off x="1325880" y="1618488"/>
            <a:ext cx="4480560" cy="301752"/>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Synthetic data</a:t>
            </a:r>
            <a:endParaRPr lang="en-US" sz="1400" dirty="0"/>
          </a:p>
        </p:txBody>
      </p:sp>
      <p:sp>
        <p:nvSpPr>
          <p:cNvPr id="11" name="Text 7"/>
          <p:cNvSpPr txBox="1"/>
          <p:nvPr/>
        </p:nvSpPr>
        <p:spPr>
          <a:xfrm>
            <a:off x="1325880" y="1929384"/>
            <a:ext cx="448056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All cases and outcomes are generated; accuracy is not a real-world claim.</a:t>
            </a:r>
            <a:endParaRPr lang="en-US" sz="1100" dirty="0"/>
          </a:p>
        </p:txBody>
      </p:sp>
      <p:sp>
        <p:nvSpPr>
          <p:cNvPr id="12" name="Text 8"/>
          <p:cNvSpPr txBox="1"/>
          <p:nvPr/>
        </p:nvSpPr>
        <p:spPr>
          <a:xfrm>
            <a:off x="1325880" y="2404872"/>
            <a:ext cx="4480560" cy="411480"/>
          </a:xfrm>
          <a:prstGeom prst="rect">
            <a:avLst/>
          </a:prstGeom>
          <a:noFill/>
          <a:ln/>
        </p:spPr>
        <p:txBody>
          <a:bodyPr wrap="square" lIns="0" tIns="0" rIns="0" bIns="0" rtlCol="0" anchor="t"/>
          <a:lstStyle/>
          <a:p>
            <a:pPr indent="0" marL="0">
              <a:buNone/>
            </a:pPr>
            <a:r>
              <a:rPr lang="en-US" sz="1100" b="1" dirty="0">
                <a:solidFill>
                  <a:srgbClr val="0B7A52"/>
                </a:solidFill>
                <a:latin typeface="Calibri" pitchFamily="34" charset="0"/>
                <a:ea typeface="Calibri" pitchFamily="34" charset="-122"/>
                <a:cs typeface="Calibri" pitchFamily="34" charset="-120"/>
              </a:rPr>
              <a:t>Next: Pilot with one State under an MoU; re-fit and re-validate per State and type</a:t>
            </a:r>
            <a:endParaRPr lang="en-US" sz="1100" dirty="0"/>
          </a:p>
        </p:txBody>
      </p:sp>
      <p:sp>
        <p:nvSpPr>
          <p:cNvPr id="13" name="Shape 9"/>
          <p:cNvSpPr/>
          <p:nvPr/>
        </p:nvSpPr>
        <p:spPr>
          <a:xfrm>
            <a:off x="6172200" y="1508760"/>
            <a:ext cx="5394960" cy="1371600"/>
          </a:xfrm>
          <a:prstGeom prst="roundRect">
            <a:avLst>
              <a:gd name="adj" fmla="val 5333"/>
            </a:avLst>
          </a:prstGeom>
          <a:solidFill>
            <a:srgbClr val="F3F6FB"/>
          </a:solidFill>
          <a:ln w="12700">
            <a:solidFill>
              <a:srgbClr val="F3F6FB"/>
            </a:solidFill>
            <a:prstDash val="solid"/>
          </a:ln>
        </p:spPr>
      </p:sp>
      <p:sp>
        <p:nvSpPr>
          <p:cNvPr id="14" name="Shape 10"/>
          <p:cNvSpPr/>
          <p:nvPr/>
        </p:nvSpPr>
        <p:spPr>
          <a:xfrm>
            <a:off x="6355080" y="1709928"/>
            <a:ext cx="457200" cy="457200"/>
          </a:xfrm>
          <a:prstGeom prst="ellipse">
            <a:avLst/>
          </a:prstGeom>
          <a:solidFill>
            <a:srgbClr val="E11D48"/>
          </a:solidFill>
          <a:ln w="12700">
            <a:solidFill>
              <a:srgbClr val="E11D48"/>
            </a:solidFill>
            <a:prstDash val="solid"/>
          </a:ln>
        </p:spPr>
      </p:sp>
      <p:pic>
        <p:nvPicPr>
          <p:cNvPr id="15" name="Image 1" descr="preencoded.png">    </p:cNvPr>
          <p:cNvPicPr>
            <a:picLocks noChangeAspect="1"/>
          </p:cNvPicPr>
          <p:nvPr/>
        </p:nvPicPr>
        <p:blipFill>
          <a:blip r:embed="rId2"/>
          <a:stretch>
            <a:fillRect/>
          </a:stretch>
        </p:blipFill>
        <p:spPr>
          <a:xfrm>
            <a:off x="6464808" y="1819656"/>
            <a:ext cx="237744" cy="237744"/>
          </a:xfrm>
          <a:prstGeom prst="rect">
            <a:avLst/>
          </a:prstGeom>
        </p:spPr>
      </p:pic>
      <p:sp>
        <p:nvSpPr>
          <p:cNvPr id="16" name="Text 11"/>
          <p:cNvSpPr txBox="1"/>
          <p:nvPr/>
        </p:nvSpPr>
        <p:spPr>
          <a:xfrm>
            <a:off x="6949440" y="1618488"/>
            <a:ext cx="4480560" cy="301752"/>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No government system connected</a:t>
            </a:r>
            <a:endParaRPr lang="en-US" sz="1400" dirty="0"/>
          </a:p>
        </p:txBody>
      </p:sp>
      <p:sp>
        <p:nvSpPr>
          <p:cNvPr id="17" name="Text 12"/>
          <p:cNvSpPr txBox="1"/>
          <p:nvPr/>
        </p:nvSpPr>
        <p:spPr>
          <a:xfrm>
            <a:off x="6949440" y="1929384"/>
            <a:ext cx="448056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Integration contracts and API are ready; adapters are synthetic.</a:t>
            </a:r>
            <a:endParaRPr lang="en-US" sz="1100" dirty="0"/>
          </a:p>
        </p:txBody>
      </p:sp>
      <p:sp>
        <p:nvSpPr>
          <p:cNvPr id="18" name="Text 13"/>
          <p:cNvSpPr txBox="1"/>
          <p:nvPr/>
        </p:nvSpPr>
        <p:spPr>
          <a:xfrm>
            <a:off x="6949440" y="2404872"/>
            <a:ext cx="4480560" cy="411480"/>
          </a:xfrm>
          <a:prstGeom prst="rect">
            <a:avLst/>
          </a:prstGeom>
          <a:noFill/>
          <a:ln/>
        </p:spPr>
        <p:txBody>
          <a:bodyPr wrap="square" lIns="0" tIns="0" rIns="0" bIns="0" rtlCol="0" anchor="t"/>
          <a:lstStyle/>
          <a:p>
            <a:pPr indent="0" marL="0">
              <a:buNone/>
            </a:pPr>
            <a:r>
              <a:rPr lang="en-US" sz="1100" b="1" dirty="0">
                <a:solidFill>
                  <a:srgbClr val="0B7A52"/>
                </a:solidFill>
                <a:latin typeface="Calibri" pitchFamily="34" charset="0"/>
                <a:ea typeface="Calibri" pitchFamily="34" charset="-122"/>
                <a:cs typeface="Calibri" pitchFamily="34" charset="-120"/>
              </a:rPr>
              <a:t>Next: Connect LGD and one land-records system first</a:t>
            </a:r>
            <a:endParaRPr lang="en-US" sz="1100" dirty="0"/>
          </a:p>
        </p:txBody>
      </p:sp>
      <p:sp>
        <p:nvSpPr>
          <p:cNvPr id="19" name="Shape 14"/>
          <p:cNvSpPr/>
          <p:nvPr/>
        </p:nvSpPr>
        <p:spPr>
          <a:xfrm>
            <a:off x="548640" y="3044952"/>
            <a:ext cx="5394960" cy="1371600"/>
          </a:xfrm>
          <a:prstGeom prst="roundRect">
            <a:avLst>
              <a:gd name="adj" fmla="val 5333"/>
            </a:avLst>
          </a:prstGeom>
          <a:solidFill>
            <a:srgbClr val="F3F6FB"/>
          </a:solidFill>
          <a:ln w="12700">
            <a:solidFill>
              <a:srgbClr val="F3F6FB"/>
            </a:solidFill>
            <a:prstDash val="solid"/>
          </a:ln>
        </p:spPr>
      </p:sp>
      <p:sp>
        <p:nvSpPr>
          <p:cNvPr id="20" name="Shape 15"/>
          <p:cNvSpPr/>
          <p:nvPr/>
        </p:nvSpPr>
        <p:spPr>
          <a:xfrm>
            <a:off x="731520" y="3246120"/>
            <a:ext cx="457200" cy="457200"/>
          </a:xfrm>
          <a:prstGeom prst="ellipse">
            <a:avLst/>
          </a:prstGeom>
          <a:solidFill>
            <a:srgbClr val="F59E0B"/>
          </a:solidFill>
          <a:ln w="12700">
            <a:solidFill>
              <a:srgbClr val="F59E0B"/>
            </a:solidFill>
            <a:prstDash val="solid"/>
          </a:ln>
        </p:spPr>
      </p:sp>
      <p:pic>
        <p:nvPicPr>
          <p:cNvPr id="21" name="Image 2" descr="preencoded.png">    </p:cNvPr>
          <p:cNvPicPr>
            <a:picLocks noChangeAspect="1"/>
          </p:cNvPicPr>
          <p:nvPr/>
        </p:nvPicPr>
        <p:blipFill>
          <a:blip r:embed="rId3"/>
          <a:stretch>
            <a:fillRect/>
          </a:stretch>
        </p:blipFill>
        <p:spPr>
          <a:xfrm>
            <a:off x="841248" y="3355848"/>
            <a:ext cx="237744" cy="237744"/>
          </a:xfrm>
          <a:prstGeom prst="rect">
            <a:avLst/>
          </a:prstGeom>
        </p:spPr>
      </p:pic>
      <p:sp>
        <p:nvSpPr>
          <p:cNvPr id="22" name="Text 16"/>
          <p:cNvSpPr txBox="1"/>
          <p:nvPr/>
        </p:nvSpPr>
        <p:spPr>
          <a:xfrm>
            <a:off x="1325880" y="3154680"/>
            <a:ext cx="4480560" cy="301752"/>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Alert gateways</a:t>
            </a:r>
            <a:endParaRPr lang="en-US" sz="1400" dirty="0"/>
          </a:p>
        </p:txBody>
      </p:sp>
      <p:sp>
        <p:nvSpPr>
          <p:cNvPr id="23" name="Text 17"/>
          <p:cNvSpPr txBox="1"/>
          <p:nvPr/>
        </p:nvSpPr>
        <p:spPr>
          <a:xfrm>
            <a:off x="1325880" y="3465576"/>
            <a:ext cx="448056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Email and SMS are rendered to an outbox, not sent.</a:t>
            </a:r>
            <a:endParaRPr lang="en-US" sz="1100" dirty="0"/>
          </a:p>
        </p:txBody>
      </p:sp>
      <p:sp>
        <p:nvSpPr>
          <p:cNvPr id="24" name="Text 18"/>
          <p:cNvSpPr txBox="1"/>
          <p:nvPr/>
        </p:nvSpPr>
        <p:spPr>
          <a:xfrm>
            <a:off x="1325880" y="3941064"/>
            <a:ext cx="4480560" cy="411480"/>
          </a:xfrm>
          <a:prstGeom prst="rect">
            <a:avLst/>
          </a:prstGeom>
          <a:noFill/>
          <a:ln/>
        </p:spPr>
        <p:txBody>
          <a:bodyPr wrap="square" lIns="0" tIns="0" rIns="0" bIns="0" rtlCol="0" anchor="t"/>
          <a:lstStyle/>
          <a:p>
            <a:pPr indent="0" marL="0">
              <a:buNone/>
            </a:pPr>
            <a:r>
              <a:rPr lang="en-US" sz="1100" b="1" dirty="0">
                <a:solidFill>
                  <a:srgbClr val="0B7A52"/>
                </a:solidFill>
                <a:latin typeface="Calibri" pitchFamily="34" charset="0"/>
                <a:ea typeface="Calibri" pitchFamily="34" charset="-122"/>
                <a:cs typeface="Calibri" pitchFamily="34" charset="-120"/>
              </a:rPr>
              <a:t>Next: NIC email/SMS gateway adapter</a:t>
            </a:r>
            <a:endParaRPr lang="en-US" sz="1100" dirty="0"/>
          </a:p>
        </p:txBody>
      </p:sp>
      <p:sp>
        <p:nvSpPr>
          <p:cNvPr id="25" name="Shape 19"/>
          <p:cNvSpPr/>
          <p:nvPr/>
        </p:nvSpPr>
        <p:spPr>
          <a:xfrm>
            <a:off x="6172200" y="3044952"/>
            <a:ext cx="5394960" cy="1371600"/>
          </a:xfrm>
          <a:prstGeom prst="roundRect">
            <a:avLst>
              <a:gd name="adj" fmla="val 5333"/>
            </a:avLst>
          </a:prstGeom>
          <a:solidFill>
            <a:srgbClr val="F3F6FB"/>
          </a:solidFill>
          <a:ln w="12700">
            <a:solidFill>
              <a:srgbClr val="F3F6FB"/>
            </a:solidFill>
            <a:prstDash val="solid"/>
          </a:ln>
        </p:spPr>
      </p:sp>
      <p:sp>
        <p:nvSpPr>
          <p:cNvPr id="26" name="Shape 20"/>
          <p:cNvSpPr/>
          <p:nvPr/>
        </p:nvSpPr>
        <p:spPr>
          <a:xfrm>
            <a:off x="6355080" y="3246120"/>
            <a:ext cx="457200" cy="457200"/>
          </a:xfrm>
          <a:prstGeom prst="ellipse">
            <a:avLst/>
          </a:prstGeom>
          <a:solidFill>
            <a:srgbClr val="F59E0B"/>
          </a:solidFill>
          <a:ln w="12700">
            <a:solidFill>
              <a:srgbClr val="F59E0B"/>
            </a:solidFill>
            <a:prstDash val="solid"/>
          </a:ln>
        </p:spPr>
      </p:sp>
      <p:pic>
        <p:nvPicPr>
          <p:cNvPr id="27" name="Image 3" descr="preencoded.png">    </p:cNvPr>
          <p:cNvPicPr>
            <a:picLocks noChangeAspect="1"/>
          </p:cNvPicPr>
          <p:nvPr/>
        </p:nvPicPr>
        <p:blipFill>
          <a:blip r:embed="rId4"/>
          <a:stretch>
            <a:fillRect/>
          </a:stretch>
        </p:blipFill>
        <p:spPr>
          <a:xfrm>
            <a:off x="6464808" y="3355848"/>
            <a:ext cx="237744" cy="237744"/>
          </a:xfrm>
          <a:prstGeom prst="rect">
            <a:avLst/>
          </a:prstGeom>
        </p:spPr>
      </p:pic>
      <p:sp>
        <p:nvSpPr>
          <p:cNvPr id="28" name="Text 21"/>
          <p:cNvSpPr txBox="1"/>
          <p:nvPr/>
        </p:nvSpPr>
        <p:spPr>
          <a:xfrm>
            <a:off x="6949440" y="3154680"/>
            <a:ext cx="4480560" cy="301752"/>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Identity</a:t>
            </a:r>
            <a:endParaRPr lang="en-US" sz="1400" dirty="0"/>
          </a:p>
        </p:txBody>
      </p:sp>
      <p:sp>
        <p:nvSpPr>
          <p:cNvPr id="29" name="Text 22"/>
          <p:cNvSpPr txBox="1"/>
          <p:nvPr/>
        </p:nvSpPr>
        <p:spPr>
          <a:xfrm>
            <a:off x="6949440" y="3465576"/>
            <a:ext cx="448056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Demo password sign-in; no government SSO.</a:t>
            </a:r>
            <a:endParaRPr lang="en-US" sz="1100" dirty="0"/>
          </a:p>
        </p:txBody>
      </p:sp>
      <p:sp>
        <p:nvSpPr>
          <p:cNvPr id="30" name="Text 23"/>
          <p:cNvSpPr txBox="1"/>
          <p:nvPr/>
        </p:nvSpPr>
        <p:spPr>
          <a:xfrm>
            <a:off x="6949440" y="3941064"/>
            <a:ext cx="4480560" cy="411480"/>
          </a:xfrm>
          <a:prstGeom prst="rect">
            <a:avLst/>
          </a:prstGeom>
          <a:noFill/>
          <a:ln/>
        </p:spPr>
        <p:txBody>
          <a:bodyPr wrap="square" lIns="0" tIns="0" rIns="0" bIns="0" rtlCol="0" anchor="t"/>
          <a:lstStyle/>
          <a:p>
            <a:pPr indent="0" marL="0">
              <a:buNone/>
            </a:pPr>
            <a:r>
              <a:rPr lang="en-US" sz="1100" b="1" dirty="0">
                <a:solidFill>
                  <a:srgbClr val="0B7A52"/>
                </a:solidFill>
                <a:latin typeface="Calibri" pitchFamily="34" charset="0"/>
                <a:ea typeface="Calibri" pitchFamily="34" charset="-122"/>
                <a:cs typeface="Calibri" pitchFamily="34" charset="-120"/>
              </a:rPr>
              <a:t>Next: SSO with MFA; keep role and position model</a:t>
            </a:r>
            <a:endParaRPr lang="en-US" sz="1100" dirty="0"/>
          </a:p>
        </p:txBody>
      </p:sp>
      <p:sp>
        <p:nvSpPr>
          <p:cNvPr id="31" name="Shape 24"/>
          <p:cNvSpPr/>
          <p:nvPr/>
        </p:nvSpPr>
        <p:spPr>
          <a:xfrm>
            <a:off x="548640" y="4581144"/>
            <a:ext cx="5394960" cy="1371600"/>
          </a:xfrm>
          <a:prstGeom prst="roundRect">
            <a:avLst>
              <a:gd name="adj" fmla="val 5333"/>
            </a:avLst>
          </a:prstGeom>
          <a:solidFill>
            <a:srgbClr val="F3F6FB"/>
          </a:solidFill>
          <a:ln w="12700">
            <a:solidFill>
              <a:srgbClr val="F3F6FB"/>
            </a:solidFill>
            <a:prstDash val="solid"/>
          </a:ln>
        </p:spPr>
      </p:sp>
      <p:sp>
        <p:nvSpPr>
          <p:cNvPr id="32" name="Shape 25"/>
          <p:cNvSpPr/>
          <p:nvPr/>
        </p:nvSpPr>
        <p:spPr>
          <a:xfrm>
            <a:off x="731520" y="4782312"/>
            <a:ext cx="457200" cy="457200"/>
          </a:xfrm>
          <a:prstGeom prst="ellipse">
            <a:avLst/>
          </a:prstGeom>
          <a:solidFill>
            <a:srgbClr val="F59E0B"/>
          </a:solidFill>
          <a:ln w="12700">
            <a:solidFill>
              <a:srgbClr val="F59E0B"/>
            </a:solidFill>
            <a:prstDash val="solid"/>
          </a:ln>
        </p:spPr>
      </p:sp>
      <p:pic>
        <p:nvPicPr>
          <p:cNvPr id="33" name="Image 4" descr="preencoded.png">    </p:cNvPr>
          <p:cNvPicPr>
            <a:picLocks noChangeAspect="1"/>
          </p:cNvPicPr>
          <p:nvPr/>
        </p:nvPicPr>
        <p:blipFill>
          <a:blip r:embed="rId5"/>
          <a:stretch>
            <a:fillRect/>
          </a:stretch>
        </p:blipFill>
        <p:spPr>
          <a:xfrm>
            <a:off x="841248" y="4892040"/>
            <a:ext cx="237744" cy="237744"/>
          </a:xfrm>
          <a:prstGeom prst="rect">
            <a:avLst/>
          </a:prstGeom>
        </p:spPr>
      </p:pic>
      <p:sp>
        <p:nvSpPr>
          <p:cNvPr id="34" name="Text 26"/>
          <p:cNvSpPr txBox="1"/>
          <p:nvPr/>
        </p:nvSpPr>
        <p:spPr>
          <a:xfrm>
            <a:off x="1325880" y="4690872"/>
            <a:ext cx="4480560" cy="301752"/>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Stage order</a:t>
            </a:r>
            <a:endParaRPr lang="en-US" sz="1400" dirty="0"/>
          </a:p>
        </p:txBody>
      </p:sp>
      <p:sp>
        <p:nvSpPr>
          <p:cNvPr id="35" name="Text 27"/>
          <p:cNvSpPr txBox="1"/>
          <p:nvPr/>
        </p:nvSpPr>
        <p:spPr>
          <a:xfrm>
            <a:off x="1325880" y="5001768"/>
            <a:ext cx="448056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One statutory sequence for all frameworks (e.g. RFCTLARR s.38 ties possession to R&amp;R).</a:t>
            </a:r>
            <a:endParaRPr lang="en-US" sz="1100" dirty="0"/>
          </a:p>
        </p:txBody>
      </p:sp>
      <p:sp>
        <p:nvSpPr>
          <p:cNvPr id="36" name="Text 28"/>
          <p:cNvSpPr txBox="1"/>
          <p:nvPr/>
        </p:nvSpPr>
        <p:spPr>
          <a:xfrm>
            <a:off x="1325880" y="5477256"/>
            <a:ext cx="4480560" cy="411480"/>
          </a:xfrm>
          <a:prstGeom prst="rect">
            <a:avLst/>
          </a:prstGeom>
          <a:noFill/>
          <a:ln/>
        </p:spPr>
        <p:txBody>
          <a:bodyPr wrap="square" lIns="0" tIns="0" rIns="0" bIns="0" rtlCol="0" anchor="t"/>
          <a:lstStyle/>
          <a:p>
            <a:pPr indent="0" marL="0">
              <a:buNone/>
            </a:pPr>
            <a:r>
              <a:rPr lang="en-US" sz="1100" b="1" dirty="0">
                <a:solidFill>
                  <a:srgbClr val="0B7A52"/>
                </a:solidFill>
                <a:latin typeface="Calibri" pitchFamily="34" charset="0"/>
                <a:ea typeface="Calibri" pitchFamily="34" charset="-122"/>
                <a:cs typeface="Calibri" pitchFamily="34" charset="-120"/>
              </a:rPr>
              <a:t>Next: Framework-specific stage ordering</a:t>
            </a:r>
            <a:endParaRPr lang="en-US" sz="1100" dirty="0"/>
          </a:p>
        </p:txBody>
      </p:sp>
      <p:sp>
        <p:nvSpPr>
          <p:cNvPr id="37" name="Shape 29"/>
          <p:cNvSpPr/>
          <p:nvPr/>
        </p:nvSpPr>
        <p:spPr>
          <a:xfrm>
            <a:off x="6172200" y="4581144"/>
            <a:ext cx="5394960" cy="1371600"/>
          </a:xfrm>
          <a:prstGeom prst="roundRect">
            <a:avLst>
              <a:gd name="adj" fmla="val 5333"/>
            </a:avLst>
          </a:prstGeom>
          <a:solidFill>
            <a:srgbClr val="F3F6FB"/>
          </a:solidFill>
          <a:ln w="12700">
            <a:solidFill>
              <a:srgbClr val="F3F6FB"/>
            </a:solidFill>
            <a:prstDash val="solid"/>
          </a:ln>
        </p:spPr>
      </p:sp>
      <p:sp>
        <p:nvSpPr>
          <p:cNvPr id="38" name="Shape 30"/>
          <p:cNvSpPr/>
          <p:nvPr/>
        </p:nvSpPr>
        <p:spPr>
          <a:xfrm>
            <a:off x="6355080" y="4782312"/>
            <a:ext cx="457200" cy="457200"/>
          </a:xfrm>
          <a:prstGeom prst="ellipse">
            <a:avLst/>
          </a:prstGeom>
          <a:solidFill>
            <a:srgbClr val="F59E0B"/>
          </a:solidFill>
          <a:ln w="12700">
            <a:solidFill>
              <a:srgbClr val="F59E0B"/>
            </a:solidFill>
            <a:prstDash val="solid"/>
          </a:ln>
        </p:spPr>
      </p:sp>
      <p:pic>
        <p:nvPicPr>
          <p:cNvPr id="39" name="Image 5" descr="preencoded.png">    </p:cNvPr>
          <p:cNvPicPr>
            <a:picLocks noChangeAspect="1"/>
          </p:cNvPicPr>
          <p:nvPr/>
        </p:nvPicPr>
        <p:blipFill>
          <a:blip r:embed="rId6"/>
          <a:stretch>
            <a:fillRect/>
          </a:stretch>
        </p:blipFill>
        <p:spPr>
          <a:xfrm>
            <a:off x="6464808" y="4892040"/>
            <a:ext cx="237744" cy="237744"/>
          </a:xfrm>
          <a:prstGeom prst="rect">
            <a:avLst/>
          </a:prstGeom>
        </p:spPr>
      </p:pic>
      <p:sp>
        <p:nvSpPr>
          <p:cNvPr id="40" name="Text 31"/>
          <p:cNvSpPr txBox="1"/>
          <p:nvPr/>
        </p:nvSpPr>
        <p:spPr>
          <a:xfrm>
            <a:off x="6949440" y="4690872"/>
            <a:ext cx="4480560" cy="301752"/>
          </a:xfrm>
          <a:prstGeom prst="rect">
            <a:avLst/>
          </a:prstGeom>
          <a:noFill/>
          <a:ln/>
        </p:spPr>
        <p:txBody>
          <a:bodyPr wrap="square" lIns="0" tIns="0" rIns="0" bIns="0" rtlCol="0" anchor="ctr"/>
          <a:lstStyle/>
          <a:p>
            <a:pPr indent="0" marL="0">
              <a:buNone/>
            </a:pPr>
            <a:r>
              <a:rPr lang="en-US" sz="1400" b="1" dirty="0">
                <a:solidFill>
                  <a:srgbClr val="14213D"/>
                </a:solidFill>
                <a:latin typeface="Calibri" pitchFamily="34" charset="0"/>
                <a:ea typeface="Calibri" pitchFamily="34" charset="-122"/>
                <a:cs typeface="Calibri" pitchFamily="34" charset="-120"/>
              </a:rPr>
              <a:t>Storage &amp; scale</a:t>
            </a:r>
            <a:endParaRPr lang="en-US" sz="1400" dirty="0"/>
          </a:p>
        </p:txBody>
      </p:sp>
      <p:sp>
        <p:nvSpPr>
          <p:cNvPr id="41" name="Text 32"/>
          <p:cNvSpPr txBox="1"/>
          <p:nvPr/>
        </p:nvSpPr>
        <p:spPr>
          <a:xfrm>
            <a:off x="6949440" y="5001768"/>
            <a:ext cx="4480560" cy="457200"/>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Single process, file-based state.</a:t>
            </a:r>
            <a:endParaRPr lang="en-US" sz="1100" dirty="0"/>
          </a:p>
        </p:txBody>
      </p:sp>
      <p:sp>
        <p:nvSpPr>
          <p:cNvPr id="42" name="Text 33"/>
          <p:cNvSpPr txBox="1"/>
          <p:nvPr/>
        </p:nvSpPr>
        <p:spPr>
          <a:xfrm>
            <a:off x="6949440" y="5477256"/>
            <a:ext cx="4480560" cy="411480"/>
          </a:xfrm>
          <a:prstGeom prst="rect">
            <a:avLst/>
          </a:prstGeom>
          <a:noFill/>
          <a:ln/>
        </p:spPr>
        <p:txBody>
          <a:bodyPr wrap="square" lIns="0" tIns="0" rIns="0" bIns="0" rtlCol="0" anchor="t"/>
          <a:lstStyle/>
          <a:p>
            <a:pPr indent="0" marL="0">
              <a:buNone/>
            </a:pPr>
            <a:r>
              <a:rPr lang="en-US" sz="1100" b="1" dirty="0">
                <a:solidFill>
                  <a:srgbClr val="0B7A52"/>
                </a:solidFill>
                <a:latin typeface="Calibri" pitchFamily="34" charset="0"/>
                <a:ea typeface="Calibri" pitchFamily="34" charset="-122"/>
                <a:cs typeface="Calibri" pitchFamily="34" charset="-120"/>
              </a:rPr>
              <a:t>Next: PostgreSQL + PostGIS, containerised services</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WHO BENEFITS AND HOW</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Impact: from reactive reporting to predictive governance</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47</a:t>
            </a:r>
            <a:endParaRPr lang="en-US" sz="900" dirty="0"/>
          </a:p>
        </p:txBody>
      </p:sp>
      <p:sp>
        <p:nvSpPr>
          <p:cNvPr id="7" name="Shape 4"/>
          <p:cNvSpPr/>
          <p:nvPr/>
        </p:nvSpPr>
        <p:spPr>
          <a:xfrm>
            <a:off x="548640" y="1508760"/>
            <a:ext cx="6766560" cy="777240"/>
          </a:xfrm>
          <a:prstGeom prst="roundRect">
            <a:avLst>
              <a:gd name="adj" fmla="val 9412"/>
            </a:avLst>
          </a:prstGeom>
          <a:solidFill>
            <a:srgbClr val="F3F6FB"/>
          </a:solidFill>
          <a:ln w="12700">
            <a:solidFill>
              <a:srgbClr val="F3F6FB"/>
            </a:solidFill>
            <a:prstDash val="solid"/>
          </a:ln>
        </p:spPr>
      </p:sp>
      <p:sp>
        <p:nvSpPr>
          <p:cNvPr id="8" name="Shape 5"/>
          <p:cNvSpPr/>
          <p:nvPr/>
        </p:nvSpPr>
        <p:spPr>
          <a:xfrm>
            <a:off x="685800" y="1645920"/>
            <a:ext cx="502920" cy="502920"/>
          </a:xfrm>
          <a:prstGeom prst="ellipse">
            <a:avLst/>
          </a:prstGeom>
          <a:solidFill>
            <a:srgbClr val="3B72F0"/>
          </a:solidFill>
          <a:ln w="12700">
            <a:solidFill>
              <a:srgbClr val="3B72F0"/>
            </a:solidFill>
            <a:prstDash val="solid"/>
          </a:ln>
        </p:spPr>
      </p:sp>
      <p:pic>
        <p:nvPicPr>
          <p:cNvPr id="9" name="Image 0" descr="preencoded.png">    </p:cNvPr>
          <p:cNvPicPr>
            <a:picLocks noChangeAspect="1"/>
          </p:cNvPicPr>
          <p:nvPr/>
        </p:nvPicPr>
        <p:blipFill>
          <a:blip r:embed="rId1"/>
          <a:stretch>
            <a:fillRect/>
          </a:stretch>
        </p:blipFill>
        <p:spPr>
          <a:xfrm>
            <a:off x="806501" y="1766621"/>
            <a:ext cx="261518" cy="261518"/>
          </a:xfrm>
          <a:prstGeom prst="rect">
            <a:avLst/>
          </a:prstGeom>
        </p:spPr>
      </p:pic>
      <p:sp>
        <p:nvSpPr>
          <p:cNvPr id="10" name="Text 6"/>
          <p:cNvSpPr txBox="1"/>
          <p:nvPr/>
        </p:nvSpPr>
        <p:spPr>
          <a:xfrm>
            <a:off x="1325880" y="1581912"/>
            <a:ext cx="5852160" cy="274320"/>
          </a:xfrm>
          <a:prstGeom prst="rect">
            <a:avLst/>
          </a:prstGeom>
          <a:noFill/>
          <a:ln/>
        </p:spPr>
        <p:txBody>
          <a:bodyPr wrap="square" lIns="0" tIns="0" rIns="0" bIns="0" rtlCol="0" anchor="ctr"/>
          <a:lstStyle/>
          <a:p>
            <a:pPr indent="0" marL="0">
              <a:buNone/>
            </a:pPr>
            <a:r>
              <a:rPr lang="en-US" sz="1350" b="1" dirty="0">
                <a:solidFill>
                  <a:srgbClr val="14213D"/>
                </a:solidFill>
                <a:latin typeface="Calibri" pitchFamily="34" charset="0"/>
                <a:ea typeface="Calibri" pitchFamily="34" charset="-122"/>
                <a:cs typeface="Calibri" pitchFamily="34" charset="-120"/>
              </a:rPr>
              <a:t>Policymakers &amp; ministries</a:t>
            </a:r>
            <a:endParaRPr lang="en-US" sz="1350" dirty="0"/>
          </a:p>
        </p:txBody>
      </p:sp>
      <p:sp>
        <p:nvSpPr>
          <p:cNvPr id="11" name="Text 7"/>
          <p:cNvSpPr txBox="1"/>
          <p:nvPr/>
        </p:nvSpPr>
        <p:spPr>
          <a:xfrm>
            <a:off x="1325880" y="1874520"/>
            <a:ext cx="5852160" cy="384048"/>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See which States, sectors and authorities are slipping, and the forecast, before targets are missed</a:t>
            </a:r>
            <a:endParaRPr lang="en-US" sz="1100" dirty="0"/>
          </a:p>
        </p:txBody>
      </p:sp>
      <p:sp>
        <p:nvSpPr>
          <p:cNvPr id="12" name="Shape 8"/>
          <p:cNvSpPr/>
          <p:nvPr/>
        </p:nvSpPr>
        <p:spPr>
          <a:xfrm>
            <a:off x="548640" y="2404872"/>
            <a:ext cx="6766560" cy="777240"/>
          </a:xfrm>
          <a:prstGeom prst="roundRect">
            <a:avLst>
              <a:gd name="adj" fmla="val 9412"/>
            </a:avLst>
          </a:prstGeom>
          <a:solidFill>
            <a:srgbClr val="F3F6FB"/>
          </a:solidFill>
          <a:ln w="12700">
            <a:solidFill>
              <a:srgbClr val="F3F6FB"/>
            </a:solidFill>
            <a:prstDash val="solid"/>
          </a:ln>
        </p:spPr>
      </p:sp>
      <p:sp>
        <p:nvSpPr>
          <p:cNvPr id="13" name="Shape 9"/>
          <p:cNvSpPr/>
          <p:nvPr/>
        </p:nvSpPr>
        <p:spPr>
          <a:xfrm>
            <a:off x="685800" y="2542032"/>
            <a:ext cx="502920" cy="502920"/>
          </a:xfrm>
          <a:prstGeom prst="ellipse">
            <a:avLst/>
          </a:prstGeom>
          <a:solidFill>
            <a:srgbClr val="0EA5A4"/>
          </a:solidFill>
          <a:ln w="12700">
            <a:solidFill>
              <a:srgbClr val="0EA5A4"/>
            </a:solidFill>
            <a:prstDash val="solid"/>
          </a:ln>
        </p:spPr>
      </p:sp>
      <p:pic>
        <p:nvPicPr>
          <p:cNvPr id="14" name="Image 1" descr="preencoded.png">    </p:cNvPr>
          <p:cNvPicPr>
            <a:picLocks noChangeAspect="1"/>
          </p:cNvPicPr>
          <p:nvPr/>
        </p:nvPicPr>
        <p:blipFill>
          <a:blip r:embed="rId2"/>
          <a:stretch>
            <a:fillRect/>
          </a:stretch>
        </p:blipFill>
        <p:spPr>
          <a:xfrm>
            <a:off x="806501" y="2662733"/>
            <a:ext cx="261518" cy="261518"/>
          </a:xfrm>
          <a:prstGeom prst="rect">
            <a:avLst/>
          </a:prstGeom>
        </p:spPr>
      </p:pic>
      <p:sp>
        <p:nvSpPr>
          <p:cNvPr id="15" name="Text 10"/>
          <p:cNvSpPr txBox="1"/>
          <p:nvPr/>
        </p:nvSpPr>
        <p:spPr>
          <a:xfrm>
            <a:off x="1325880" y="2478024"/>
            <a:ext cx="5852160" cy="274320"/>
          </a:xfrm>
          <a:prstGeom prst="rect">
            <a:avLst/>
          </a:prstGeom>
          <a:noFill/>
          <a:ln/>
        </p:spPr>
        <p:txBody>
          <a:bodyPr wrap="square" lIns="0" tIns="0" rIns="0" bIns="0" rtlCol="0" anchor="ctr"/>
          <a:lstStyle/>
          <a:p>
            <a:pPr indent="0" marL="0">
              <a:buNone/>
            </a:pPr>
            <a:r>
              <a:rPr lang="en-US" sz="1350" b="1" dirty="0">
                <a:solidFill>
                  <a:srgbClr val="14213D"/>
                </a:solidFill>
                <a:latin typeface="Calibri" pitchFamily="34" charset="0"/>
                <a:ea typeface="Calibri" pitchFamily="34" charset="-122"/>
                <a:cs typeface="Calibri" pitchFamily="34" charset="-120"/>
              </a:rPr>
              <a:t>State administrators</a:t>
            </a:r>
            <a:endParaRPr lang="en-US" sz="1350" dirty="0"/>
          </a:p>
        </p:txBody>
      </p:sp>
      <p:sp>
        <p:nvSpPr>
          <p:cNvPr id="16" name="Text 11"/>
          <p:cNvSpPr txBox="1"/>
          <p:nvPr/>
        </p:nvSpPr>
        <p:spPr>
          <a:xfrm>
            <a:off x="1325880" y="2770632"/>
            <a:ext cx="5852160" cy="384048"/>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Prioritise districts and cross-department escalations using league tables and trends</a:t>
            </a:r>
            <a:endParaRPr lang="en-US" sz="1100" dirty="0"/>
          </a:p>
        </p:txBody>
      </p:sp>
      <p:sp>
        <p:nvSpPr>
          <p:cNvPr id="17" name="Shape 12"/>
          <p:cNvSpPr/>
          <p:nvPr/>
        </p:nvSpPr>
        <p:spPr>
          <a:xfrm>
            <a:off x="548640" y="3300984"/>
            <a:ext cx="6766560" cy="777240"/>
          </a:xfrm>
          <a:prstGeom prst="roundRect">
            <a:avLst>
              <a:gd name="adj" fmla="val 9412"/>
            </a:avLst>
          </a:prstGeom>
          <a:solidFill>
            <a:srgbClr val="F3F6FB"/>
          </a:solidFill>
          <a:ln w="12700">
            <a:solidFill>
              <a:srgbClr val="F3F6FB"/>
            </a:solidFill>
            <a:prstDash val="solid"/>
          </a:ln>
        </p:spPr>
      </p:sp>
      <p:sp>
        <p:nvSpPr>
          <p:cNvPr id="18" name="Shape 13"/>
          <p:cNvSpPr/>
          <p:nvPr/>
        </p:nvSpPr>
        <p:spPr>
          <a:xfrm>
            <a:off x="685800" y="3438144"/>
            <a:ext cx="502920" cy="502920"/>
          </a:xfrm>
          <a:prstGeom prst="ellipse">
            <a:avLst/>
          </a:prstGeom>
          <a:solidFill>
            <a:srgbClr val="F59E0B"/>
          </a:solidFill>
          <a:ln w="12700">
            <a:solidFill>
              <a:srgbClr val="F59E0B"/>
            </a:solidFill>
            <a:prstDash val="solid"/>
          </a:ln>
        </p:spPr>
      </p:sp>
      <p:pic>
        <p:nvPicPr>
          <p:cNvPr id="19" name="Image 2" descr="preencoded.png">    </p:cNvPr>
          <p:cNvPicPr>
            <a:picLocks noChangeAspect="1"/>
          </p:cNvPicPr>
          <p:nvPr/>
        </p:nvPicPr>
        <p:blipFill>
          <a:blip r:embed="rId3"/>
          <a:stretch>
            <a:fillRect/>
          </a:stretch>
        </p:blipFill>
        <p:spPr>
          <a:xfrm>
            <a:off x="806501" y="3558845"/>
            <a:ext cx="261518" cy="261518"/>
          </a:xfrm>
          <a:prstGeom prst="rect">
            <a:avLst/>
          </a:prstGeom>
        </p:spPr>
      </p:pic>
      <p:sp>
        <p:nvSpPr>
          <p:cNvPr id="20" name="Text 14"/>
          <p:cNvSpPr txBox="1"/>
          <p:nvPr/>
        </p:nvSpPr>
        <p:spPr>
          <a:xfrm>
            <a:off x="1325880" y="3374136"/>
            <a:ext cx="5852160" cy="274320"/>
          </a:xfrm>
          <a:prstGeom prst="rect">
            <a:avLst/>
          </a:prstGeom>
          <a:noFill/>
          <a:ln/>
        </p:spPr>
        <p:txBody>
          <a:bodyPr wrap="square" lIns="0" tIns="0" rIns="0" bIns="0" rtlCol="0" anchor="ctr"/>
          <a:lstStyle/>
          <a:p>
            <a:pPr indent="0" marL="0">
              <a:buNone/>
            </a:pPr>
            <a:r>
              <a:rPr lang="en-US" sz="1350" b="1" dirty="0">
                <a:solidFill>
                  <a:srgbClr val="14213D"/>
                </a:solidFill>
                <a:latin typeface="Calibri" pitchFamily="34" charset="0"/>
                <a:ea typeface="Calibri" pitchFamily="34" charset="-122"/>
                <a:cs typeface="Calibri" pitchFamily="34" charset="-120"/>
              </a:rPr>
              <a:t>District officers &amp; LAOs</a:t>
            </a:r>
            <a:endParaRPr lang="en-US" sz="1350" dirty="0"/>
          </a:p>
        </p:txBody>
      </p:sp>
      <p:sp>
        <p:nvSpPr>
          <p:cNvPr id="21" name="Text 15"/>
          <p:cNvSpPr txBox="1"/>
          <p:nvPr/>
        </p:nvSpPr>
        <p:spPr>
          <a:xfrm>
            <a:off x="1325880" y="3666744"/>
            <a:ext cx="5852160" cy="384048"/>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A ranked, owned to-do list with the reason, the owner and the predicted benefit of each action</a:t>
            </a:r>
            <a:endParaRPr lang="en-US" sz="1100" dirty="0"/>
          </a:p>
        </p:txBody>
      </p:sp>
      <p:sp>
        <p:nvSpPr>
          <p:cNvPr id="22" name="Shape 16"/>
          <p:cNvSpPr/>
          <p:nvPr/>
        </p:nvSpPr>
        <p:spPr>
          <a:xfrm>
            <a:off x="548640" y="4197096"/>
            <a:ext cx="6766560" cy="777240"/>
          </a:xfrm>
          <a:prstGeom prst="roundRect">
            <a:avLst>
              <a:gd name="adj" fmla="val 9412"/>
            </a:avLst>
          </a:prstGeom>
          <a:solidFill>
            <a:srgbClr val="F3F6FB"/>
          </a:solidFill>
          <a:ln w="12700">
            <a:solidFill>
              <a:srgbClr val="F3F6FB"/>
            </a:solidFill>
            <a:prstDash val="solid"/>
          </a:ln>
        </p:spPr>
      </p:sp>
      <p:sp>
        <p:nvSpPr>
          <p:cNvPr id="23" name="Shape 17"/>
          <p:cNvSpPr/>
          <p:nvPr/>
        </p:nvSpPr>
        <p:spPr>
          <a:xfrm>
            <a:off x="685800" y="4334256"/>
            <a:ext cx="502920" cy="502920"/>
          </a:xfrm>
          <a:prstGeom prst="ellipse">
            <a:avLst/>
          </a:prstGeom>
          <a:solidFill>
            <a:srgbClr val="3B72F0"/>
          </a:solidFill>
          <a:ln w="12700">
            <a:solidFill>
              <a:srgbClr val="3B72F0"/>
            </a:solidFill>
            <a:prstDash val="solid"/>
          </a:ln>
        </p:spPr>
      </p:sp>
      <p:pic>
        <p:nvPicPr>
          <p:cNvPr id="24" name="Image 3" descr="preencoded.png">    </p:cNvPr>
          <p:cNvPicPr>
            <a:picLocks noChangeAspect="1"/>
          </p:cNvPicPr>
          <p:nvPr/>
        </p:nvPicPr>
        <p:blipFill>
          <a:blip r:embed="rId4"/>
          <a:stretch>
            <a:fillRect/>
          </a:stretch>
        </p:blipFill>
        <p:spPr>
          <a:xfrm>
            <a:off x="806501" y="4454957"/>
            <a:ext cx="261518" cy="261518"/>
          </a:xfrm>
          <a:prstGeom prst="rect">
            <a:avLst/>
          </a:prstGeom>
        </p:spPr>
      </p:pic>
      <p:sp>
        <p:nvSpPr>
          <p:cNvPr id="25" name="Text 18"/>
          <p:cNvSpPr txBox="1"/>
          <p:nvPr/>
        </p:nvSpPr>
        <p:spPr>
          <a:xfrm>
            <a:off x="1325880" y="4270248"/>
            <a:ext cx="5852160" cy="274320"/>
          </a:xfrm>
          <a:prstGeom prst="rect">
            <a:avLst/>
          </a:prstGeom>
          <a:noFill/>
          <a:ln/>
        </p:spPr>
        <p:txBody>
          <a:bodyPr wrap="square" lIns="0" tIns="0" rIns="0" bIns="0" rtlCol="0" anchor="ctr"/>
          <a:lstStyle/>
          <a:p>
            <a:pPr indent="0" marL="0">
              <a:buNone/>
            </a:pPr>
            <a:r>
              <a:rPr lang="en-US" sz="1350" b="1" dirty="0">
                <a:solidFill>
                  <a:srgbClr val="14213D"/>
                </a:solidFill>
                <a:latin typeface="Calibri" pitchFamily="34" charset="0"/>
                <a:ea typeface="Calibri" pitchFamily="34" charset="-122"/>
                <a:cs typeface="Calibri" pitchFamily="34" charset="-120"/>
              </a:rPr>
              <a:t>Project implementing agencies</a:t>
            </a:r>
            <a:endParaRPr lang="en-US" sz="1350" dirty="0"/>
          </a:p>
        </p:txBody>
      </p:sp>
      <p:sp>
        <p:nvSpPr>
          <p:cNvPr id="26" name="Text 19"/>
          <p:cNvSpPr txBox="1"/>
          <p:nvPr/>
        </p:nvSpPr>
        <p:spPr>
          <a:xfrm>
            <a:off x="1325880" y="4562856"/>
            <a:ext cx="5852160" cy="384048"/>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Know land-availability risk per stage and the probability of missing construction dates</a:t>
            </a:r>
            <a:endParaRPr lang="en-US" sz="1100" dirty="0"/>
          </a:p>
        </p:txBody>
      </p:sp>
      <p:sp>
        <p:nvSpPr>
          <p:cNvPr id="27" name="Shape 20"/>
          <p:cNvSpPr/>
          <p:nvPr/>
        </p:nvSpPr>
        <p:spPr>
          <a:xfrm>
            <a:off x="548640" y="5093208"/>
            <a:ext cx="6766560" cy="777240"/>
          </a:xfrm>
          <a:prstGeom prst="roundRect">
            <a:avLst>
              <a:gd name="adj" fmla="val 9412"/>
            </a:avLst>
          </a:prstGeom>
          <a:solidFill>
            <a:srgbClr val="F3F6FB"/>
          </a:solidFill>
          <a:ln w="12700">
            <a:solidFill>
              <a:srgbClr val="F3F6FB"/>
            </a:solidFill>
            <a:prstDash val="solid"/>
          </a:ln>
        </p:spPr>
      </p:sp>
      <p:sp>
        <p:nvSpPr>
          <p:cNvPr id="28" name="Shape 21"/>
          <p:cNvSpPr/>
          <p:nvPr/>
        </p:nvSpPr>
        <p:spPr>
          <a:xfrm>
            <a:off x="685800" y="5230368"/>
            <a:ext cx="502920" cy="502920"/>
          </a:xfrm>
          <a:prstGeom prst="ellipse">
            <a:avLst/>
          </a:prstGeom>
          <a:solidFill>
            <a:srgbClr val="10B981"/>
          </a:solidFill>
          <a:ln w="12700">
            <a:solidFill>
              <a:srgbClr val="10B981"/>
            </a:solidFill>
            <a:prstDash val="solid"/>
          </a:ln>
        </p:spPr>
      </p:sp>
      <p:pic>
        <p:nvPicPr>
          <p:cNvPr id="29" name="Image 4" descr="preencoded.png">    </p:cNvPr>
          <p:cNvPicPr>
            <a:picLocks noChangeAspect="1"/>
          </p:cNvPicPr>
          <p:nvPr/>
        </p:nvPicPr>
        <p:blipFill>
          <a:blip r:embed="rId5"/>
          <a:stretch>
            <a:fillRect/>
          </a:stretch>
        </p:blipFill>
        <p:spPr>
          <a:xfrm>
            <a:off x="806501" y="5351069"/>
            <a:ext cx="261518" cy="261518"/>
          </a:xfrm>
          <a:prstGeom prst="rect">
            <a:avLst/>
          </a:prstGeom>
        </p:spPr>
      </p:pic>
      <p:sp>
        <p:nvSpPr>
          <p:cNvPr id="30" name="Text 22"/>
          <p:cNvSpPr txBox="1"/>
          <p:nvPr/>
        </p:nvSpPr>
        <p:spPr>
          <a:xfrm>
            <a:off x="1325880" y="5166360"/>
            <a:ext cx="5852160" cy="274320"/>
          </a:xfrm>
          <a:prstGeom prst="rect">
            <a:avLst/>
          </a:prstGeom>
          <a:noFill/>
          <a:ln/>
        </p:spPr>
        <p:txBody>
          <a:bodyPr wrap="square" lIns="0" tIns="0" rIns="0" bIns="0" rtlCol="0" anchor="ctr"/>
          <a:lstStyle/>
          <a:p>
            <a:pPr indent="0" marL="0">
              <a:buNone/>
            </a:pPr>
            <a:r>
              <a:rPr lang="en-US" sz="1350" b="1" dirty="0">
                <a:solidFill>
                  <a:srgbClr val="14213D"/>
                </a:solidFill>
                <a:latin typeface="Calibri" pitchFamily="34" charset="0"/>
                <a:ea typeface="Calibri" pitchFamily="34" charset="-122"/>
                <a:cs typeface="Calibri" pitchFamily="34" charset="-120"/>
              </a:rPr>
              <a:t>Affected families</a:t>
            </a:r>
            <a:endParaRPr lang="en-US" sz="1350" dirty="0"/>
          </a:p>
        </p:txBody>
      </p:sp>
      <p:sp>
        <p:nvSpPr>
          <p:cNvPr id="31" name="Text 23"/>
          <p:cNvSpPr txBox="1"/>
          <p:nvPr/>
        </p:nvSpPr>
        <p:spPr>
          <a:xfrm>
            <a:off x="1325880" y="5458968"/>
            <a:ext cx="5852160" cy="384048"/>
          </a:xfrm>
          <a:prstGeom prst="rect">
            <a:avLst/>
          </a:prstGeom>
          <a:noFill/>
          <a:ln/>
        </p:spPr>
        <p:txBody>
          <a:bodyPr wrap="square" lIns="0" tIns="0" rIns="0" bIns="0" rtlCol="0" anchor="t"/>
          <a:lstStyle/>
          <a:p>
            <a:pPr indent="0" marL="0">
              <a:buNone/>
            </a:pPr>
            <a:r>
              <a:rPr lang="en-US" sz="1100" dirty="0">
                <a:solidFill>
                  <a:srgbClr val="5B6B82"/>
                </a:solidFill>
                <a:latin typeface="Calibri" pitchFamily="34" charset="0"/>
                <a:ea typeface="Calibri" pitchFamily="34" charset="-122"/>
                <a:cs typeface="Calibri" pitchFamily="34" charset="-120"/>
              </a:rPr>
              <a:t>Compensation and R&amp;R backlogs surface early instead of after a milestone fails</a:t>
            </a:r>
            <a:endParaRPr lang="en-US" sz="1100" dirty="0"/>
          </a:p>
        </p:txBody>
      </p:sp>
      <p:sp>
        <p:nvSpPr>
          <p:cNvPr id="32" name="Shape 24"/>
          <p:cNvSpPr/>
          <p:nvPr/>
        </p:nvSpPr>
        <p:spPr>
          <a:xfrm>
            <a:off x="7589520" y="1508760"/>
            <a:ext cx="4023360" cy="4389120"/>
          </a:xfrm>
          <a:prstGeom prst="roundRect">
            <a:avLst>
              <a:gd name="adj" fmla="val 1818"/>
            </a:avLst>
          </a:prstGeom>
          <a:solidFill>
            <a:srgbClr val="0B1B34"/>
          </a:solidFill>
          <a:ln w="12700">
            <a:solidFill>
              <a:srgbClr val="0B1B34"/>
            </a:solidFill>
            <a:prstDash val="solid"/>
          </a:ln>
        </p:spPr>
      </p:sp>
      <p:sp>
        <p:nvSpPr>
          <p:cNvPr id="33" name="Text 25"/>
          <p:cNvSpPr txBox="1"/>
          <p:nvPr/>
        </p:nvSpPr>
        <p:spPr>
          <a:xfrm>
            <a:off x="7818120" y="1691640"/>
            <a:ext cx="3657600" cy="365760"/>
          </a:xfrm>
          <a:prstGeom prst="rect">
            <a:avLst/>
          </a:prstGeom>
          <a:noFill/>
          <a:ln/>
        </p:spPr>
        <p:txBody>
          <a:bodyPr wrap="square" lIns="0" tIns="0" rIns="0" bIns="0" rtlCol="0" anchor="ctr"/>
          <a:lstStyle/>
          <a:p>
            <a:pPr indent="0" marL="0">
              <a:buNone/>
            </a:pPr>
            <a:r>
              <a:rPr lang="en-US" sz="1800" b="1" dirty="0">
                <a:solidFill>
                  <a:srgbClr val="F59E0B"/>
                </a:solidFill>
                <a:latin typeface="Calibri" pitchFamily="34" charset="0"/>
                <a:ea typeface="Calibri" pitchFamily="34" charset="-122"/>
                <a:cs typeface="Calibri" pitchFamily="34" charset="-120"/>
              </a:rPr>
              <a:t>Outcomes we aim for</a:t>
            </a:r>
            <a:endParaRPr lang="en-US" sz="1800" dirty="0"/>
          </a:p>
        </p:txBody>
      </p:sp>
      <p:sp>
        <p:nvSpPr>
          <p:cNvPr id="34" name="Text 26"/>
          <p:cNvSpPr txBox="1"/>
          <p:nvPr/>
        </p:nvSpPr>
        <p:spPr>
          <a:xfrm>
            <a:off x="7818120" y="2194560"/>
            <a:ext cx="3611880" cy="3566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E6ECF5"/>
                </a:solidFill>
                <a:latin typeface="Calibri" pitchFamily="34" charset="0"/>
                <a:ea typeface="Calibri" pitchFamily="34" charset="-122"/>
                <a:cs typeface="Calibri" pitchFamily="34" charset="-120"/>
              </a:rPr>
              <a:t>Delays flagged weeks before a deadline, not after</a:t>
            </a:r>
            <a:endParaRPr lang="en-US" sz="1400" dirty="0"/>
          </a:p>
          <a:p>
            <a:pPr marL="342900" indent="-342900">
              <a:spcAft>
                <a:spcPts val="600"/>
              </a:spcAft>
              <a:buSzPct val="100000"/>
              <a:buChar char="•"/>
            </a:pPr>
            <a:r>
              <a:rPr lang="en-US" sz="1400" dirty="0">
                <a:solidFill>
                  <a:srgbClr val="E6ECF5"/>
                </a:solidFill>
                <a:latin typeface="Calibri" pitchFamily="34" charset="0"/>
                <a:ea typeface="Calibri" pitchFamily="34" charset="-122"/>
                <a:cs typeface="Calibri" pitchFamily="34" charset="-120"/>
              </a:rPr>
              <a:t>Clear ownership of every bottleneck</a:t>
            </a:r>
            <a:endParaRPr lang="en-US" sz="1400" dirty="0"/>
          </a:p>
          <a:p>
            <a:pPr marL="342900" indent="-342900">
              <a:spcAft>
                <a:spcPts val="600"/>
              </a:spcAft>
              <a:buSzPct val="100000"/>
              <a:buChar char="•"/>
            </a:pPr>
            <a:r>
              <a:rPr lang="en-US" sz="1400" dirty="0">
                <a:solidFill>
                  <a:srgbClr val="E6ECF5"/>
                </a:solidFill>
                <a:latin typeface="Calibri" pitchFamily="34" charset="0"/>
                <a:ea typeface="Calibri" pitchFamily="34" charset="-122"/>
                <a:cs typeface="Calibri" pitchFamily="34" charset="-120"/>
              </a:rPr>
              <a:t>Interventions chosen by predicted benefit</a:t>
            </a:r>
            <a:endParaRPr lang="en-US" sz="1400" dirty="0"/>
          </a:p>
          <a:p>
            <a:pPr marL="342900" indent="-342900">
              <a:spcAft>
                <a:spcPts val="600"/>
              </a:spcAft>
              <a:buSzPct val="100000"/>
              <a:buChar char="•"/>
            </a:pPr>
            <a:r>
              <a:rPr lang="en-US" sz="1400" dirty="0">
                <a:solidFill>
                  <a:srgbClr val="E6ECF5"/>
                </a:solidFill>
                <a:latin typeface="Calibri" pitchFamily="34" charset="0"/>
                <a:ea typeface="Calibri" pitchFamily="34" charset="-122"/>
                <a:cs typeface="Calibri" pitchFamily="34" charset="-120"/>
              </a:rPr>
              <a:t>Fewer idle construction packages and cost escalations</a:t>
            </a:r>
            <a:endParaRPr lang="en-US" sz="1400" dirty="0"/>
          </a:p>
          <a:p>
            <a:pPr marL="342900" indent="-342900">
              <a:spcAft>
                <a:spcPts val="600"/>
              </a:spcAft>
              <a:buSzPct val="100000"/>
              <a:buChar char="•"/>
            </a:pPr>
            <a:r>
              <a:rPr lang="en-US" sz="1400" dirty="0">
                <a:solidFill>
                  <a:srgbClr val="E6ECF5"/>
                </a:solidFill>
                <a:latin typeface="Calibri" pitchFamily="34" charset="0"/>
                <a:ea typeface="Calibri" pitchFamily="34" charset="-122"/>
                <a:cs typeface="Calibri" pitchFamily="34" charset="-120"/>
              </a:rPr>
              <a:t>A model that improves as outcomes are recorded</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WHAT HAPPENS AFTER THE HACKATHON</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Roadmap to deployment</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48</a:t>
            </a:r>
            <a:endParaRPr lang="en-US" sz="900" dirty="0"/>
          </a:p>
        </p:txBody>
      </p:sp>
      <p:sp>
        <p:nvSpPr>
          <p:cNvPr id="7" name="Shape 4"/>
          <p:cNvSpPr/>
          <p:nvPr/>
        </p:nvSpPr>
        <p:spPr>
          <a:xfrm>
            <a:off x="548640" y="1600200"/>
            <a:ext cx="2606040" cy="4206240"/>
          </a:xfrm>
          <a:prstGeom prst="roundRect">
            <a:avLst>
              <a:gd name="adj" fmla="val 2807"/>
            </a:avLst>
          </a:prstGeom>
          <a:solidFill>
            <a:srgbClr val="F3F6FB"/>
          </a:solidFill>
          <a:ln w="12700">
            <a:solidFill>
              <a:srgbClr val="F3F6FB"/>
            </a:solidFill>
            <a:prstDash val="solid"/>
          </a:ln>
        </p:spPr>
      </p:sp>
      <p:sp>
        <p:nvSpPr>
          <p:cNvPr id="8" name="Shape 5"/>
          <p:cNvSpPr/>
          <p:nvPr/>
        </p:nvSpPr>
        <p:spPr>
          <a:xfrm>
            <a:off x="749808" y="1801368"/>
            <a:ext cx="548640" cy="548640"/>
          </a:xfrm>
          <a:prstGeom prst="ellipse">
            <a:avLst/>
          </a:prstGeom>
          <a:solidFill>
            <a:srgbClr val="3B72F0"/>
          </a:solidFill>
          <a:ln w="12700">
            <a:solidFill>
              <a:srgbClr val="3B72F0"/>
            </a:solidFill>
            <a:prstDash val="solid"/>
          </a:ln>
        </p:spPr>
      </p:sp>
      <p:pic>
        <p:nvPicPr>
          <p:cNvPr id="9" name="Image 0" descr="preencoded.png">    </p:cNvPr>
          <p:cNvPicPr>
            <a:picLocks noChangeAspect="1"/>
          </p:cNvPicPr>
          <p:nvPr/>
        </p:nvPicPr>
        <p:blipFill>
          <a:blip r:embed="rId1"/>
          <a:stretch>
            <a:fillRect/>
          </a:stretch>
        </p:blipFill>
        <p:spPr>
          <a:xfrm>
            <a:off x="881482" y="1933042"/>
            <a:ext cx="285293" cy="285293"/>
          </a:xfrm>
          <a:prstGeom prst="rect">
            <a:avLst/>
          </a:prstGeom>
        </p:spPr>
      </p:pic>
      <p:sp>
        <p:nvSpPr>
          <p:cNvPr id="10" name="Text 6"/>
          <p:cNvSpPr txBox="1"/>
          <p:nvPr/>
        </p:nvSpPr>
        <p:spPr>
          <a:xfrm>
            <a:off x="749808" y="2487168"/>
            <a:ext cx="2240280" cy="274320"/>
          </a:xfrm>
          <a:prstGeom prst="rect">
            <a:avLst/>
          </a:prstGeom>
          <a:noFill/>
          <a:ln/>
        </p:spPr>
        <p:txBody>
          <a:bodyPr wrap="square" lIns="0" tIns="0" rIns="0" bIns="0" rtlCol="0" anchor="ctr"/>
          <a:lstStyle/>
          <a:p>
            <a:pPr indent="0" marL="0">
              <a:buNone/>
            </a:pPr>
            <a:r>
              <a:rPr lang="en-US" sz="1100" b="1" dirty="0">
                <a:solidFill>
                  <a:srgbClr val="5B6B82"/>
                </a:solidFill>
                <a:latin typeface="Calibri" pitchFamily="34" charset="0"/>
                <a:ea typeface="Calibri" pitchFamily="34" charset="-122"/>
                <a:cs typeface="Calibri" pitchFamily="34" charset="-120"/>
              </a:rPr>
              <a:t>Phase 1 · 0–3 months</a:t>
            </a:r>
            <a:endParaRPr lang="en-US" sz="1100" dirty="0"/>
          </a:p>
        </p:txBody>
      </p:sp>
      <p:sp>
        <p:nvSpPr>
          <p:cNvPr id="11" name="Text 7"/>
          <p:cNvSpPr txBox="1"/>
          <p:nvPr/>
        </p:nvSpPr>
        <p:spPr>
          <a:xfrm>
            <a:off x="749808" y="2761488"/>
            <a:ext cx="2240280" cy="41148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Pilot data</a:t>
            </a:r>
            <a:endParaRPr lang="en-US" sz="1900" dirty="0"/>
          </a:p>
        </p:txBody>
      </p:sp>
      <p:sp>
        <p:nvSpPr>
          <p:cNvPr id="12" name="Text 8"/>
          <p:cNvSpPr txBox="1"/>
          <p:nvPr/>
        </p:nvSpPr>
        <p:spPr>
          <a:xfrm>
            <a:off x="749808" y="3291840"/>
            <a:ext cx="224028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MoU with one State revenue department</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Map real fields to the feature contract</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Re-fit, validate per project type, calibrate bands</a:t>
            </a:r>
            <a:endParaRPr lang="en-US" sz="1200" dirty="0"/>
          </a:p>
        </p:txBody>
      </p:sp>
      <p:sp>
        <p:nvSpPr>
          <p:cNvPr id="13" name="Shape 9"/>
          <p:cNvSpPr/>
          <p:nvPr/>
        </p:nvSpPr>
        <p:spPr>
          <a:xfrm>
            <a:off x="3355848" y="1600200"/>
            <a:ext cx="2606040" cy="4206240"/>
          </a:xfrm>
          <a:prstGeom prst="roundRect">
            <a:avLst>
              <a:gd name="adj" fmla="val 2807"/>
            </a:avLst>
          </a:prstGeom>
          <a:solidFill>
            <a:srgbClr val="F3F6FB"/>
          </a:solidFill>
          <a:ln w="12700">
            <a:solidFill>
              <a:srgbClr val="F3F6FB"/>
            </a:solidFill>
            <a:prstDash val="solid"/>
          </a:ln>
        </p:spPr>
      </p:sp>
      <p:sp>
        <p:nvSpPr>
          <p:cNvPr id="14" name="Shape 10"/>
          <p:cNvSpPr/>
          <p:nvPr/>
        </p:nvSpPr>
        <p:spPr>
          <a:xfrm>
            <a:off x="3557016" y="1801368"/>
            <a:ext cx="548640" cy="548640"/>
          </a:xfrm>
          <a:prstGeom prst="ellipse">
            <a:avLst/>
          </a:prstGeom>
          <a:solidFill>
            <a:srgbClr val="0EA5A4"/>
          </a:solidFill>
          <a:ln w="12700">
            <a:solidFill>
              <a:srgbClr val="0EA5A4"/>
            </a:solidFill>
            <a:prstDash val="solid"/>
          </a:ln>
        </p:spPr>
      </p:sp>
      <p:pic>
        <p:nvPicPr>
          <p:cNvPr id="15" name="Image 1" descr="preencoded.png">    </p:cNvPr>
          <p:cNvPicPr>
            <a:picLocks noChangeAspect="1"/>
          </p:cNvPicPr>
          <p:nvPr/>
        </p:nvPicPr>
        <p:blipFill>
          <a:blip r:embed="rId2"/>
          <a:stretch>
            <a:fillRect/>
          </a:stretch>
        </p:blipFill>
        <p:spPr>
          <a:xfrm>
            <a:off x="3688690" y="1933042"/>
            <a:ext cx="285293" cy="285293"/>
          </a:xfrm>
          <a:prstGeom prst="rect">
            <a:avLst/>
          </a:prstGeom>
        </p:spPr>
      </p:pic>
      <p:sp>
        <p:nvSpPr>
          <p:cNvPr id="16" name="Text 11"/>
          <p:cNvSpPr txBox="1"/>
          <p:nvPr/>
        </p:nvSpPr>
        <p:spPr>
          <a:xfrm>
            <a:off x="3557016" y="2487168"/>
            <a:ext cx="2240280" cy="274320"/>
          </a:xfrm>
          <a:prstGeom prst="rect">
            <a:avLst/>
          </a:prstGeom>
          <a:noFill/>
          <a:ln/>
        </p:spPr>
        <p:txBody>
          <a:bodyPr wrap="square" lIns="0" tIns="0" rIns="0" bIns="0" rtlCol="0" anchor="ctr"/>
          <a:lstStyle/>
          <a:p>
            <a:pPr indent="0" marL="0">
              <a:buNone/>
            </a:pPr>
            <a:r>
              <a:rPr lang="en-US" sz="1100" b="1" dirty="0">
                <a:solidFill>
                  <a:srgbClr val="5B6B82"/>
                </a:solidFill>
                <a:latin typeface="Calibri" pitchFamily="34" charset="0"/>
                <a:ea typeface="Calibri" pitchFamily="34" charset="-122"/>
                <a:cs typeface="Calibri" pitchFamily="34" charset="-120"/>
              </a:rPr>
              <a:t>Phase 2 · 3–6 months</a:t>
            </a:r>
            <a:endParaRPr lang="en-US" sz="1100" dirty="0"/>
          </a:p>
        </p:txBody>
      </p:sp>
      <p:sp>
        <p:nvSpPr>
          <p:cNvPr id="17" name="Text 12"/>
          <p:cNvSpPr txBox="1"/>
          <p:nvPr/>
        </p:nvSpPr>
        <p:spPr>
          <a:xfrm>
            <a:off x="3557016" y="2761488"/>
            <a:ext cx="2240280" cy="41148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Connect &amp; secure</a:t>
            </a:r>
            <a:endParaRPr lang="en-US" sz="1900" dirty="0"/>
          </a:p>
        </p:txBody>
      </p:sp>
      <p:sp>
        <p:nvSpPr>
          <p:cNvPr id="18" name="Text 13"/>
          <p:cNvSpPr txBox="1"/>
          <p:nvPr/>
        </p:nvSpPr>
        <p:spPr>
          <a:xfrm>
            <a:off x="3557016" y="3291840"/>
            <a:ext cx="224028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Government SSO with MFA</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LGD + land-records adapters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NIC email / SMS gateway</a:t>
            </a:r>
            <a:endParaRPr lang="en-US" sz="1200" dirty="0"/>
          </a:p>
        </p:txBody>
      </p:sp>
      <p:sp>
        <p:nvSpPr>
          <p:cNvPr id="19" name="Shape 14"/>
          <p:cNvSpPr/>
          <p:nvPr/>
        </p:nvSpPr>
        <p:spPr>
          <a:xfrm>
            <a:off x="6163056" y="1600200"/>
            <a:ext cx="2606040" cy="4206240"/>
          </a:xfrm>
          <a:prstGeom prst="roundRect">
            <a:avLst>
              <a:gd name="adj" fmla="val 2807"/>
            </a:avLst>
          </a:prstGeom>
          <a:solidFill>
            <a:srgbClr val="F3F6FB"/>
          </a:solidFill>
          <a:ln w="12700">
            <a:solidFill>
              <a:srgbClr val="F3F6FB"/>
            </a:solidFill>
            <a:prstDash val="solid"/>
          </a:ln>
        </p:spPr>
      </p:sp>
      <p:sp>
        <p:nvSpPr>
          <p:cNvPr id="20" name="Shape 15"/>
          <p:cNvSpPr/>
          <p:nvPr/>
        </p:nvSpPr>
        <p:spPr>
          <a:xfrm>
            <a:off x="6364224" y="1801368"/>
            <a:ext cx="548640" cy="548640"/>
          </a:xfrm>
          <a:prstGeom prst="ellipse">
            <a:avLst/>
          </a:prstGeom>
          <a:solidFill>
            <a:srgbClr val="F59E0B"/>
          </a:solidFill>
          <a:ln w="12700">
            <a:solidFill>
              <a:srgbClr val="F59E0B"/>
            </a:solidFill>
            <a:prstDash val="solid"/>
          </a:ln>
        </p:spPr>
      </p:sp>
      <p:pic>
        <p:nvPicPr>
          <p:cNvPr id="21" name="Image 2" descr="preencoded.png">    </p:cNvPr>
          <p:cNvPicPr>
            <a:picLocks noChangeAspect="1"/>
          </p:cNvPicPr>
          <p:nvPr/>
        </p:nvPicPr>
        <p:blipFill>
          <a:blip r:embed="rId3"/>
          <a:stretch>
            <a:fillRect/>
          </a:stretch>
        </p:blipFill>
        <p:spPr>
          <a:xfrm>
            <a:off x="6495898" y="1933042"/>
            <a:ext cx="285293" cy="285293"/>
          </a:xfrm>
          <a:prstGeom prst="rect">
            <a:avLst/>
          </a:prstGeom>
        </p:spPr>
      </p:pic>
      <p:sp>
        <p:nvSpPr>
          <p:cNvPr id="22" name="Text 16"/>
          <p:cNvSpPr txBox="1"/>
          <p:nvPr/>
        </p:nvSpPr>
        <p:spPr>
          <a:xfrm>
            <a:off x="6364224" y="2487168"/>
            <a:ext cx="2240280" cy="274320"/>
          </a:xfrm>
          <a:prstGeom prst="rect">
            <a:avLst/>
          </a:prstGeom>
          <a:noFill/>
          <a:ln/>
        </p:spPr>
        <p:txBody>
          <a:bodyPr wrap="square" lIns="0" tIns="0" rIns="0" bIns="0" rtlCol="0" anchor="ctr"/>
          <a:lstStyle/>
          <a:p>
            <a:pPr indent="0" marL="0">
              <a:buNone/>
            </a:pPr>
            <a:r>
              <a:rPr lang="en-US" sz="1100" b="1" dirty="0">
                <a:solidFill>
                  <a:srgbClr val="5B6B82"/>
                </a:solidFill>
                <a:latin typeface="Calibri" pitchFamily="34" charset="0"/>
                <a:ea typeface="Calibri" pitchFamily="34" charset="-122"/>
                <a:cs typeface="Calibri" pitchFamily="34" charset="-120"/>
              </a:rPr>
              <a:t>Phase 3 · 6–12 months</a:t>
            </a:r>
            <a:endParaRPr lang="en-US" sz="1100" dirty="0"/>
          </a:p>
        </p:txBody>
      </p:sp>
      <p:sp>
        <p:nvSpPr>
          <p:cNvPr id="23" name="Text 17"/>
          <p:cNvSpPr txBox="1"/>
          <p:nvPr/>
        </p:nvSpPr>
        <p:spPr>
          <a:xfrm>
            <a:off x="6364224" y="2761488"/>
            <a:ext cx="2240280" cy="41148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Scale</a:t>
            </a:r>
            <a:endParaRPr lang="en-US" sz="1900" dirty="0"/>
          </a:p>
        </p:txBody>
      </p:sp>
      <p:sp>
        <p:nvSpPr>
          <p:cNvPr id="24" name="Text 18"/>
          <p:cNvSpPr txBox="1"/>
          <p:nvPr/>
        </p:nvSpPr>
        <p:spPr>
          <a:xfrm>
            <a:off x="6364224" y="3291840"/>
            <a:ext cx="224028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PostgreSQL + PostGIS, containers on NIC cloud</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eCourts, PFMS, PARIVESH adapters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MLflow tracking, scheduled retraining</a:t>
            </a:r>
            <a:endParaRPr lang="en-US" sz="1200" dirty="0"/>
          </a:p>
        </p:txBody>
      </p:sp>
      <p:sp>
        <p:nvSpPr>
          <p:cNvPr id="25" name="Shape 19"/>
          <p:cNvSpPr/>
          <p:nvPr/>
        </p:nvSpPr>
        <p:spPr>
          <a:xfrm>
            <a:off x="8970264" y="1600200"/>
            <a:ext cx="2606040" cy="4206240"/>
          </a:xfrm>
          <a:prstGeom prst="roundRect">
            <a:avLst>
              <a:gd name="adj" fmla="val 2807"/>
            </a:avLst>
          </a:prstGeom>
          <a:solidFill>
            <a:srgbClr val="F3F6FB"/>
          </a:solidFill>
          <a:ln w="12700">
            <a:solidFill>
              <a:srgbClr val="F3F6FB"/>
            </a:solidFill>
            <a:prstDash val="solid"/>
          </a:ln>
        </p:spPr>
      </p:sp>
      <p:sp>
        <p:nvSpPr>
          <p:cNvPr id="26" name="Shape 20"/>
          <p:cNvSpPr/>
          <p:nvPr/>
        </p:nvSpPr>
        <p:spPr>
          <a:xfrm>
            <a:off x="9171432" y="1801368"/>
            <a:ext cx="548640" cy="548640"/>
          </a:xfrm>
          <a:prstGeom prst="ellipse">
            <a:avLst/>
          </a:prstGeom>
          <a:solidFill>
            <a:srgbClr val="10B981"/>
          </a:solidFill>
          <a:ln w="12700">
            <a:solidFill>
              <a:srgbClr val="10B981"/>
            </a:solidFill>
            <a:prstDash val="solid"/>
          </a:ln>
        </p:spPr>
      </p:sp>
      <p:pic>
        <p:nvPicPr>
          <p:cNvPr id="27" name="Image 3" descr="preencoded.png">    </p:cNvPr>
          <p:cNvPicPr>
            <a:picLocks noChangeAspect="1"/>
          </p:cNvPicPr>
          <p:nvPr/>
        </p:nvPicPr>
        <p:blipFill>
          <a:blip r:embed="rId4"/>
          <a:stretch>
            <a:fillRect/>
          </a:stretch>
        </p:blipFill>
        <p:spPr>
          <a:xfrm>
            <a:off x="9303106" y="1933042"/>
            <a:ext cx="285293" cy="285293"/>
          </a:xfrm>
          <a:prstGeom prst="rect">
            <a:avLst/>
          </a:prstGeom>
        </p:spPr>
      </p:pic>
      <p:sp>
        <p:nvSpPr>
          <p:cNvPr id="28" name="Text 21"/>
          <p:cNvSpPr txBox="1"/>
          <p:nvPr/>
        </p:nvSpPr>
        <p:spPr>
          <a:xfrm>
            <a:off x="9171432" y="2487168"/>
            <a:ext cx="2240280" cy="274320"/>
          </a:xfrm>
          <a:prstGeom prst="rect">
            <a:avLst/>
          </a:prstGeom>
          <a:noFill/>
          <a:ln/>
        </p:spPr>
        <p:txBody>
          <a:bodyPr wrap="square" lIns="0" tIns="0" rIns="0" bIns="0" rtlCol="0" anchor="ctr"/>
          <a:lstStyle/>
          <a:p>
            <a:pPr indent="0" marL="0">
              <a:buNone/>
            </a:pPr>
            <a:r>
              <a:rPr lang="en-US" sz="1100" b="1" dirty="0">
                <a:solidFill>
                  <a:srgbClr val="5B6B82"/>
                </a:solidFill>
                <a:latin typeface="Calibri" pitchFamily="34" charset="0"/>
                <a:ea typeface="Calibri" pitchFamily="34" charset="-122"/>
                <a:cs typeface="Calibri" pitchFamily="34" charset="-120"/>
              </a:rPr>
              <a:t>Phase 4 · 12+ months</a:t>
            </a:r>
            <a:endParaRPr lang="en-US" sz="1100" dirty="0"/>
          </a:p>
        </p:txBody>
      </p:sp>
      <p:sp>
        <p:nvSpPr>
          <p:cNvPr id="29" name="Text 22"/>
          <p:cNvSpPr txBox="1"/>
          <p:nvPr/>
        </p:nvSpPr>
        <p:spPr>
          <a:xfrm>
            <a:off x="9171432" y="2761488"/>
            <a:ext cx="2240280" cy="411480"/>
          </a:xfrm>
          <a:prstGeom prst="rect">
            <a:avLst/>
          </a:prstGeom>
          <a:noFill/>
          <a:ln/>
        </p:spPr>
        <p:txBody>
          <a:bodyPr wrap="square" lIns="0" tIns="0" rIns="0" bIns="0" rtlCol="0" anchor="ctr"/>
          <a:lstStyle/>
          <a:p>
            <a:pPr indent="0" marL="0">
              <a:buNone/>
            </a:pPr>
            <a:r>
              <a:rPr lang="en-US" sz="1900" b="1" dirty="0">
                <a:solidFill>
                  <a:srgbClr val="14213D"/>
                </a:solidFill>
                <a:latin typeface="Calibri" pitchFamily="34" charset="0"/>
                <a:ea typeface="Calibri" pitchFamily="34" charset="-122"/>
                <a:cs typeface="Calibri" pitchFamily="34" charset="-120"/>
              </a:rPr>
              <a:t>National rollout</a:t>
            </a:r>
            <a:endParaRPr lang="en-US" sz="1900" dirty="0"/>
          </a:p>
        </p:txBody>
      </p:sp>
      <p:sp>
        <p:nvSpPr>
          <p:cNvPr id="30" name="Text 23"/>
          <p:cNvSpPr txBox="1"/>
          <p:nvPr/>
        </p:nvSpPr>
        <p:spPr>
          <a:xfrm>
            <a:off x="9171432" y="3291840"/>
            <a:ext cx="224028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Multi-State onboarding</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Bhuvan / PM Gati Shakti layers</a:t>
            </a:r>
            <a:endParaRPr lang="en-US" sz="1200" dirty="0"/>
          </a:p>
          <a:p>
            <a:pPr marL="342900" indent="-342900">
              <a:spcAft>
                <a:spcPts val="600"/>
              </a:spcAft>
              <a:buSzPct val="100000"/>
              <a:buChar char="•"/>
            </a:pPr>
            <a:r>
              <a:rPr lang="en-US" sz="1200" dirty="0">
                <a:solidFill>
                  <a:srgbClr val="14213D"/>
                </a:solidFill>
                <a:latin typeface="Calibri" pitchFamily="34" charset="0"/>
                <a:ea typeface="Calibri" pitchFamily="34" charset="-122"/>
                <a:cs typeface="Calibri" pitchFamily="34" charset="-120"/>
              </a:rPr>
              <a:t>Hindi &amp; regional languages, fairness audits per State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9144000" cy="274320"/>
          </a:xfrm>
          <a:prstGeom prst="rect">
            <a:avLst/>
          </a:prstGeom>
          <a:noFill/>
          <a:ln/>
        </p:spPr>
        <p:txBody>
          <a:bodyPr wrap="square" lIns="0" tIns="0" rIns="0" bIns="0" rtlCol="0" anchor="ctr"/>
          <a:lstStyle/>
          <a:p>
            <a:pPr indent="0" marL="0">
              <a:buNone/>
            </a:pPr>
            <a:r>
              <a:rPr lang="en-US" sz="1100" b="1" spc="300" kern="0" dirty="0">
                <a:solidFill>
                  <a:srgbClr val="F59E0B"/>
                </a:solidFill>
                <a:latin typeface="Calibri" pitchFamily="34" charset="0"/>
                <a:ea typeface="Calibri" pitchFamily="34" charset="-122"/>
                <a:cs typeface="Calibri" pitchFamily="34" charset="-120"/>
              </a:rPr>
              <a:t>WHAT WE WILL SHOW THE JUDGES</a:t>
            </a:r>
            <a:endParaRPr lang="en-US" sz="1100" dirty="0"/>
          </a:p>
        </p:txBody>
      </p:sp>
      <p:sp>
        <p:nvSpPr>
          <p:cNvPr id="3" name="Text 1"/>
          <p:cNvSpPr txBox="1"/>
          <p:nvPr/>
        </p:nvSpPr>
        <p:spPr>
          <a:xfrm>
            <a:off x="548640" y="603504"/>
            <a:ext cx="11064240" cy="685800"/>
          </a:xfrm>
          <a:prstGeom prst="rect">
            <a:avLst/>
          </a:prstGeom>
          <a:noFill/>
          <a:ln/>
        </p:spPr>
        <p:txBody>
          <a:bodyPr wrap="square" lIns="0" tIns="0" rIns="0" bIns="0" rtlCol="0" anchor="t"/>
          <a:lstStyle/>
          <a:p>
            <a:pPr indent="0" marL="0">
              <a:buNone/>
            </a:pPr>
            <a:r>
              <a:rPr lang="en-US" sz="3000" b="1" dirty="0">
                <a:solidFill>
                  <a:srgbClr val="14213D"/>
                </a:solidFill>
                <a:latin typeface="Calibri" pitchFamily="34" charset="0"/>
                <a:ea typeface="Calibri" pitchFamily="34" charset="-122"/>
                <a:cs typeface="Calibri" pitchFamily="34" charset="-120"/>
              </a:rPr>
              <a:t>Live demo flow (7 minutes)</a:t>
            </a:r>
            <a:endParaRPr lang="en-US" sz="3000" dirty="0"/>
          </a:p>
        </p:txBody>
      </p:sp>
      <p:sp>
        <p:nvSpPr>
          <p:cNvPr id="5" name="Text 2"/>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8A97AB"/>
                </a:solidFill>
                <a:latin typeface="Calibri" pitchFamily="34" charset="0"/>
                <a:ea typeface="Calibri" pitchFamily="34" charset="-122"/>
                <a:cs typeface="Calibri" pitchFamily="34" charset="-120"/>
              </a:rPr>
              <a:t>LandPulse AI · RootStack · SIH 2026</a:t>
            </a:r>
            <a:endParaRPr lang="en-US" sz="900" dirty="0"/>
          </a:p>
        </p:txBody>
      </p:sp>
      <p:sp>
        <p:nvSpPr>
          <p:cNvPr id="6" name="Text 3"/>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8A97AB"/>
                </a:solidFill>
                <a:latin typeface="Calibri" pitchFamily="34" charset="0"/>
                <a:ea typeface="Calibri" pitchFamily="34" charset="-122"/>
                <a:cs typeface="Calibri" pitchFamily="34" charset="-120"/>
              </a:rPr>
              <a:t>49</a:t>
            </a:r>
            <a:endParaRPr lang="en-US" sz="900" dirty="0"/>
          </a:p>
        </p:txBody>
      </p:sp>
      <p:sp>
        <p:nvSpPr>
          <p:cNvPr id="7" name="Shape 4"/>
          <p:cNvSpPr/>
          <p:nvPr/>
        </p:nvSpPr>
        <p:spPr>
          <a:xfrm>
            <a:off x="548640" y="1554480"/>
            <a:ext cx="5394960" cy="914400"/>
          </a:xfrm>
          <a:prstGeom prst="roundRect">
            <a:avLst>
              <a:gd name="adj" fmla="val 8000"/>
            </a:avLst>
          </a:prstGeom>
          <a:solidFill>
            <a:srgbClr val="F3F6FB"/>
          </a:solidFill>
          <a:ln w="12700">
            <a:solidFill>
              <a:srgbClr val="F3F6FB"/>
            </a:solidFill>
            <a:prstDash val="solid"/>
          </a:ln>
        </p:spPr>
      </p:sp>
      <p:sp>
        <p:nvSpPr>
          <p:cNvPr id="8" name="Shape 5"/>
          <p:cNvSpPr/>
          <p:nvPr/>
        </p:nvSpPr>
        <p:spPr>
          <a:xfrm>
            <a:off x="731520" y="1755648"/>
            <a:ext cx="512064" cy="512064"/>
          </a:xfrm>
          <a:prstGeom prst="ellipse">
            <a:avLst/>
          </a:prstGeom>
          <a:solidFill>
            <a:srgbClr val="3B72F0"/>
          </a:solidFill>
          <a:ln w="12700">
            <a:solidFill>
              <a:srgbClr val="3B72F0"/>
            </a:solidFill>
            <a:prstDash val="solid"/>
          </a:ln>
        </p:spPr>
      </p:sp>
      <p:sp>
        <p:nvSpPr>
          <p:cNvPr id="9" name="Text 6"/>
          <p:cNvSpPr txBox="1"/>
          <p:nvPr/>
        </p:nvSpPr>
        <p:spPr>
          <a:xfrm>
            <a:off x="731520" y="17556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1417320" y="166420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Sign in</a:t>
            </a:r>
            <a:endParaRPr lang="en-US" sz="1500" dirty="0"/>
          </a:p>
        </p:txBody>
      </p:sp>
      <p:sp>
        <p:nvSpPr>
          <p:cNvPr id="11" name="Text 8"/>
          <p:cNvSpPr txBox="1"/>
          <p:nvPr/>
        </p:nvSpPr>
        <p:spPr>
          <a:xfrm>
            <a:off x="1417320" y="199339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Password, National Administrator; show position-based scope</a:t>
            </a:r>
            <a:endParaRPr lang="en-US" sz="1150" dirty="0"/>
          </a:p>
        </p:txBody>
      </p:sp>
      <p:sp>
        <p:nvSpPr>
          <p:cNvPr id="12" name="Shape 9"/>
          <p:cNvSpPr/>
          <p:nvPr/>
        </p:nvSpPr>
        <p:spPr>
          <a:xfrm>
            <a:off x="6172200" y="1554480"/>
            <a:ext cx="5394960" cy="914400"/>
          </a:xfrm>
          <a:prstGeom prst="roundRect">
            <a:avLst>
              <a:gd name="adj" fmla="val 8000"/>
            </a:avLst>
          </a:prstGeom>
          <a:solidFill>
            <a:srgbClr val="F3F6FB"/>
          </a:solidFill>
          <a:ln w="12700">
            <a:solidFill>
              <a:srgbClr val="F3F6FB"/>
            </a:solidFill>
            <a:prstDash val="solid"/>
          </a:ln>
        </p:spPr>
      </p:sp>
      <p:sp>
        <p:nvSpPr>
          <p:cNvPr id="13" name="Shape 10"/>
          <p:cNvSpPr/>
          <p:nvPr/>
        </p:nvSpPr>
        <p:spPr>
          <a:xfrm>
            <a:off x="6355080" y="1755648"/>
            <a:ext cx="512064" cy="512064"/>
          </a:xfrm>
          <a:prstGeom prst="ellipse">
            <a:avLst/>
          </a:prstGeom>
          <a:solidFill>
            <a:srgbClr val="0EA5A4"/>
          </a:solidFill>
          <a:ln w="12700">
            <a:solidFill>
              <a:srgbClr val="0EA5A4"/>
            </a:solidFill>
            <a:prstDash val="solid"/>
          </a:ln>
        </p:spPr>
      </p:sp>
      <p:sp>
        <p:nvSpPr>
          <p:cNvPr id="14" name="Text 11"/>
          <p:cNvSpPr txBox="1"/>
          <p:nvPr/>
        </p:nvSpPr>
        <p:spPr>
          <a:xfrm>
            <a:off x="6355080" y="175564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7040880" y="166420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Command Centre</a:t>
            </a:r>
            <a:endParaRPr lang="en-US" sz="1500" dirty="0"/>
          </a:p>
        </p:txBody>
      </p:sp>
      <p:sp>
        <p:nvSpPr>
          <p:cNvPr id="16" name="Text 13"/>
          <p:cNvSpPr txBox="1"/>
          <p:nvPr/>
        </p:nvSpPr>
        <p:spPr>
          <a:xfrm>
            <a:off x="7040880" y="199339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KPIs, risk categories, delay trend; click a Critical project</a:t>
            </a:r>
            <a:endParaRPr lang="en-US" sz="1150" dirty="0"/>
          </a:p>
        </p:txBody>
      </p:sp>
      <p:sp>
        <p:nvSpPr>
          <p:cNvPr id="17" name="Shape 14"/>
          <p:cNvSpPr/>
          <p:nvPr/>
        </p:nvSpPr>
        <p:spPr>
          <a:xfrm>
            <a:off x="548640" y="2651760"/>
            <a:ext cx="5394960" cy="914400"/>
          </a:xfrm>
          <a:prstGeom prst="roundRect">
            <a:avLst>
              <a:gd name="adj" fmla="val 8000"/>
            </a:avLst>
          </a:prstGeom>
          <a:solidFill>
            <a:srgbClr val="F3F6FB"/>
          </a:solidFill>
          <a:ln w="12700">
            <a:solidFill>
              <a:srgbClr val="F3F6FB"/>
            </a:solidFill>
            <a:prstDash val="solid"/>
          </a:ln>
        </p:spPr>
      </p:sp>
      <p:sp>
        <p:nvSpPr>
          <p:cNvPr id="18" name="Shape 15"/>
          <p:cNvSpPr/>
          <p:nvPr/>
        </p:nvSpPr>
        <p:spPr>
          <a:xfrm>
            <a:off x="731520" y="2852928"/>
            <a:ext cx="512064" cy="512064"/>
          </a:xfrm>
          <a:prstGeom prst="ellipse">
            <a:avLst/>
          </a:prstGeom>
          <a:solidFill>
            <a:srgbClr val="3B72F0"/>
          </a:solidFill>
          <a:ln w="12700">
            <a:solidFill>
              <a:srgbClr val="3B72F0"/>
            </a:solidFill>
            <a:prstDash val="solid"/>
          </a:ln>
        </p:spPr>
      </p:sp>
      <p:sp>
        <p:nvSpPr>
          <p:cNvPr id="19" name="Text 16"/>
          <p:cNvSpPr txBox="1"/>
          <p:nvPr/>
        </p:nvSpPr>
        <p:spPr>
          <a:xfrm>
            <a:off x="731520" y="285292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0" name="Text 17"/>
          <p:cNvSpPr txBox="1"/>
          <p:nvPr/>
        </p:nvSpPr>
        <p:spPr>
          <a:xfrm>
            <a:off x="1417320" y="276148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Project intelligence</a:t>
            </a:r>
            <a:endParaRPr lang="en-US" sz="1500" dirty="0"/>
          </a:p>
        </p:txBody>
      </p:sp>
      <p:sp>
        <p:nvSpPr>
          <p:cNvPr id="21" name="Text 18"/>
          <p:cNvSpPr txBox="1"/>
          <p:nvPr/>
        </p:nvSpPr>
        <p:spPr>
          <a:xfrm>
            <a:off x="1417320" y="309067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Risk, TreeSHAP drivers, stage forecast, recommendations with impact</a:t>
            </a:r>
            <a:endParaRPr lang="en-US" sz="1150" dirty="0"/>
          </a:p>
        </p:txBody>
      </p:sp>
      <p:sp>
        <p:nvSpPr>
          <p:cNvPr id="22" name="Shape 19"/>
          <p:cNvSpPr/>
          <p:nvPr/>
        </p:nvSpPr>
        <p:spPr>
          <a:xfrm>
            <a:off x="6172200" y="2651760"/>
            <a:ext cx="5394960" cy="914400"/>
          </a:xfrm>
          <a:prstGeom prst="roundRect">
            <a:avLst>
              <a:gd name="adj" fmla="val 8000"/>
            </a:avLst>
          </a:prstGeom>
          <a:solidFill>
            <a:srgbClr val="F3F6FB"/>
          </a:solidFill>
          <a:ln w="12700">
            <a:solidFill>
              <a:srgbClr val="F3F6FB"/>
            </a:solidFill>
            <a:prstDash val="solid"/>
          </a:ln>
        </p:spPr>
      </p:sp>
      <p:sp>
        <p:nvSpPr>
          <p:cNvPr id="23" name="Shape 20"/>
          <p:cNvSpPr/>
          <p:nvPr/>
        </p:nvSpPr>
        <p:spPr>
          <a:xfrm>
            <a:off x="6355080" y="2852928"/>
            <a:ext cx="512064" cy="512064"/>
          </a:xfrm>
          <a:prstGeom prst="ellipse">
            <a:avLst/>
          </a:prstGeom>
          <a:solidFill>
            <a:srgbClr val="0EA5A4"/>
          </a:solidFill>
          <a:ln w="12700">
            <a:solidFill>
              <a:srgbClr val="0EA5A4"/>
            </a:solidFill>
            <a:prstDash val="solid"/>
          </a:ln>
        </p:spPr>
      </p:sp>
      <p:sp>
        <p:nvSpPr>
          <p:cNvPr id="24" name="Text 21"/>
          <p:cNvSpPr txBox="1"/>
          <p:nvPr/>
        </p:nvSpPr>
        <p:spPr>
          <a:xfrm>
            <a:off x="6355080" y="285292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2"/>
          <p:cNvSpPr txBox="1"/>
          <p:nvPr/>
        </p:nvSpPr>
        <p:spPr>
          <a:xfrm>
            <a:off x="7040880" y="276148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Scenario Scoring</a:t>
            </a:r>
            <a:endParaRPr lang="en-US" sz="1500" dirty="0"/>
          </a:p>
        </p:txBody>
      </p:sp>
      <p:sp>
        <p:nvSpPr>
          <p:cNvPr id="26" name="Text 23"/>
          <p:cNvSpPr txBox="1"/>
          <p:nvPr/>
        </p:nvSpPr>
        <p:spPr>
          <a:xfrm>
            <a:off x="7040880" y="309067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Clear pending approvals; watch risk fall</a:t>
            </a:r>
            <a:endParaRPr lang="en-US" sz="1150" dirty="0"/>
          </a:p>
        </p:txBody>
      </p:sp>
      <p:sp>
        <p:nvSpPr>
          <p:cNvPr id="27" name="Shape 24"/>
          <p:cNvSpPr/>
          <p:nvPr/>
        </p:nvSpPr>
        <p:spPr>
          <a:xfrm>
            <a:off x="548640" y="3749040"/>
            <a:ext cx="5394960" cy="914400"/>
          </a:xfrm>
          <a:prstGeom prst="roundRect">
            <a:avLst>
              <a:gd name="adj" fmla="val 8000"/>
            </a:avLst>
          </a:prstGeom>
          <a:solidFill>
            <a:srgbClr val="F3F6FB"/>
          </a:solidFill>
          <a:ln w="12700">
            <a:solidFill>
              <a:srgbClr val="F3F6FB"/>
            </a:solidFill>
            <a:prstDash val="solid"/>
          </a:ln>
        </p:spPr>
      </p:sp>
      <p:sp>
        <p:nvSpPr>
          <p:cNvPr id="28" name="Shape 25"/>
          <p:cNvSpPr/>
          <p:nvPr/>
        </p:nvSpPr>
        <p:spPr>
          <a:xfrm>
            <a:off x="731520" y="3950208"/>
            <a:ext cx="512064" cy="512064"/>
          </a:xfrm>
          <a:prstGeom prst="ellipse">
            <a:avLst/>
          </a:prstGeom>
          <a:solidFill>
            <a:srgbClr val="3B72F0"/>
          </a:solidFill>
          <a:ln w="12700">
            <a:solidFill>
              <a:srgbClr val="3B72F0"/>
            </a:solidFill>
            <a:prstDash val="solid"/>
          </a:ln>
        </p:spPr>
      </p:sp>
      <p:sp>
        <p:nvSpPr>
          <p:cNvPr id="29" name="Text 26"/>
          <p:cNvSpPr txBox="1"/>
          <p:nvPr/>
        </p:nvSpPr>
        <p:spPr>
          <a:xfrm>
            <a:off x="731520" y="395020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0" name="Text 27"/>
          <p:cNvSpPr txBox="1"/>
          <p:nvPr/>
        </p:nvSpPr>
        <p:spPr>
          <a:xfrm>
            <a:off x="1417320" y="385876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Queue &amp; alerts</a:t>
            </a:r>
            <a:endParaRPr lang="en-US" sz="1500" dirty="0"/>
          </a:p>
        </p:txBody>
      </p:sp>
      <p:sp>
        <p:nvSpPr>
          <p:cNvPr id="31" name="Text 28"/>
          <p:cNvSpPr txBox="1"/>
          <p:nvPr/>
        </p:nvSpPr>
        <p:spPr>
          <a:xfrm>
            <a:off x="1417320" y="418795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Acknowledge an intervention; notifications and escalation</a:t>
            </a:r>
            <a:endParaRPr lang="en-US" sz="1150" dirty="0"/>
          </a:p>
        </p:txBody>
      </p:sp>
      <p:sp>
        <p:nvSpPr>
          <p:cNvPr id="32" name="Shape 29"/>
          <p:cNvSpPr/>
          <p:nvPr/>
        </p:nvSpPr>
        <p:spPr>
          <a:xfrm>
            <a:off x="6172200" y="3749040"/>
            <a:ext cx="5394960" cy="914400"/>
          </a:xfrm>
          <a:prstGeom prst="roundRect">
            <a:avLst>
              <a:gd name="adj" fmla="val 8000"/>
            </a:avLst>
          </a:prstGeom>
          <a:solidFill>
            <a:srgbClr val="F3F6FB"/>
          </a:solidFill>
          <a:ln w="12700">
            <a:solidFill>
              <a:srgbClr val="F3F6FB"/>
            </a:solidFill>
            <a:prstDash val="solid"/>
          </a:ln>
        </p:spPr>
      </p:sp>
      <p:sp>
        <p:nvSpPr>
          <p:cNvPr id="33" name="Shape 30"/>
          <p:cNvSpPr/>
          <p:nvPr/>
        </p:nvSpPr>
        <p:spPr>
          <a:xfrm>
            <a:off x="6355080" y="3950208"/>
            <a:ext cx="512064" cy="512064"/>
          </a:xfrm>
          <a:prstGeom prst="ellipse">
            <a:avLst/>
          </a:prstGeom>
          <a:solidFill>
            <a:srgbClr val="0EA5A4"/>
          </a:solidFill>
          <a:ln w="12700">
            <a:solidFill>
              <a:srgbClr val="0EA5A4"/>
            </a:solidFill>
            <a:prstDash val="solid"/>
          </a:ln>
        </p:spPr>
      </p:sp>
      <p:sp>
        <p:nvSpPr>
          <p:cNvPr id="34" name="Text 31"/>
          <p:cNvSpPr txBox="1"/>
          <p:nvPr/>
        </p:nvSpPr>
        <p:spPr>
          <a:xfrm>
            <a:off x="6355080" y="395020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5" name="Text 32"/>
          <p:cNvSpPr txBox="1"/>
          <p:nvPr/>
        </p:nvSpPr>
        <p:spPr>
          <a:xfrm>
            <a:off x="7040880" y="385876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Trends &amp; GIS</a:t>
            </a:r>
            <a:endParaRPr lang="en-US" sz="1500" dirty="0"/>
          </a:p>
        </p:txBody>
      </p:sp>
      <p:sp>
        <p:nvSpPr>
          <p:cNvPr id="36" name="Text 33"/>
          <p:cNvSpPr txBox="1"/>
          <p:nvPr/>
        </p:nvSpPr>
        <p:spPr>
          <a:xfrm>
            <a:off x="7040880" y="418795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District trends, league tables, map drill-down</a:t>
            </a:r>
            <a:endParaRPr lang="en-US" sz="1150" dirty="0"/>
          </a:p>
        </p:txBody>
      </p:sp>
      <p:sp>
        <p:nvSpPr>
          <p:cNvPr id="37" name="Shape 34"/>
          <p:cNvSpPr/>
          <p:nvPr/>
        </p:nvSpPr>
        <p:spPr>
          <a:xfrm>
            <a:off x="548640" y="4846320"/>
            <a:ext cx="5394960" cy="914400"/>
          </a:xfrm>
          <a:prstGeom prst="roundRect">
            <a:avLst>
              <a:gd name="adj" fmla="val 8000"/>
            </a:avLst>
          </a:prstGeom>
          <a:solidFill>
            <a:srgbClr val="F3F6FB"/>
          </a:solidFill>
          <a:ln w="12700">
            <a:solidFill>
              <a:srgbClr val="F3F6FB"/>
            </a:solidFill>
            <a:prstDash val="solid"/>
          </a:ln>
        </p:spPr>
      </p:sp>
      <p:sp>
        <p:nvSpPr>
          <p:cNvPr id="38" name="Shape 35"/>
          <p:cNvSpPr/>
          <p:nvPr/>
        </p:nvSpPr>
        <p:spPr>
          <a:xfrm>
            <a:off x="731520" y="5047488"/>
            <a:ext cx="512064" cy="512064"/>
          </a:xfrm>
          <a:prstGeom prst="ellipse">
            <a:avLst/>
          </a:prstGeom>
          <a:solidFill>
            <a:srgbClr val="3B72F0"/>
          </a:solidFill>
          <a:ln w="12700">
            <a:solidFill>
              <a:srgbClr val="3B72F0"/>
            </a:solidFill>
            <a:prstDash val="solid"/>
          </a:ln>
        </p:spPr>
      </p:sp>
      <p:sp>
        <p:nvSpPr>
          <p:cNvPr id="39" name="Text 36"/>
          <p:cNvSpPr txBox="1"/>
          <p:nvPr/>
        </p:nvSpPr>
        <p:spPr>
          <a:xfrm>
            <a:off x="731520" y="50474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40" name="Text 37"/>
          <p:cNvSpPr txBox="1"/>
          <p:nvPr/>
        </p:nvSpPr>
        <p:spPr>
          <a:xfrm>
            <a:off x="1417320" y="495604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Model Lifecycle</a:t>
            </a:r>
            <a:endParaRPr lang="en-US" sz="1500" dirty="0"/>
          </a:p>
        </p:txBody>
      </p:sp>
      <p:sp>
        <p:nvSpPr>
          <p:cNvPr id="41" name="Text 38"/>
          <p:cNvSpPr txBox="1"/>
          <p:nvPr/>
        </p:nvSpPr>
        <p:spPr>
          <a:xfrm>
            <a:off x="1417320" y="528523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Released outcomes, live AUC, gate decision, registry</a:t>
            </a:r>
            <a:endParaRPr lang="en-US" sz="1150" dirty="0"/>
          </a:p>
        </p:txBody>
      </p:sp>
      <p:sp>
        <p:nvSpPr>
          <p:cNvPr id="42" name="Shape 39"/>
          <p:cNvSpPr/>
          <p:nvPr/>
        </p:nvSpPr>
        <p:spPr>
          <a:xfrm>
            <a:off x="6172200" y="4846320"/>
            <a:ext cx="5394960" cy="914400"/>
          </a:xfrm>
          <a:prstGeom prst="roundRect">
            <a:avLst>
              <a:gd name="adj" fmla="val 8000"/>
            </a:avLst>
          </a:prstGeom>
          <a:solidFill>
            <a:srgbClr val="F3F6FB"/>
          </a:solidFill>
          <a:ln w="12700">
            <a:solidFill>
              <a:srgbClr val="F3F6FB"/>
            </a:solidFill>
            <a:prstDash val="solid"/>
          </a:ln>
        </p:spPr>
      </p:sp>
      <p:sp>
        <p:nvSpPr>
          <p:cNvPr id="43" name="Shape 40"/>
          <p:cNvSpPr/>
          <p:nvPr/>
        </p:nvSpPr>
        <p:spPr>
          <a:xfrm>
            <a:off x="6355080" y="5047488"/>
            <a:ext cx="512064" cy="512064"/>
          </a:xfrm>
          <a:prstGeom prst="ellipse">
            <a:avLst/>
          </a:prstGeom>
          <a:solidFill>
            <a:srgbClr val="0EA5A4"/>
          </a:solidFill>
          <a:ln w="12700">
            <a:solidFill>
              <a:srgbClr val="0EA5A4"/>
            </a:solidFill>
            <a:prstDash val="solid"/>
          </a:ln>
        </p:spPr>
      </p:sp>
      <p:sp>
        <p:nvSpPr>
          <p:cNvPr id="44" name="Text 41"/>
          <p:cNvSpPr txBox="1"/>
          <p:nvPr/>
        </p:nvSpPr>
        <p:spPr>
          <a:xfrm>
            <a:off x="6355080" y="5047488"/>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5" name="Text 42"/>
          <p:cNvSpPr txBox="1"/>
          <p:nvPr/>
        </p:nvSpPr>
        <p:spPr>
          <a:xfrm>
            <a:off x="7040880" y="4956048"/>
            <a:ext cx="4389120" cy="320040"/>
          </a:xfrm>
          <a:prstGeom prst="rect">
            <a:avLst/>
          </a:prstGeom>
          <a:noFill/>
          <a:ln/>
        </p:spPr>
        <p:txBody>
          <a:bodyPr wrap="square" lIns="0" tIns="0" rIns="0" bIns="0" rtlCol="0" anchor="ctr"/>
          <a:lstStyle/>
          <a:p>
            <a:pPr indent="0" marL="0">
              <a:buNone/>
            </a:pPr>
            <a:r>
              <a:rPr lang="en-US" sz="1500" b="1" dirty="0">
                <a:solidFill>
                  <a:srgbClr val="14213D"/>
                </a:solidFill>
                <a:latin typeface="Calibri" pitchFamily="34" charset="0"/>
                <a:ea typeface="Calibri" pitchFamily="34" charset="-122"/>
                <a:cs typeface="Calibri" pitchFamily="34" charset="-120"/>
              </a:rPr>
              <a:t>APIs &amp; Security</a:t>
            </a:r>
            <a:endParaRPr lang="en-US" sz="1500" dirty="0"/>
          </a:p>
        </p:txBody>
      </p:sp>
      <p:sp>
        <p:nvSpPr>
          <p:cNvPr id="46" name="Text 43"/>
          <p:cNvSpPr txBox="1"/>
          <p:nvPr/>
        </p:nvSpPr>
        <p:spPr>
          <a:xfrm>
            <a:off x="7040880" y="5285232"/>
            <a:ext cx="4389120" cy="411480"/>
          </a:xfrm>
          <a:prstGeom prst="rect">
            <a:avLst/>
          </a:prstGeom>
          <a:noFill/>
          <a:ln/>
        </p:spPr>
        <p:txBody>
          <a:bodyPr wrap="square" lIns="0" tIns="0" rIns="0" bIns="0" rtlCol="0" anchor="t"/>
          <a:lstStyle/>
          <a:p>
            <a:pPr indent="0" marL="0">
              <a:buNone/>
            </a:pPr>
            <a:r>
              <a:rPr lang="en-US" sz="1150" dirty="0">
                <a:solidFill>
                  <a:srgbClr val="5B6B82"/>
                </a:solidFill>
                <a:latin typeface="Calibri" pitchFamily="34" charset="0"/>
                <a:ea typeface="Calibri" pitchFamily="34" charset="-122"/>
                <a:cs typeface="Calibri" pitchFamily="34" charset="-120"/>
              </a:rPr>
              <a:t>Issue a key, call /v1/projects/{id}/risk, verify audit chain</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B34"/>
        </a:solidFill>
      </p:bgPr>
    </p:bg>
    <p:spTree>
      <p:nvGrpSpPr>
        <p:cNvPr id="1" name=""/>
        <p:cNvGrpSpPr/>
        <p:nvPr/>
      </p:nvGrpSpPr>
      <p:grpSpPr>
        <a:xfrm>
          <a:off x="0" y="0"/>
          <a:ext cx="0" cy="0"/>
          <a:chOff x="0" y="0"/>
          <a:chExt cx="0" cy="0"/>
        </a:xfrm>
      </p:grpSpPr>
      <p:sp>
        <p:nvSpPr>
          <p:cNvPr id="2" name="Shape 0"/>
          <p:cNvSpPr/>
          <p:nvPr/>
        </p:nvSpPr>
        <p:spPr>
          <a:xfrm>
            <a:off x="7498080" y="731520"/>
            <a:ext cx="5943600" cy="5943600"/>
          </a:xfrm>
          <a:prstGeom prst="ellipse">
            <a:avLst/>
          </a:prstGeom>
          <a:solidFill>
            <a:srgbClr val="132A4E"/>
          </a:solidFill>
          <a:ln w="12700">
            <a:solidFill>
              <a:srgbClr val="132A4E"/>
            </a:solidFill>
            <a:prstDash val="solid"/>
          </a:ln>
        </p:spPr>
      </p:sp>
      <p:pic>
        <p:nvPicPr>
          <p:cNvPr id="12" name="LandPulse icon" descr="landpulse-icon-512.png"/>
          <p:cNvPicPr>
            <a:picLocks noChangeAspect="1"/>
          </p:cNvPicPr>
          <p:nvPr/>
        </p:nvPicPr>
        <p:blipFill>
          <a:blip r:embed="rId5"/>
          <a:stretch>
            <a:fillRect/>
          </a:stretch>
        </p:blipFill>
        <p:spPr>
          <a:xfrm>
            <a:off x="9144000" y="2377440"/>
            <a:ext cx="2560320" cy="2560320"/>
          </a:xfrm>
          <a:prstGeom prst="rect">
            <a:avLst/>
          </a:prstGeom>
        </p:spPr>
      </p:pic>
      <p:sp>
        <p:nvSpPr>
          <p:cNvPr id="4" name="Text 1"/>
          <p:cNvSpPr txBox="1"/>
          <p:nvPr/>
        </p:nvSpPr>
        <p:spPr>
          <a:xfrm>
            <a:off x="731520" y="1737360"/>
            <a:ext cx="68580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LandPulse AI</a:t>
            </a:r>
            <a:endParaRPr lang="en-US" sz="5400" dirty="0"/>
          </a:p>
        </p:txBody>
      </p:sp>
      <p:sp>
        <p:nvSpPr>
          <p:cNvPr id="5" name="Text 2"/>
          <p:cNvSpPr txBox="1"/>
          <p:nvPr/>
        </p:nvSpPr>
        <p:spPr>
          <a:xfrm>
            <a:off x="731520" y="2697480"/>
            <a:ext cx="6858000" cy="548640"/>
          </a:xfrm>
          <a:prstGeom prst="rect">
            <a:avLst/>
          </a:prstGeom>
          <a:noFill/>
          <a:ln/>
        </p:spPr>
        <p:txBody>
          <a:bodyPr wrap="square" lIns="0" tIns="0" rIns="0" bIns="0" rtlCol="0" anchor="ctr"/>
          <a:lstStyle/>
          <a:p>
            <a:pPr indent="0" marL="0">
              <a:buNone/>
            </a:pPr>
            <a:r>
              <a:rPr lang="en-US" sz="2600" i="1" dirty="0">
                <a:solidFill>
                  <a:srgbClr val="F59E0B"/>
                </a:solidFill>
                <a:latin typeface="Calibri" pitchFamily="34" charset="0"/>
                <a:ea typeface="Calibri" pitchFamily="34" charset="-122"/>
                <a:cs typeface="Calibri" pitchFamily="34" charset="-120"/>
              </a:rPr>
              <a:t>Predict Delays. Enable Action.</a:t>
            </a:r>
            <a:endParaRPr lang="en-US" sz="2600" dirty="0"/>
          </a:p>
        </p:txBody>
      </p:sp>
      <p:sp>
        <p:nvSpPr>
          <p:cNvPr id="6" name="Text 3"/>
          <p:cNvSpPr txBox="1"/>
          <p:nvPr/>
        </p:nvSpPr>
        <p:spPr>
          <a:xfrm>
            <a:off x="731520" y="3474720"/>
            <a:ext cx="6309360" cy="1097280"/>
          </a:xfrm>
          <a:prstGeom prst="rect">
            <a:avLst/>
          </a:prstGeom>
          <a:noFill/>
          <a:ln/>
        </p:spPr>
        <p:txBody>
          <a:bodyPr wrap="square" lIns="0" tIns="0" rIns="0" bIns="0" rtlCol="0" anchor="t"/>
          <a:lstStyle/>
          <a:p>
            <a:pPr indent="0" marL="0">
              <a:buNone/>
            </a:pPr>
            <a:r>
              <a:rPr lang="en-US" sz="1600" dirty="0">
                <a:solidFill>
                  <a:srgbClr val="C9D3E4"/>
                </a:solidFill>
                <a:latin typeface="Calibri" pitchFamily="34" charset="0"/>
                <a:ea typeface="Calibri" pitchFamily="34" charset="-122"/>
                <a:cs typeface="Calibri" pitchFamily="34" charset="-120"/>
              </a:rPr>
              <a:t>Predicts which land acquisition projects will slip, explains why, recommends what to do and who should do it — and learns from every recorded outcome.</a:t>
            </a:r>
            <a:endParaRPr lang="en-US" sz="1600" dirty="0"/>
          </a:p>
        </p:txBody>
      </p:sp>
      <p:sp>
        <p:nvSpPr>
          <p:cNvPr id="7" name="Text 4"/>
          <p:cNvSpPr txBox="1"/>
          <p:nvPr/>
        </p:nvSpPr>
        <p:spPr>
          <a:xfrm>
            <a:off x="731520" y="4892040"/>
            <a:ext cx="64008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Thank you  ·  Questions welcome</a:t>
            </a:r>
            <a:endParaRPr lang="en-US" sz="2000" dirty="0"/>
          </a:p>
        </p:txBody>
      </p:sp>
      <p:sp>
        <p:nvSpPr>
          <p:cNvPr id="8" name="Text 5"/>
          <p:cNvSpPr txBox="1"/>
          <p:nvPr/>
        </p:nvSpPr>
        <p:spPr>
          <a:xfrm>
            <a:off x="731520" y="5394960"/>
            <a:ext cx="6400800" cy="365760"/>
          </a:xfrm>
          <a:prstGeom prst="rect">
            <a:avLst/>
          </a:prstGeom>
          <a:noFill/>
          <a:ln/>
        </p:spPr>
        <p:txBody>
          <a:bodyPr wrap="square" lIns="0" tIns="0" rIns="0" bIns="0" rtlCol="0" anchor="ctr"/>
          <a:lstStyle/>
          <a:p>
            <a:pPr indent="0" marL="0">
              <a:buNone/>
            </a:pPr>
            <a:r>
              <a:rPr lang="en-US" sz="1200" dirty="0">
                <a:solidFill>
                  <a:srgbClr val="8FA0BD"/>
                </a:solidFill>
                <a:latin typeface="Calibri" pitchFamily="34" charset="0"/>
                <a:ea typeface="Calibri" pitchFamily="34" charset="-122"/>
                <a:cs typeface="Calibri" pitchFamily="34" charset="-120"/>
              </a:rPr>
              <a:t>Team RootStack · Smart India Hackathon 2026 · Prototype on synthetic data</a:t>
            </a:r>
            <a:endParaRPr lang="en-US" sz="1200" dirty="0"/>
          </a:p>
        </p:txBody>
      </p:sp>
      <p:sp>
        <p:nvSpPr>
          <p:cNvPr id="9" name="Text 6"/>
          <p:cNvSpPr txBox="1"/>
          <p:nvPr/>
        </p:nvSpPr>
        <p:spPr>
          <a:xfrm>
            <a:off x="548640" y="6473952"/>
            <a:ext cx="5486400" cy="274320"/>
          </a:xfrm>
          <a:prstGeom prst="rect">
            <a:avLst/>
          </a:prstGeom>
          <a:noFill/>
          <a:ln/>
        </p:spPr>
        <p:txBody>
          <a:bodyPr wrap="square" lIns="0" tIns="0" rIns="0" bIns="0" rtlCol="0" anchor="ctr"/>
          <a:lstStyle/>
          <a:p>
            <a:pPr indent="0" marL="0">
              <a:buNone/>
            </a:pPr>
            <a:r>
              <a:rPr lang="en-US" sz="900" dirty="0">
                <a:solidFill>
                  <a:srgbClr val="7F8EA8"/>
                </a:solidFill>
                <a:latin typeface="Calibri" pitchFamily="34" charset="0"/>
                <a:ea typeface="Calibri" pitchFamily="34" charset="-122"/>
                <a:cs typeface="Calibri" pitchFamily="34" charset="-120"/>
              </a:rPr>
              <a:t>LandPulse AI · RootStack · SIH 2026</a:t>
            </a:r>
            <a:endParaRPr lang="en-US" sz="900" dirty="0"/>
          </a:p>
        </p:txBody>
      </p:sp>
      <p:sp>
        <p:nvSpPr>
          <p:cNvPr id="10" name="Text 7"/>
          <p:cNvSpPr txBox="1"/>
          <p:nvPr/>
        </p:nvSpPr>
        <p:spPr>
          <a:xfrm>
            <a:off x="11185855" y="6473952"/>
            <a:ext cx="457200" cy="274320"/>
          </a:xfrm>
          <a:prstGeom prst="rect">
            <a:avLst/>
          </a:prstGeom>
          <a:noFill/>
          <a:ln/>
        </p:spPr>
        <p:txBody>
          <a:bodyPr wrap="square" lIns="0" tIns="0" rIns="0" bIns="0" rtlCol="0" anchor="ctr"/>
          <a:lstStyle/>
          <a:p>
            <a:pPr algn="r" indent="0" marL="0">
              <a:buNone/>
            </a:pPr>
            <a:r>
              <a:rPr lang="en-US" sz="900" dirty="0">
                <a:solidFill>
                  <a:srgbClr val="7F8EA8"/>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RootStack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LandPulse AI — Predict Delays. Enable Action.</dc:title>
  <dc:subject>PptxGenJS Presentation</dc:subject>
  <dc:creator>RootStack</dc:creator>
  <cp:lastModifiedBy>RootStack</cp:lastModifiedBy>
  <cp:revision>1</cp:revision>
  <dcterms:created xsi:type="dcterms:W3CDTF">2026-09-14T09:53:09Z</dcterms:created>
  <dcterms:modified xsi:type="dcterms:W3CDTF">2026-09-14T09:53:09Z</dcterms:modified>
</cp:coreProperties>
</file>